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df4b41b0214a70" /><Relationship Type="http://schemas.openxmlformats.org/officeDocument/2006/relationships/extended-properties" Target="/docProps/app.xml" Id="Rca89e87bfb794f6f" /><Relationship Type="http://schemas.openxmlformats.org/officeDocument/2006/relationships/officeDocument" Target="/ppt/presentation.xml" Id="R42731cfc9aaf43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d190446d544e51"/>
  </p:sldMasterIdLst>
  <p:notesMasterIdLst>
    <p:notesMasterId xmlns:r="http://schemas.openxmlformats.org/officeDocument/2006/relationships" r:id="Rf23cb8d2cac4490b"/>
  </p:notesMasterIdLst>
  <p:sldIdLst>
    <p:sldId xmlns:r="http://schemas.openxmlformats.org/officeDocument/2006/relationships" id="256" r:id="Rcd31428a9e934299"/>
    <p:sldId xmlns:r="http://schemas.openxmlformats.org/officeDocument/2006/relationships" id="257" r:id="R396aa5d06f8e4e9a"/>
    <p:sldId xmlns:r="http://schemas.openxmlformats.org/officeDocument/2006/relationships" id="258" r:id="Rf99ad42a2e7c448f"/>
    <p:sldId xmlns:r="http://schemas.openxmlformats.org/officeDocument/2006/relationships" id="259" r:id="R5b87c73945484beb"/>
    <p:sldId xmlns:r="http://schemas.openxmlformats.org/officeDocument/2006/relationships" id="260" r:id="R3eca0d3ea9d84b2a"/>
    <p:sldId xmlns:r="http://schemas.openxmlformats.org/officeDocument/2006/relationships" id="261" r:id="R5da9797004ed4eaa"/>
    <p:sldId xmlns:r="http://schemas.openxmlformats.org/officeDocument/2006/relationships" id="262" r:id="R95bcc71649a14547"/>
    <p:sldId xmlns:r="http://schemas.openxmlformats.org/officeDocument/2006/relationships" id="263" r:id="R2f0ec9f38a4b4805"/>
    <p:sldId xmlns:r="http://schemas.openxmlformats.org/officeDocument/2006/relationships" id="264" r:id="R2e7afb18f24447a5"/>
    <p:sldId xmlns:r="http://schemas.openxmlformats.org/officeDocument/2006/relationships" id="265" r:id="R7158f64fbe8b4abb"/>
    <p:sldId xmlns:r="http://schemas.openxmlformats.org/officeDocument/2006/relationships" id="266" r:id="Rdb2be4a9ecf64ad2"/>
    <p:sldId xmlns:r="http://schemas.openxmlformats.org/officeDocument/2006/relationships" id="267" r:id="R62bb1e2026ff4636"/>
    <p:sldId xmlns:r="http://schemas.openxmlformats.org/officeDocument/2006/relationships" id="268" r:id="Rfe09d8b0f9874827"/>
    <p:sldId xmlns:r="http://schemas.openxmlformats.org/officeDocument/2006/relationships" id="269" r:id="R3baf10ae15a44201"/>
    <p:sldId xmlns:r="http://schemas.openxmlformats.org/officeDocument/2006/relationships" id="270" r:id="R221b46ed78cf4b21"/>
    <p:sldId xmlns:r="http://schemas.openxmlformats.org/officeDocument/2006/relationships" id="271" r:id="R00076951eaf34417"/>
    <p:sldId xmlns:r="http://schemas.openxmlformats.org/officeDocument/2006/relationships" id="272" r:id="R0dbfae456b8a41c5"/>
    <p:sldId xmlns:r="http://schemas.openxmlformats.org/officeDocument/2006/relationships" id="273" r:id="Rac161ba8b0584791"/>
    <p:sldId xmlns:r="http://schemas.openxmlformats.org/officeDocument/2006/relationships" id="274" r:id="Rcbd9fa149eab448f"/>
    <p:sldId xmlns:r="http://schemas.openxmlformats.org/officeDocument/2006/relationships" id="275" r:id="Rec0e16febbf9446d"/>
    <p:sldId xmlns:r="http://schemas.openxmlformats.org/officeDocument/2006/relationships" id="276" r:id="R9a116df206ef4c89"/>
    <p:sldId xmlns:r="http://schemas.openxmlformats.org/officeDocument/2006/relationships" id="277" r:id="Re0e2ae83e35b42c0"/>
    <p:sldId xmlns:r="http://schemas.openxmlformats.org/officeDocument/2006/relationships" id="278" r:id="Rdca162e4775d40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7a595ebd354a7c" /><Relationship Type="http://schemas.openxmlformats.org/officeDocument/2006/relationships/slideMaster" Target="/ppt/slideMasters/slideMaster1.xml" Id="R77d190446d544e51" /><Relationship Type="http://schemas.openxmlformats.org/officeDocument/2006/relationships/notesMaster" Target="/ppt/notesMasters/notesMaster1.xml" Id="Rf23cb8d2cac4490b" /><Relationship Type="http://schemas.openxmlformats.org/officeDocument/2006/relationships/presProps" Target="/ppt/presProps.xml" Id="R831e5d7b11be4dce" /><Relationship Type="http://schemas.openxmlformats.org/officeDocument/2006/relationships/tableStyles" Target="/ppt/tableStyles.xml" Id="R6506287375544cf1" /><Relationship Type="http://schemas.openxmlformats.org/officeDocument/2006/relationships/slide" Target="/ppt/slides/slide1.xml" Id="Rcd31428a9e934299" /><Relationship Type="http://schemas.openxmlformats.org/officeDocument/2006/relationships/slide" Target="/ppt/slides/slide2.xml" Id="R396aa5d06f8e4e9a" /><Relationship Type="http://schemas.openxmlformats.org/officeDocument/2006/relationships/slide" Target="/ppt/slides/slide3.xml" Id="Rf99ad42a2e7c448f" /><Relationship Type="http://schemas.openxmlformats.org/officeDocument/2006/relationships/slide" Target="/ppt/slides/slide4.xml" Id="R5b87c73945484beb" /><Relationship Type="http://schemas.openxmlformats.org/officeDocument/2006/relationships/slide" Target="/ppt/slides/slide5.xml" Id="R3eca0d3ea9d84b2a" /><Relationship Type="http://schemas.openxmlformats.org/officeDocument/2006/relationships/slide" Target="/ppt/slides/slide6.xml" Id="R5da9797004ed4eaa" /><Relationship Type="http://schemas.openxmlformats.org/officeDocument/2006/relationships/slide" Target="/ppt/slides/slide7.xml" Id="R95bcc71649a14547" /><Relationship Type="http://schemas.openxmlformats.org/officeDocument/2006/relationships/slide" Target="/ppt/slides/slide8.xml" Id="R2f0ec9f38a4b4805" /><Relationship Type="http://schemas.openxmlformats.org/officeDocument/2006/relationships/slide" Target="/ppt/slides/slide9.xml" Id="R2e7afb18f24447a5" /><Relationship Type="http://schemas.openxmlformats.org/officeDocument/2006/relationships/slide" Target="/ppt/slides/slide10.xml" Id="R7158f64fbe8b4abb" /><Relationship Type="http://schemas.openxmlformats.org/officeDocument/2006/relationships/slide" Target="/ppt/slides/slide11.xml" Id="Rdb2be4a9ecf64ad2" /><Relationship Type="http://schemas.openxmlformats.org/officeDocument/2006/relationships/slide" Target="/ppt/slides/slide12.xml" Id="R62bb1e2026ff4636" /><Relationship Type="http://schemas.openxmlformats.org/officeDocument/2006/relationships/slide" Target="/ppt/slides/slide13.xml" Id="Rfe09d8b0f9874827" /><Relationship Type="http://schemas.openxmlformats.org/officeDocument/2006/relationships/slide" Target="/ppt/slides/slide14.xml" Id="R3baf10ae15a44201" /><Relationship Type="http://schemas.openxmlformats.org/officeDocument/2006/relationships/slide" Target="/ppt/slides/slide15.xml" Id="R221b46ed78cf4b21" /><Relationship Type="http://schemas.openxmlformats.org/officeDocument/2006/relationships/slide" Target="/ppt/slides/slide16.xml" Id="R00076951eaf34417" /><Relationship Type="http://schemas.openxmlformats.org/officeDocument/2006/relationships/slide" Target="/ppt/slides/slide17.xml" Id="R0dbfae456b8a41c5" /><Relationship Type="http://schemas.openxmlformats.org/officeDocument/2006/relationships/slide" Target="/ppt/slides/slide18.xml" Id="Rac161ba8b0584791" /><Relationship Type="http://schemas.openxmlformats.org/officeDocument/2006/relationships/slide" Target="/ppt/slides/slide19.xml" Id="Rcbd9fa149eab448f" /><Relationship Type="http://schemas.openxmlformats.org/officeDocument/2006/relationships/slide" Target="/ppt/slides/slide20.xml" Id="Rec0e16febbf9446d" /><Relationship Type="http://schemas.openxmlformats.org/officeDocument/2006/relationships/slide" Target="/ppt/slides/slide21.xml" Id="R9a116df206ef4c89" /><Relationship Type="http://schemas.openxmlformats.org/officeDocument/2006/relationships/slide" Target="/ppt/slides/slide22.xml" Id="Re0e2ae83e35b42c0" /><Relationship Type="http://schemas.openxmlformats.org/officeDocument/2006/relationships/slide" Target="/ppt/slides/slide23.xml" Id="Rdca162e4775d40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fcf343f3a846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8c167ee68b4ec3" /><Relationship Type="http://schemas.openxmlformats.org/officeDocument/2006/relationships/notesMaster" Target="/ppt/notesMasters/notesMaster1.xml" Id="R667c7cf65a3f4d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3b36b0cb0843f2" /><Relationship Type="http://schemas.openxmlformats.org/officeDocument/2006/relationships/notesMaster" Target="/ppt/notesMasters/notesMaster1.xml" Id="Rc8f28bd6bd2b47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dab43a94024bd1" /><Relationship Type="http://schemas.openxmlformats.org/officeDocument/2006/relationships/notesMaster" Target="/ppt/notesMasters/notesMaster1.xml" Id="R9ed8de0e335446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f9cb38285d49e9" /><Relationship Type="http://schemas.openxmlformats.org/officeDocument/2006/relationships/notesMaster" Target="/ppt/notesMasters/notesMaster1.xml" Id="R64254283c64f4c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b6238a81974d21" /><Relationship Type="http://schemas.openxmlformats.org/officeDocument/2006/relationships/notesMaster" Target="/ppt/notesMasters/notesMaster1.xml" Id="R2f41dd0776ff47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fbd56186d94f13" /><Relationship Type="http://schemas.openxmlformats.org/officeDocument/2006/relationships/notesMaster" Target="/ppt/notesMasters/notesMaster1.xml" Id="Rda90bb916b5040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d79128dabf427e" /><Relationship Type="http://schemas.openxmlformats.org/officeDocument/2006/relationships/notesMaster" Target="/ppt/notesMasters/notesMaster1.xml" Id="R317ed8f020544d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9c804e5bfb4d40" /><Relationship Type="http://schemas.openxmlformats.org/officeDocument/2006/relationships/notesMaster" Target="/ppt/notesMasters/notesMaster1.xml" Id="R75d341d3cfdc41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13d53763084acd" /><Relationship Type="http://schemas.openxmlformats.org/officeDocument/2006/relationships/notesMaster" Target="/ppt/notesMasters/notesMaster1.xml" Id="R62d513c652ab48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2b55080bb0428e" /><Relationship Type="http://schemas.openxmlformats.org/officeDocument/2006/relationships/notesMaster" Target="/ppt/notesMasters/notesMaster1.xml" Id="R8a197b295b2842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91da14bc2c428d" /><Relationship Type="http://schemas.openxmlformats.org/officeDocument/2006/relationships/notesMaster" Target="/ppt/notesMasters/notesMaster1.xml" Id="Ra74ae4585e7e46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521b8da26447b7" /><Relationship Type="http://schemas.openxmlformats.org/officeDocument/2006/relationships/notesMaster" Target="/ppt/notesMasters/notesMaster1.xml" Id="Rb59f6a8fc63e49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e7c79dc956459c" /><Relationship Type="http://schemas.openxmlformats.org/officeDocument/2006/relationships/notesMaster" Target="/ppt/notesMasters/notesMaster1.xml" Id="Rfd2461ad224845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e4e3c69e264457" /><Relationship Type="http://schemas.openxmlformats.org/officeDocument/2006/relationships/notesMaster" Target="/ppt/notesMasters/notesMaster1.xml" Id="R4f5bfc02b16d4d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a0420dd47c476d" /><Relationship Type="http://schemas.openxmlformats.org/officeDocument/2006/relationships/notesMaster" Target="/ppt/notesMasters/notesMaster1.xml" Id="Ra7ff2872e64946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de4643b3b14655" /><Relationship Type="http://schemas.openxmlformats.org/officeDocument/2006/relationships/notesMaster" Target="/ppt/notesMasters/notesMaster1.xml" Id="R5d10f3cd467f4c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96e748ba674c3d" /><Relationship Type="http://schemas.openxmlformats.org/officeDocument/2006/relationships/notesMaster" Target="/ppt/notesMasters/notesMaster1.xml" Id="Rbce7e5f413dd4c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b03e47de8a4c99" /><Relationship Type="http://schemas.openxmlformats.org/officeDocument/2006/relationships/notesMaster" Target="/ppt/notesMasters/notesMaster1.xml" Id="Rbde4c0cb9f7f46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1aa308a80a04adf" /><Relationship Type="http://schemas.openxmlformats.org/officeDocument/2006/relationships/notesMaster" Target="/ppt/notesMasters/notesMaster1.xml" Id="Rcb3a6e7fa2ba46c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09d48979704004" /><Relationship Type="http://schemas.openxmlformats.org/officeDocument/2006/relationships/notesMaster" Target="/ppt/notesMasters/notesMaster1.xml" Id="Ra94de8ded2fc42b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18cd334e0b45d9" /><Relationship Type="http://schemas.openxmlformats.org/officeDocument/2006/relationships/notesMaster" Target="/ppt/notesMasters/notesMaster1.xml" Id="R1774700c69ff4bf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a5a0563f4654d9b" /><Relationship Type="http://schemas.openxmlformats.org/officeDocument/2006/relationships/notesMaster" Target="/ppt/notesMasters/notesMaster1.xml" Id="R4b317329f6c3407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5116b33e11148b5" /><Relationship Type="http://schemas.openxmlformats.org/officeDocument/2006/relationships/notesMaster" Target="/ppt/notesMasters/notesMaster1.xml" Id="R8265b198b02542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how it works.md</a:t>
            </a:r>
          </a:p>
          <a:p xmlns:a="http://schemas.openxmlformats.org/drawingml/2006/main">
            <a:r>
              <a:t>- LHA.sys.md</a:t>
            </a:r>
          </a:p>
          <a:p xmlns:a="http://schemas.openxmlformats.org/drawingml/2006/main">
            <a:r>
              <a:t>- stage1.md</a:t>
            </a:r>
          </a:p>
          <a:p xmlns:a="http://schemas.openxmlformats.org/drawingml/2006/main">
            <a:r>
              <a:t>- stage2.md</a:t>
            </a:r>
          </a:p>
          <a:p xmlns:a="http://schemas.openxmlformats.org/drawingml/2006/main">
            <a:r>
              <a:t>- stage3.md</a:t>
            </a:r>
          </a:p>
          <a:p xmlns:a="http://schemas.openxmlformats.org/drawingml/2006/main">
            <a:r>
              <a:t>- stage4.md</a:t>
            </a:r>
          </a:p>
          <a:p xmlns:a="http://schemas.openxmlformats.org/drawingml/2006/main">
            <a:r>
              <a:t>- stage5.md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how it works.md — TLDR and High-Level Overview</a:t>
            </a:r>
          </a:p>
          <a:p xmlns:a="http://schemas.openxmlformats.org/drawingml/2006/main">
            <a:r>
              <a:t>- stage1.md through stage5.md — evidence boundaries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how it works.md — Scope, WDM, Request binding, Device path</a:t>
            </a:r>
          </a:p>
          <a:p xmlns:a="http://schemas.openxmlformats.org/drawingml/2006/main">
            <a:r>
              <a:t>- stage2.md — IOCTL format</a:t>
            </a:r>
          </a:p>
          <a:p xmlns:a="http://schemas.openxmlformats.org/drawingml/2006/main">
            <a:r>
              <a:t>- stage3.md — method-aware request sources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how it works.md — TLDR, High-Level Overview, End-to-End Flow</a:t>
            </a:r>
          </a:p>
          <a:p xmlns:a="http://schemas.openxmlformats.org/drawingml/2006/main">
            <a:r>
              <a:t>- stage1.md through stage5.md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how it works.md — Stage 1</a:t>
            </a:r>
          </a:p>
          <a:p xmlns:a="http://schemas.openxmlformats.org/drawingml/2006/main">
            <a:r>
              <a:t>- stage1.md — processing flow, PE validation, SHA-256 identity, XAIR inventory, outputs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how it works.md — Stage 2</a:t>
            </a:r>
          </a:p>
          <a:p xmlns:a="http://schemas.openxmlformats.org/drawingml/2006/main">
            <a:r>
              <a:t>- stage2.md — two-pass CFG, dispatch recovery, device/front-door recovery, IOCTL exactness and fallback order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how it works.md — Stage 3, taint analysis, request modeling, proof levels</a:t>
            </a:r>
          </a:p>
          <a:p xmlns:a="http://schemas.openxmlformats.org/drawingml/2006/main">
            <a:r>
              <a:t>- stage3.md — request sources, provenance expressions, sink contracts, admission 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how it works.md — Stage 4, symbolic execution, readiness and outputs</a:t>
            </a:r>
          </a:p>
          <a:p xmlns:a="http://schemas.openxmlformats.org/drawingml/2006/main">
            <a:r>
              <a:t>- stage4.md — local proof, fallback, witness synthesis, candidate_id, execution_recipe_key, classification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how it works.md — Stage 5, installation probing, support, oracles, evidence levels</a:t>
            </a:r>
          </a:p>
          <a:p xmlns:a="http://schemas.openxmlformats.org/drawingml/2006/main">
            <a:r>
              <a:t>- stage5.md — normalization, probe, baseline-variant-baseline, instrumentation, crash attribution, verdict grading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how it works.md — Scope, Stage outputs, Current Issues and Known Gaps</a:t>
            </a:r>
          </a:p>
          <a:p xmlns:a="http://schemas.openxmlformats.org/drawingml/2006/main">
            <a:r>
              <a:t>- stage1.md through stage5.md — guarantees and non-guarantees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LHA.sys.md — full walkthrough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LHA.sys.md — Driver identity; What the static stages recovered; Driver structure in the pipeline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LHA.sys.md — taint_status.json, verification.json, candidate inventory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LHA.sys.md — Candidate inventory; verification by sink family; driver-level dynamic breakdown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LHA.sys.md — Driver structure in the pipeline; Taint and provenance; Request synthesis; Dynamic lane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LHA.sys.md — Driver structure in the pipeline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LHA.sys.md — Taint and provenance for the confirmed case</a:t>
            </a:r>
          </a:p>
          <a:p xmlns:a="http://schemas.openxmlformats.org/drawingml/2006/main">
            <a:r>
              <a:t>- stage3.md — provenance expressions</a:t>
            </a:r>
          </a:p>
          <a:p xmlns:a="http://schemas.openxmlformats.org/drawingml/2006/main">
            <a:r>
              <a:t>- stage4.md — rooted versus proven obligations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LHA.sys.md — How the request was synthesized; request_0007.json details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LHA.sys.md — How the case became runnable</a:t>
            </a:r>
          </a:p>
          <a:p xmlns:a="http://schemas.openxmlformats.org/drawingml/2006/main">
            <a:r>
              <a:t>- how it works.md — Installation status and probing</a:t>
            </a:r>
          </a:p>
          <a:p xmlns:a="http://schemas.openxmlformats.org/drawingml/2006/main">
            <a:r>
              <a:t>- stage5.md — canonical identity and device discovery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LHA.sys.md — Exact dynamic lane selected; What actually ran</a:t>
            </a:r>
          </a:p>
          <a:p xmlns:a="http://schemas.openxmlformats.org/drawingml/2006/main">
            <a:r>
              <a:t>- stage5.md — baseline and variant semantics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LHA.sys.md — Why the verdict is confirmed; matched MMIO event and final verdict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LHA.sys.md — Why this case is stronger than the inconclusive physical case; What this one driver tells us about the tool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how it works.md — Bottom-line system behavior and known boundaries</a:t>
            </a:r>
          </a:p>
          <a:p xmlns:a="http://schemas.openxmlformats.org/drawingml/2006/main">
            <a:r>
              <a:t>- LHA.sys.md — Bottom line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2ed665f334b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abf27be2fe4050" /><Relationship Type="http://schemas.openxmlformats.org/officeDocument/2006/relationships/slideLayout" Target="/ppt/slideLayouts/slideLayout1.xml" Id="R7f1d26e2c16940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1d26e2c16940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179bbf3c8443d" /><Relationship Type="http://schemas.openxmlformats.org/officeDocument/2006/relationships/notesSlide" Target="/ppt/notesSlides/notesSlide1.xml" Id="R1c734cc780e349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d085d0e114d7f" /><Relationship Type="http://schemas.openxmlformats.org/officeDocument/2006/relationships/notesSlide" Target="/ppt/notesSlides/notesSlide2.xml" Id="Rf07ca9080ecf42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2de4affd74ded" /><Relationship Type="http://schemas.openxmlformats.org/officeDocument/2006/relationships/notesSlide" Target="/ppt/notesSlides/notesSlide3.xml" Id="R71704b61725743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08eabf65b4d45" /><Relationship Type="http://schemas.openxmlformats.org/officeDocument/2006/relationships/notesSlide" Target="/ppt/notesSlides/notesSlide4.xml" Id="Rcdbfda44e64b4a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929f8f2964e02" /><Relationship Type="http://schemas.openxmlformats.org/officeDocument/2006/relationships/notesSlide" Target="/ppt/notesSlides/notesSlide5.xml" Id="R53c1f5f2966343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674e5d50a4a01" /><Relationship Type="http://schemas.openxmlformats.org/officeDocument/2006/relationships/notesSlide" Target="/ppt/notesSlides/notesSlide6.xml" Id="R543012b493d64c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e52395c424b49" /><Relationship Type="http://schemas.openxmlformats.org/officeDocument/2006/relationships/notesSlide" Target="/ppt/notesSlides/notesSlide7.xml" Id="R36fabefa1ca341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f34ff751246d1" /><Relationship Type="http://schemas.openxmlformats.org/officeDocument/2006/relationships/notesSlide" Target="/ppt/notesSlides/notesSlide8.xml" Id="R7e81082290ca48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770f6f1484d0c" /><Relationship Type="http://schemas.openxmlformats.org/officeDocument/2006/relationships/notesSlide" Target="/ppt/notesSlides/notesSlide9.xml" Id="Rd84f78edfb6049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df61c439c4388" /><Relationship Type="http://schemas.openxmlformats.org/officeDocument/2006/relationships/notesSlide" Target="/ppt/notesSlides/notesSlide10.xml" Id="R5937499e70614a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f7534c2e04ead" /><Relationship Type="http://schemas.openxmlformats.org/officeDocument/2006/relationships/notesSlide" Target="/ppt/notesSlides/notesSlide11.xml" Id="Rda6e5418328347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d8cd090804fa3" /><Relationship Type="http://schemas.openxmlformats.org/officeDocument/2006/relationships/notesSlide" Target="/ppt/notesSlides/notesSlide12.xml" Id="R320d7d6d398046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3d3384ea54902" /><Relationship Type="http://schemas.openxmlformats.org/officeDocument/2006/relationships/notesSlide" Target="/ppt/notesSlides/notesSlide13.xml" Id="Rf92be388b8f445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b0c8a27ed4ff9" /><Relationship Type="http://schemas.openxmlformats.org/officeDocument/2006/relationships/notesSlide" Target="/ppt/notesSlides/notesSlide14.xml" Id="R22923b3c8f9c47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9f442628f4e5d" /><Relationship Type="http://schemas.openxmlformats.org/officeDocument/2006/relationships/notesSlide" Target="/ppt/notesSlides/notesSlide15.xml" Id="Rc2abca7ac7a14d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431d178f64a72" /><Relationship Type="http://schemas.openxmlformats.org/officeDocument/2006/relationships/notesSlide" Target="/ppt/notesSlides/notesSlide16.xml" Id="R19083fcf5df342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7fe2f38664bb2" /><Relationship Type="http://schemas.openxmlformats.org/officeDocument/2006/relationships/notesSlide" Target="/ppt/notesSlides/notesSlide17.xml" Id="R0c4d4b6d26aa41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e161f2460418e" /><Relationship Type="http://schemas.openxmlformats.org/officeDocument/2006/relationships/notesSlide" Target="/ppt/notesSlides/notesSlide18.xml" Id="R185034ca62ac4b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441b5dab549b0" /><Relationship Type="http://schemas.openxmlformats.org/officeDocument/2006/relationships/notesSlide" Target="/ppt/notesSlides/notesSlide19.xml" Id="R5106101cb02a4a5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57e61d5c744ee" /><Relationship Type="http://schemas.openxmlformats.org/officeDocument/2006/relationships/notesSlide" Target="/ppt/notesSlides/notesSlide20.xml" Id="R8b4fa05e8b2b4c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97467b1094cfc" /><Relationship Type="http://schemas.openxmlformats.org/officeDocument/2006/relationships/notesSlide" Target="/ppt/notesSlides/notesSlide21.xml" Id="Rc22013c2f63944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6a9f7b7a14874" /><Relationship Type="http://schemas.openxmlformats.org/officeDocument/2006/relationships/notesSlide" Target="/ppt/notesSlides/notesSlide22.xml" Id="R168f5418613e41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dad2664304860" /><Relationship Type="http://schemas.openxmlformats.org/officeDocument/2006/relationships/notesSlide" Target="/ppt/notesSlides/notesSlide23.xml" Id="Rd2dfe81cd7674a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1DD7422-18F3-4E6F-81A0-02B09C6F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EXPLAINER</a:t>
            </a:r>
          </a:p>
        </p:txBody>
      </p:sp>
      <p:sp>
        <p:nvSpPr>
          <p:cNvPr id="2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C8F58B5F-D079-4845-AA0B-5A37024D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WINDOWS KERNEL DRIVER ANALYSIS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DC075F6-0E7C-4449-AE07-A905C8B7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Kernel Sieve works</a:t>
            </a:r>
          </a:p>
          <a:p xmlns:a="http://schemas.openxmlformats.org/drawingml/2006/main">
            <a:pPr algn="l">
              <a:defRPr sz="5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—and the life of LHA.sys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E7FDD9A-7182-4313-9F49-1CDC7978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From PE intake and IOCTL recovery to request provenance, concrete recipes, isolated execution, and an E4-confirmed physical-memory effect</a:t>
            </a:r>
          </a:p>
        </p:txBody>
      </p:sp>
    </p:spTree>
    <p:extLst>
      <p:ext uri="{BB962C8B-B14F-4D97-AF65-F5344CB8AC3E}">
        <p14:creationId xmlns:p14="http://schemas.microsoft.com/office/powerpoint/2010/main" val="75129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75DEAA7F-7AA4-4008-9895-2198A18A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THE TOOL DOES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F7B36EA-5877-465F-A255-17FEF6B4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Kernel Sieve builds controlled experiments from .sys files</a:t>
            </a:r>
          </a:p>
        </p:txBody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3BD19B8F-0342-4F1E-B631-33F6AFD3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summary-thesis">
            <a:extLst xmlns:a="http://schemas.openxmlformats.org/drawingml/2006/main">
              <a:ext uri="{FF2B5EF4-FFF2-40B4-BE49-F238E27FC236}">
                <a16:creationId xmlns:a16="http://schemas.microsoft.com/office/drawing/2014/main" id="{67F59CC6-D95B-4D57-9A7B-8CDF614D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906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Static analysis decides what is worth testing. Dynamic analysis decides what actually happened.</a:t>
            </a:r>
          </a:p>
        </p:txBody>
      </p:sp>
      <p:sp>
        <p:nvSpPr>
          <p:cNvPr id="5" name="summary-columns-heading-1">
            <a:extLst xmlns:a="http://schemas.openxmlformats.org/drawingml/2006/main">
              <a:ext uri="{FF2B5EF4-FFF2-40B4-BE49-F238E27FC236}">
                <a16:creationId xmlns:a16="http://schemas.microsoft.com/office/drawing/2014/main" id="{E16DABD4-94DE-48ED-ABEA-BDC3D940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Recover</a:t>
            </a:r>
          </a:p>
        </p:txBody>
      </p:sp>
      <p:sp>
        <p:nvSpPr>
          <p:cNvPr id="6" name="summary-columns-body-1">
            <a:extLst xmlns:a="http://schemas.openxmlformats.org/drawingml/2006/main">
              <a:ext uri="{FF2B5EF4-FFF2-40B4-BE49-F238E27FC236}">
                <a16:creationId xmlns:a16="http://schemas.microsoft.com/office/drawing/2014/main" id="{CF709318-22FF-4CFC-AEC8-C24638B2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35687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Find the WDM device-control front door, exact IOCTL cases, request layout, and sensitive operations.</a:t>
            </a:r>
          </a:p>
        </p:txBody>
      </p:sp>
      <p:sp>
        <p:nvSpPr>
          <p:cNvPr id="7" name="summary-columns-heading-2">
            <a:extLst xmlns:a="http://schemas.openxmlformats.org/drawingml/2006/main">
              <a:ext uri="{FF2B5EF4-FFF2-40B4-BE49-F238E27FC236}">
                <a16:creationId xmlns:a16="http://schemas.microsoft.com/office/drawing/2014/main" id="{86A3C4F3-108B-4864-B59C-1A0DC934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7241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Prove + package</a:t>
            </a:r>
          </a:p>
        </p:txBody>
      </p:sp>
      <p:sp>
        <p:nvSpPr>
          <p:cNvPr id="8" name="summary-columns-body-2">
            <a:extLst xmlns:a="http://schemas.openxmlformats.org/drawingml/2006/main">
              <a:ext uri="{FF2B5EF4-FFF2-40B4-BE49-F238E27FC236}">
                <a16:creationId xmlns:a16="http://schemas.microsoft.com/office/drawing/2014/main" id="{1F1D9BFF-25B4-478C-80AF-E69C649D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352800"/>
            <a:ext cx="35687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Trace request-backed values to required sink operands, grade exactness, and serialize a runnable recipe.</a:t>
            </a:r>
          </a:p>
        </p:txBody>
      </p:sp>
      <p:sp>
        <p:nvSpPr>
          <p:cNvPr id="9" name="summary-columns-heading-3">
            <a:extLst xmlns:a="http://schemas.openxmlformats.org/drawingml/2006/main">
              <a:ext uri="{FF2B5EF4-FFF2-40B4-BE49-F238E27FC236}">
                <a16:creationId xmlns:a16="http://schemas.microsoft.com/office/drawing/2014/main" id="{831DBC99-7BD9-4641-B95C-AE3E08D3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7241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Run + observe</a:t>
            </a:r>
          </a:p>
        </p:txBody>
      </p:sp>
      <p:sp>
        <p:nvSpPr>
          <p:cNvPr id="10" name="summary-columns-body-3">
            <a:extLst xmlns:a="http://schemas.openxmlformats.org/drawingml/2006/main">
              <a:ext uri="{FF2B5EF4-FFF2-40B4-BE49-F238E27FC236}">
                <a16:creationId xmlns:a16="http://schemas.microsoft.com/office/drawing/2014/main" id="{2FEC378E-B7F8-4896-B966-B7FCB4BD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352800"/>
            <a:ext cx="35687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Repair installation, execute controls and a variant in a disposable guest, then grade only the evidence observed.</a:t>
            </a:r>
          </a:p>
        </p:txBody>
      </p:sp>
      <p:sp>
        <p:nvSpPr>
          <p:cNvPr id="11" name="summary-guardrail">
            <a:extLst xmlns:a="http://schemas.openxmlformats.org/drawingml/2006/main">
              <a:ext uri="{FF2B5EF4-FFF2-40B4-BE49-F238E27FC236}">
                <a16:creationId xmlns:a16="http://schemas.microsoft.com/office/drawing/2014/main" id="{F90B00B7-D03F-4678-9DD8-D16720D5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7215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Guardrail: a suspicious API, tainted value, successful DeviceIoControl call, or crash is never promoted beyond the evidence it actually supports.</a:t>
            </a:r>
          </a:p>
        </p:txBody>
      </p:sp>
    </p:spTree>
    <p:extLst>
      <p:ext uri="{BB962C8B-B14F-4D97-AF65-F5344CB8AC3E}">
        <p14:creationId xmlns:p14="http://schemas.microsoft.com/office/powerpoint/2010/main" val="1325155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228B5148-2290-4E86-921D-B962558B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WINDOWS FOUNDATIONS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7D28EE2-78EE-4FC7-9E07-8B5EFB90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WDM request has one user-to-kernel path</a:t>
            </a:r>
          </a:p>
        </p:txBody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67B824A7-BC5F-4F2B-9D3B-F356CEA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32" name="winpath-edge-0"/>
          <p:cNvCxnSpPr/>
          <p:nvPr/>
        </p:nvCxnSpPr>
        <p:spPr>
          <a:xfrm xmlns:a="http://schemas.openxmlformats.org/drawingml/2006/main">
            <a:off x="2352675" y="25717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3" name="winpath-edge-1"/>
          <p:cNvCxnSpPr/>
          <p:nvPr/>
        </p:nvCxnSpPr>
        <p:spPr>
          <a:xfrm xmlns:a="http://schemas.openxmlformats.org/drawingml/2006/main">
            <a:off x="4514850" y="25717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4" name="winpath-edge-2"/>
          <p:cNvCxnSpPr/>
          <p:nvPr/>
        </p:nvCxnSpPr>
        <p:spPr>
          <a:xfrm xmlns:a="http://schemas.openxmlformats.org/drawingml/2006/main">
            <a:off x="6677025" y="25717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5" name="winpath-edge-3"/>
          <p:cNvCxnSpPr/>
          <p:nvPr/>
        </p:nvCxnSpPr>
        <p:spPr>
          <a:xfrm xmlns:a="http://schemas.openxmlformats.org/drawingml/2006/main">
            <a:off x="8839200" y="25717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8" name="winpath-node-0-panel">
            <a:extLst xmlns:a="http://schemas.openxmlformats.org/drawingml/2006/main">
              <a:ext uri="{FF2B5EF4-FFF2-40B4-BE49-F238E27FC236}">
                <a16:creationId xmlns:a16="http://schemas.microsoft.com/office/drawing/2014/main" id="{12539761-4D3D-435C-BE40-2B10C7EB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inpath-node-0-title">
            <a:extLst xmlns:a="http://schemas.openxmlformats.org/drawingml/2006/main">
              <a:ext uri="{FF2B5EF4-FFF2-40B4-BE49-F238E27FC236}">
                <a16:creationId xmlns:a16="http://schemas.microsoft.com/office/drawing/2014/main" id="{B32FDBE4-AACB-4ECD-854B-D45719E2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process</a:t>
            </a:r>
          </a:p>
        </p:txBody>
      </p:sp>
      <p:sp>
        <p:nvSpPr>
          <p:cNvPr id="10" name="winpath-node-0-subtitle">
            <a:extLst xmlns:a="http://schemas.openxmlformats.org/drawingml/2006/main">
              <a:ext uri="{FF2B5EF4-FFF2-40B4-BE49-F238E27FC236}">
                <a16:creationId xmlns:a16="http://schemas.microsoft.com/office/drawing/2014/main" id="{7C08D15C-3E49-4D96-9613-19547D05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CreateFile + DeviceIoControl</a:t>
            </a:r>
          </a:p>
        </p:txBody>
      </p:sp>
      <p:sp>
        <p:nvSpPr>
          <p:cNvPr id="11" name="winpath-node-1-panel">
            <a:extLst xmlns:a="http://schemas.openxmlformats.org/drawingml/2006/main">
              <a:ext uri="{FF2B5EF4-FFF2-40B4-BE49-F238E27FC236}">
                <a16:creationId xmlns:a16="http://schemas.microsoft.com/office/drawing/2014/main" id="{9627E06B-AB9B-481F-AC12-83DC312E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962150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inpath-node-1-title">
            <a:extLst xmlns:a="http://schemas.openxmlformats.org/drawingml/2006/main">
              <a:ext uri="{FF2B5EF4-FFF2-40B4-BE49-F238E27FC236}">
                <a16:creationId xmlns:a16="http://schemas.microsoft.com/office/drawing/2014/main" id="{2BBBCA47-CF94-49AC-9E52-B7FEAC95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3360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 path</a:t>
            </a:r>
          </a:p>
        </p:txBody>
      </p:sp>
      <p:sp>
        <p:nvSpPr>
          <p:cNvPr id="13" name="winpath-node-1-subtitle">
            <a:extLst xmlns:a="http://schemas.openxmlformats.org/drawingml/2006/main">
              <a:ext uri="{FF2B5EF4-FFF2-40B4-BE49-F238E27FC236}">
                <a16:creationId xmlns:a16="http://schemas.microsoft.com/office/drawing/2014/main" id="{023E3D27-C029-4699-A6F2-FD1385D2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55270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\\.\DriverName</a:t>
            </a:r>
          </a:p>
        </p:txBody>
      </p:sp>
      <p:sp>
        <p:nvSpPr>
          <p:cNvPr id="14" name="winpath-node-2-panel">
            <a:extLst xmlns:a="http://schemas.openxmlformats.org/drawingml/2006/main">
              <a:ext uri="{FF2B5EF4-FFF2-40B4-BE49-F238E27FC236}">
                <a16:creationId xmlns:a16="http://schemas.microsoft.com/office/drawing/2014/main" id="{C13A5602-2D51-45AA-A1F6-26C54B35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62150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inpath-node-2-title">
            <a:extLst xmlns:a="http://schemas.openxmlformats.org/drawingml/2006/main">
              <a:ext uri="{FF2B5EF4-FFF2-40B4-BE49-F238E27FC236}">
                <a16:creationId xmlns:a16="http://schemas.microsoft.com/office/drawing/2014/main" id="{22328FBC-73C0-4A23-B9C8-8AC7CDBC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3360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I/O Manager</a:t>
            </a:r>
          </a:p>
        </p:txBody>
      </p:sp>
      <p:sp>
        <p:nvSpPr>
          <p:cNvPr id="16" name="winpath-node-2-subtitle">
            <a:extLst xmlns:a="http://schemas.openxmlformats.org/drawingml/2006/main">
              <a:ext uri="{FF2B5EF4-FFF2-40B4-BE49-F238E27FC236}">
                <a16:creationId xmlns:a16="http://schemas.microsoft.com/office/drawing/2014/main" id="{D2432EDA-166D-4F73-9576-83E63646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5270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Builds IRP + stack location</a:t>
            </a:r>
          </a:p>
        </p:txBody>
      </p:sp>
      <p:sp>
        <p:nvSpPr>
          <p:cNvPr id="17" name="winpath-node-3-panel">
            <a:extLst xmlns:a="http://schemas.openxmlformats.org/drawingml/2006/main">
              <a:ext uri="{FF2B5EF4-FFF2-40B4-BE49-F238E27FC236}">
                <a16:creationId xmlns:a16="http://schemas.microsoft.com/office/drawing/2014/main" id="{37E62128-97AA-4959-A4F6-3319E553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62150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inpath-node-3-title">
            <a:extLst xmlns:a="http://schemas.openxmlformats.org/drawingml/2006/main">
              <a:ext uri="{FF2B5EF4-FFF2-40B4-BE49-F238E27FC236}">
                <a16:creationId xmlns:a16="http://schemas.microsoft.com/office/drawing/2014/main" id="{969A01DF-5F8F-48F2-8CA8-AE2ECFA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13360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WDM handler</a:t>
            </a:r>
          </a:p>
        </p:txBody>
      </p:sp>
      <p:sp>
        <p:nvSpPr>
          <p:cNvPr id="19" name="winpath-node-3-subtitle">
            <a:extLst xmlns:a="http://schemas.openxmlformats.org/drawingml/2006/main">
              <a:ext uri="{FF2B5EF4-FFF2-40B4-BE49-F238E27FC236}">
                <a16:creationId xmlns:a16="http://schemas.microsoft.com/office/drawing/2014/main" id="{6D56F7FC-6E84-4D77-BE94-C0453B7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55270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MajorFunction[0x0E]</a:t>
            </a:r>
          </a:p>
        </p:txBody>
      </p:sp>
      <p:sp>
        <p:nvSpPr>
          <p:cNvPr id="20" name="winpath-node-4-panel">
            <a:extLst xmlns:a="http://schemas.openxmlformats.org/drawingml/2006/main">
              <a:ext uri="{FF2B5EF4-FFF2-40B4-BE49-F238E27FC236}">
                <a16:creationId xmlns:a16="http://schemas.microsoft.com/office/drawing/2014/main" id="{9E1B47D9-616C-47AA-A55F-82A6BC65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62150"/>
            <a:ext cx="2743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inpath-node-4-title">
            <a:extLst xmlns:a="http://schemas.openxmlformats.org/drawingml/2006/main">
              <a:ext uri="{FF2B5EF4-FFF2-40B4-BE49-F238E27FC236}">
                <a16:creationId xmlns:a16="http://schemas.microsoft.com/office/drawing/2014/main" id="{06012365-5DC9-4A84-A65D-F219BA1B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Sensitive operation</a:t>
            </a:r>
          </a:p>
        </p:txBody>
      </p:sp>
      <p:sp>
        <p:nvSpPr>
          <p:cNvPr id="22" name="winpath-node-4-subtitle">
            <a:extLst xmlns:a="http://schemas.openxmlformats.org/drawingml/2006/main">
              <a:ext uri="{FF2B5EF4-FFF2-40B4-BE49-F238E27FC236}">
                <a16:creationId xmlns:a16="http://schemas.microsoft.com/office/drawing/2014/main" id="{73913CA8-FC39-4DC4-B161-DE065F0C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527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Example: MmMapIoSpace</a:t>
            </a:r>
          </a:p>
        </p:txBody>
      </p:sp>
      <p:sp>
        <p:nvSpPr>
          <p:cNvPr id="23" name="winpath-detail-left-title">
            <a:extLst xmlns:a="http://schemas.openxmlformats.org/drawingml/2006/main">
              <a:ext uri="{FF2B5EF4-FFF2-40B4-BE49-F238E27FC236}">
                <a16:creationId xmlns:a16="http://schemas.microsoft.com/office/drawing/2014/main" id="{386F4849-9F69-4F2D-926A-D35C99EC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IOCTL chooses the operation</a:t>
            </a:r>
          </a:p>
        </p:txBody>
      </p:sp>
      <p:sp>
        <p:nvSpPr>
          <p:cNvPr id="24" name="winpath-detail-left-body">
            <a:extLst xmlns:a="http://schemas.openxmlformats.org/drawingml/2006/main">
              <a:ext uri="{FF2B5EF4-FFF2-40B4-BE49-F238E27FC236}">
                <a16:creationId xmlns:a16="http://schemas.microsoft.com/office/drawing/2014/main" id="{37887FB5-F75A-4177-B2E5-BF926ED8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552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32-bit code encodes DeviceType, Access, Function, and Method. Stage 2 recovers exact case selectors when possible.</a:t>
            </a:r>
          </a:p>
        </p:txBody>
      </p:sp>
      <p:sp>
        <p:nvSpPr>
          <p:cNvPr id="25" name="winpath-detail-right-title">
            <a:extLst xmlns:a="http://schemas.openxmlformats.org/drawingml/2006/main">
              <a:ext uri="{FF2B5EF4-FFF2-40B4-BE49-F238E27FC236}">
                <a16:creationId xmlns:a16="http://schemas.microsoft.com/office/drawing/2014/main" id="{BC3F0337-9EC8-4BB5-8661-DA4DD736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Method chooses request memory</a:t>
            </a:r>
          </a:p>
        </p:txBody>
      </p:sp>
      <p:sp>
        <p:nvSpPr>
          <p:cNvPr id="26" name="winpath-detail-right-body">
            <a:extLst xmlns:a="http://schemas.openxmlformats.org/drawingml/2006/main">
              <a:ext uri="{FF2B5EF4-FFF2-40B4-BE49-F238E27FC236}">
                <a16:creationId xmlns:a16="http://schemas.microsoft.com/office/drawing/2014/main" id="{DEEB3A74-F373-465E-93D2-B958D1EB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00550"/>
            <a:ext cx="552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BUFFERED uses SystemBuffer; DIRECT adds an MDL-backed view; NEITHER exposes raw user pointers. Stage 3 models each differently.</a:t>
            </a:r>
          </a:p>
        </p:txBody>
      </p:sp>
      <p:sp>
        <p:nvSpPr>
          <p:cNvPr id="27" name="winpath-bits-bg">
            <a:extLst xmlns:a="http://schemas.openxmlformats.org/drawingml/2006/main">
              <a:ext uri="{FF2B5EF4-FFF2-40B4-BE49-F238E27FC236}">
                <a16:creationId xmlns:a16="http://schemas.microsoft.com/office/drawing/2014/main" id="{1E934396-A7CB-4B0A-9616-10AB0D25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29300"/>
            <a:ext cx="857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inpath-bits-text">
            <a:extLst xmlns:a="http://schemas.openxmlformats.org/drawingml/2006/main">
              <a:ext uri="{FF2B5EF4-FFF2-40B4-BE49-F238E27FC236}">
                <a16:creationId xmlns:a16="http://schemas.microsoft.com/office/drawing/2014/main" id="{83A0EBF0-12C2-4DBF-9808-12568126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24550"/>
            <a:ext cx="811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CE7F5"/>
                </a:solidFill>
                <a:latin typeface="Arial"/>
                <a:ea typeface="Arial"/>
                <a:cs typeface="Arial"/>
              </a:rPr>
              <a:t>DeviceType [31:16]   Access [15:14]   Function [13:2]   Method [1:0]</a:t>
            </a:r>
          </a:p>
        </p:txBody>
      </p:sp>
    </p:spTree>
    <p:extLst>
      <p:ext uri="{BB962C8B-B14F-4D97-AF65-F5344CB8AC3E}">
        <p14:creationId xmlns:p14="http://schemas.microsoft.com/office/powerpoint/2010/main" val="1883206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39B13716-2C7D-48E0-B068-5CE9DA07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END-TO-END ARCHITECTURE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D443842-DBBE-479B-A51C-0F383F78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Five stages advance five different claims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4473CA11-4A42-4AC6-BE30-655D7C09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cxnSp>
        <p:nvCxnSpPr>
          <p:cNvPr id="62" name="stage-gates-edge-1"/>
          <p:cNvCxnSpPr/>
          <p:nvPr/>
        </p:nvCxnSpPr>
        <p:spPr>
          <a:xfrm xmlns:a="http://schemas.openxmlformats.org/drawingml/2006/main">
            <a:off x="2526030" y="24003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3" name="stage-gates-edge-2"/>
          <p:cNvCxnSpPr/>
          <p:nvPr/>
        </p:nvCxnSpPr>
        <p:spPr>
          <a:xfrm xmlns:a="http://schemas.openxmlformats.org/drawingml/2006/main">
            <a:off x="4842510" y="24003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4" name="stage-gates-edge-3"/>
          <p:cNvCxnSpPr/>
          <p:nvPr/>
        </p:nvCxnSpPr>
        <p:spPr>
          <a:xfrm xmlns:a="http://schemas.openxmlformats.org/drawingml/2006/main">
            <a:off x="7158990" y="24003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5" name="stage-gates-edge-4"/>
          <p:cNvCxnSpPr/>
          <p:nvPr/>
        </p:nvCxnSpPr>
        <p:spPr>
          <a:xfrm xmlns:a="http://schemas.openxmlformats.org/drawingml/2006/main">
            <a:off x="9475470" y="24003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8" name="stage-gates-node-1">
            <a:extLst xmlns:a="http://schemas.openxmlformats.org/drawingml/2006/main">
              <a:ext uri="{FF2B5EF4-FFF2-40B4-BE49-F238E27FC236}">
                <a16:creationId xmlns:a16="http://schemas.microsoft.com/office/drawing/2014/main" id="{EF2FF39F-F079-49C4-9372-0CD65CA6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gates-node-num-1">
            <a:extLst xmlns:a="http://schemas.openxmlformats.org/drawingml/2006/main">
              <a:ext uri="{FF2B5EF4-FFF2-40B4-BE49-F238E27FC236}">
                <a16:creationId xmlns:a16="http://schemas.microsoft.com/office/drawing/2014/main" id="{F2F17B4E-B0AE-49B7-BAA2-31AE3552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10" name="stage-gates-node-title-1">
            <a:extLst xmlns:a="http://schemas.openxmlformats.org/drawingml/2006/main">
              <a:ext uri="{FF2B5EF4-FFF2-40B4-BE49-F238E27FC236}">
                <a16:creationId xmlns:a16="http://schemas.microsoft.com/office/drawing/2014/main" id="{607EA173-CAAC-4AC5-B3D2-99EFC42F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Presence</a:t>
            </a:r>
          </a:p>
        </p:txBody>
      </p:sp>
      <p:sp>
        <p:nvSpPr>
          <p:cNvPr id="11" name="stage-gates-node-2">
            <a:extLst xmlns:a="http://schemas.openxmlformats.org/drawingml/2006/main">
              <a:ext uri="{FF2B5EF4-FFF2-40B4-BE49-F238E27FC236}">
                <a16:creationId xmlns:a16="http://schemas.microsoft.com/office/drawing/2014/main" id="{ECCFEF3F-5AE9-4393-9822-93CCE056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17716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gates-node-num-2">
            <a:extLst xmlns:a="http://schemas.openxmlformats.org/drawingml/2006/main">
              <a:ext uri="{FF2B5EF4-FFF2-40B4-BE49-F238E27FC236}">
                <a16:creationId xmlns:a16="http://schemas.microsoft.com/office/drawing/2014/main" id="{5B492ECF-CB3B-46A2-BD46-376F8838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050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13" name="stage-gates-node-title-2">
            <a:extLst xmlns:a="http://schemas.openxmlformats.org/drawingml/2006/main">
              <a:ext uri="{FF2B5EF4-FFF2-40B4-BE49-F238E27FC236}">
                <a16:creationId xmlns:a16="http://schemas.microsoft.com/office/drawing/2014/main" id="{3C0FC3DC-8475-4916-A1F5-3F0EA9AC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479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Invocation</a:t>
            </a:r>
          </a:p>
        </p:txBody>
      </p:sp>
      <p:sp>
        <p:nvSpPr>
          <p:cNvPr id="14" name="stage-gates-node-3">
            <a:extLst xmlns:a="http://schemas.openxmlformats.org/drawingml/2006/main">
              <a:ext uri="{FF2B5EF4-FFF2-40B4-BE49-F238E27FC236}">
                <a16:creationId xmlns:a16="http://schemas.microsoft.com/office/drawing/2014/main" id="{BEDDB75A-1BAD-4BAE-BFB3-BCA6D3B3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17716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gates-node-num-3">
            <a:extLst xmlns:a="http://schemas.openxmlformats.org/drawingml/2006/main">
              <a:ext uri="{FF2B5EF4-FFF2-40B4-BE49-F238E27FC236}">
                <a16:creationId xmlns:a16="http://schemas.microsoft.com/office/drawing/2014/main" id="{C883F8EB-C91B-4A85-80F1-1BCDA045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19050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3</a:t>
            </a:r>
          </a:p>
        </p:txBody>
      </p:sp>
      <p:sp>
        <p:nvSpPr>
          <p:cNvPr id="16" name="stage-gates-node-title-3">
            <a:extLst xmlns:a="http://schemas.openxmlformats.org/drawingml/2006/main">
              <a:ext uri="{FF2B5EF4-FFF2-40B4-BE49-F238E27FC236}">
                <a16:creationId xmlns:a16="http://schemas.microsoft.com/office/drawing/2014/main" id="{983125AE-FA1C-4333-8487-49C7184E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2479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7" name="stage-gates-node-4">
            <a:extLst xmlns:a="http://schemas.openxmlformats.org/drawingml/2006/main">
              <a:ext uri="{FF2B5EF4-FFF2-40B4-BE49-F238E27FC236}">
                <a16:creationId xmlns:a16="http://schemas.microsoft.com/office/drawing/2014/main" id="{4208E7BB-EFEB-44A6-9FCD-7FE718D5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716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ge-gates-node-num-4">
            <a:extLst xmlns:a="http://schemas.openxmlformats.org/drawingml/2006/main">
              <a:ext uri="{FF2B5EF4-FFF2-40B4-BE49-F238E27FC236}">
                <a16:creationId xmlns:a16="http://schemas.microsoft.com/office/drawing/2014/main" id="{FA7BA89D-BDF8-4025-BD37-3BC65967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19050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4</a:t>
            </a:r>
          </a:p>
        </p:txBody>
      </p:sp>
      <p:sp>
        <p:nvSpPr>
          <p:cNvPr id="19" name="stage-gates-node-title-4">
            <a:extLst xmlns:a="http://schemas.openxmlformats.org/drawingml/2006/main">
              <a:ext uri="{FF2B5EF4-FFF2-40B4-BE49-F238E27FC236}">
                <a16:creationId xmlns:a16="http://schemas.microsoft.com/office/drawing/2014/main" id="{CF109779-1C5B-41FA-8648-78416BBE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22479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20" name="stage-gates-node-5">
            <a:extLst xmlns:a="http://schemas.openxmlformats.org/drawingml/2006/main">
              <a:ext uri="{FF2B5EF4-FFF2-40B4-BE49-F238E27FC236}">
                <a16:creationId xmlns:a16="http://schemas.microsoft.com/office/drawing/2014/main" id="{858CADFF-2449-4BD0-A497-A63533C7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17716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ge-gates-node-num-5">
            <a:extLst xmlns:a="http://schemas.openxmlformats.org/drawingml/2006/main">
              <a:ext uri="{FF2B5EF4-FFF2-40B4-BE49-F238E27FC236}">
                <a16:creationId xmlns:a16="http://schemas.microsoft.com/office/drawing/2014/main" id="{2B787DF0-517A-41DF-AA03-7D9C6900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19050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5</a:t>
            </a:r>
          </a:p>
        </p:txBody>
      </p:sp>
      <p:sp>
        <p:nvSpPr>
          <p:cNvPr id="22" name="stage-gates-node-title-5">
            <a:extLst xmlns:a="http://schemas.openxmlformats.org/drawingml/2006/main">
              <a:ext uri="{FF2B5EF4-FFF2-40B4-BE49-F238E27FC236}">
                <a16:creationId xmlns:a16="http://schemas.microsoft.com/office/drawing/2014/main" id="{EC8E2DCF-4CFA-4C43-BEAE-A944753D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22479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Behavior</a:t>
            </a:r>
          </a:p>
        </p:txBody>
      </p:sp>
      <p:sp>
        <p:nvSpPr>
          <p:cNvPr id="23" name="stage-gate-table-header-bg-0">
            <a:extLst xmlns:a="http://schemas.openxmlformats.org/drawingml/2006/main">
              <a:ext uri="{FF2B5EF4-FFF2-40B4-BE49-F238E27FC236}">
                <a16:creationId xmlns:a16="http://schemas.microsoft.com/office/drawing/2014/main" id="{5455646E-88D2-49B8-94FF-2A2124AE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9500"/>
            <a:ext cx="8572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age-gate-table-header-0">
            <a:extLst xmlns:a="http://schemas.openxmlformats.org/drawingml/2006/main">
              <a:ext uri="{FF2B5EF4-FFF2-40B4-BE49-F238E27FC236}">
                <a16:creationId xmlns:a16="http://schemas.microsoft.com/office/drawing/2014/main" id="{2165C962-E516-4F07-8627-51E77AB7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648075"/>
            <a:ext cx="6286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25" name="stage-gate-table-header-bg-1">
            <a:extLst xmlns:a="http://schemas.openxmlformats.org/drawingml/2006/main">
              <a:ext uri="{FF2B5EF4-FFF2-40B4-BE49-F238E27FC236}">
                <a16:creationId xmlns:a16="http://schemas.microsoft.com/office/drawing/2014/main" id="{3FDDD6A1-ABF9-4817-AA51-1FEA10B9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19500"/>
            <a:ext cx="44767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age-gate-table-header-1">
            <a:extLst xmlns:a="http://schemas.openxmlformats.org/drawingml/2006/main">
              <a:ext uri="{FF2B5EF4-FFF2-40B4-BE49-F238E27FC236}">
                <a16:creationId xmlns:a16="http://schemas.microsoft.com/office/drawing/2014/main" id="{F8AC8C5A-7919-4FE8-A15A-D6D48FCB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48075"/>
            <a:ext cx="42481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 answered</a:t>
            </a:r>
          </a:p>
        </p:txBody>
      </p:sp>
      <p:sp>
        <p:nvSpPr>
          <p:cNvPr id="27" name="stage-gate-table-header-bg-2">
            <a:extLst xmlns:a="http://schemas.openxmlformats.org/drawingml/2006/main">
              <a:ext uri="{FF2B5EF4-FFF2-40B4-BE49-F238E27FC236}">
                <a16:creationId xmlns:a16="http://schemas.microsoft.com/office/drawing/2014/main" id="{54458498-94AE-41A9-B682-4411831A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19500"/>
            <a:ext cx="37147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age-gate-table-header-2">
            <a:extLst xmlns:a="http://schemas.openxmlformats.org/drawingml/2006/main">
              <a:ext uri="{FF2B5EF4-FFF2-40B4-BE49-F238E27FC236}">
                <a16:creationId xmlns:a16="http://schemas.microsoft.com/office/drawing/2014/main" id="{43416247-9926-4A5A-BCF4-917A9790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648075"/>
            <a:ext cx="34861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Durable output</a:t>
            </a:r>
          </a:p>
        </p:txBody>
      </p:sp>
      <p:sp>
        <p:nvSpPr>
          <p:cNvPr id="29" name="stage-gate-table-cell-bg-0-0">
            <a:extLst xmlns:a="http://schemas.openxmlformats.org/drawingml/2006/main">
              <a:ext uri="{FF2B5EF4-FFF2-40B4-BE49-F238E27FC236}">
                <a16:creationId xmlns:a16="http://schemas.microsoft.com/office/drawing/2014/main" id="{8881836C-46D0-435E-AEC4-44FD3C1E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32250"/>
            <a:ext cx="8572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0" name="stage-gate-table-cell-0-0">
            <a:extLst xmlns:a="http://schemas.openxmlformats.org/drawingml/2006/main">
              <a:ext uri="{FF2B5EF4-FFF2-40B4-BE49-F238E27FC236}">
                <a16:creationId xmlns:a16="http://schemas.microsoft.com/office/drawing/2014/main" id="{AC1635A6-CC51-4A09-B450-0F668219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60825"/>
            <a:ext cx="6286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stage-gate-table-cell-bg-0-1">
            <a:extLst xmlns:a="http://schemas.openxmlformats.org/drawingml/2006/main">
              <a:ext uri="{FF2B5EF4-FFF2-40B4-BE49-F238E27FC236}">
                <a16:creationId xmlns:a16="http://schemas.microsoft.com/office/drawing/2014/main" id="{2ED4CBB9-CB9D-4F3D-BA3A-11C85E69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32250"/>
            <a:ext cx="44767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2" name="stage-gate-table-cell-0-1">
            <a:extLst xmlns:a="http://schemas.openxmlformats.org/drawingml/2006/main">
              <a:ext uri="{FF2B5EF4-FFF2-40B4-BE49-F238E27FC236}">
                <a16:creationId xmlns:a16="http://schemas.microsoft.com/office/drawing/2014/main" id="{7196E6A0-9E26-4D66-9656-4B372774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060825"/>
            <a:ext cx="42481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Is this a supported driver-shaped PE?</a:t>
            </a:r>
          </a:p>
        </p:txBody>
      </p:sp>
      <p:sp>
        <p:nvSpPr>
          <p:cNvPr id="33" name="stage-gate-table-cell-bg-0-2">
            <a:extLst xmlns:a="http://schemas.openxmlformats.org/drawingml/2006/main">
              <a:ext uri="{FF2B5EF4-FFF2-40B4-BE49-F238E27FC236}">
                <a16:creationId xmlns:a16="http://schemas.microsoft.com/office/drawing/2014/main" id="{EFCEAE77-0C4B-4AD0-94B8-C254FE28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32250"/>
            <a:ext cx="37147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4" name="stage-gate-table-cell-0-2">
            <a:extLst xmlns:a="http://schemas.openxmlformats.org/drawingml/2006/main">
              <a:ext uri="{FF2B5EF4-FFF2-40B4-BE49-F238E27FC236}">
                <a16:creationId xmlns:a16="http://schemas.microsoft.com/office/drawing/2014/main" id="{5F68D929-5771-473A-9EB3-E5F4DC9E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060825"/>
            <a:ext cx="34861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image + fingerprint</a:t>
            </a:r>
          </a:p>
        </p:txBody>
      </p:sp>
      <p:sp>
        <p:nvSpPr>
          <p:cNvPr id="35" name="stage-gate-table-cell-bg-1-0">
            <a:extLst xmlns:a="http://schemas.openxmlformats.org/drawingml/2006/main">
              <a:ext uri="{FF2B5EF4-FFF2-40B4-BE49-F238E27FC236}">
                <a16:creationId xmlns:a16="http://schemas.microsoft.com/office/drawing/2014/main" id="{1C443FA7-4B9E-4F3A-A7B2-C8468A0B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45000"/>
            <a:ext cx="8572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6" name="stage-gate-table-cell-1-0">
            <a:extLst xmlns:a="http://schemas.openxmlformats.org/drawingml/2006/main">
              <a:ext uri="{FF2B5EF4-FFF2-40B4-BE49-F238E27FC236}">
                <a16:creationId xmlns:a16="http://schemas.microsoft.com/office/drawing/2014/main" id="{F9197932-F4D8-483F-984C-E98AC19B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73575"/>
            <a:ext cx="6286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7" name="stage-gate-table-cell-bg-1-1">
            <a:extLst xmlns:a="http://schemas.openxmlformats.org/drawingml/2006/main">
              <a:ext uri="{FF2B5EF4-FFF2-40B4-BE49-F238E27FC236}">
                <a16:creationId xmlns:a16="http://schemas.microsoft.com/office/drawing/2014/main" id="{AC1C702D-EC05-44C2-AEB1-E52E1035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45000"/>
            <a:ext cx="44767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8" name="stage-gate-table-cell-1-1">
            <a:extLst xmlns:a="http://schemas.openxmlformats.org/drawingml/2006/main">
              <a:ext uri="{FF2B5EF4-FFF2-40B4-BE49-F238E27FC236}">
                <a16:creationId xmlns:a16="http://schemas.microsoft.com/office/drawing/2014/main" id="{8FDCEF9A-8718-4B48-A8CF-BD772F25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73575"/>
            <a:ext cx="42481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Where can user mode invoke it?</a:t>
            </a:r>
          </a:p>
        </p:txBody>
      </p:sp>
      <p:sp>
        <p:nvSpPr>
          <p:cNvPr id="39" name="stage-gate-table-cell-bg-1-2">
            <a:extLst xmlns:a="http://schemas.openxmlformats.org/drawingml/2006/main">
              <a:ext uri="{FF2B5EF4-FFF2-40B4-BE49-F238E27FC236}">
                <a16:creationId xmlns:a16="http://schemas.microsoft.com/office/drawing/2014/main" id="{94B11A9F-9057-4D5E-BF10-4FCC6006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45000"/>
            <a:ext cx="37147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0" name="stage-gate-table-cell-1-2">
            <a:extLst xmlns:a="http://schemas.openxmlformats.org/drawingml/2006/main">
              <a:ext uri="{FF2B5EF4-FFF2-40B4-BE49-F238E27FC236}">
                <a16:creationId xmlns:a16="http://schemas.microsoft.com/office/drawing/2014/main" id="{B414E10F-42AB-4BD6-B908-D41AC5B5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473575"/>
            <a:ext cx="34861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CFG + handlers + IOCTLs</a:t>
            </a:r>
          </a:p>
        </p:txBody>
      </p:sp>
      <p:sp>
        <p:nvSpPr>
          <p:cNvPr id="41" name="stage-gate-table-cell-bg-2-0">
            <a:extLst xmlns:a="http://schemas.openxmlformats.org/drawingml/2006/main">
              <a:ext uri="{FF2B5EF4-FFF2-40B4-BE49-F238E27FC236}">
                <a16:creationId xmlns:a16="http://schemas.microsoft.com/office/drawing/2014/main" id="{66A6381F-A4CF-4972-94F4-B370B416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57750"/>
            <a:ext cx="8572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2" name="stage-gate-table-cell-2-0">
            <a:extLst xmlns:a="http://schemas.openxmlformats.org/drawingml/2006/main">
              <a:ext uri="{FF2B5EF4-FFF2-40B4-BE49-F238E27FC236}">
                <a16:creationId xmlns:a16="http://schemas.microsoft.com/office/drawing/2014/main" id="{A1986C6D-B799-4220-98D1-DE69F7F6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886325"/>
            <a:ext cx="6286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stage-gate-table-cell-bg-2-1">
            <a:extLst xmlns:a="http://schemas.openxmlformats.org/drawingml/2006/main">
              <a:ext uri="{FF2B5EF4-FFF2-40B4-BE49-F238E27FC236}">
                <a16:creationId xmlns:a16="http://schemas.microsoft.com/office/drawing/2014/main" id="{CE36DCCB-AD1D-4AFC-B084-2F07E158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57750"/>
            <a:ext cx="44767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4" name="stage-gate-table-cell-2-1">
            <a:extLst xmlns:a="http://schemas.openxmlformats.org/drawingml/2006/main">
              <a:ext uri="{FF2B5EF4-FFF2-40B4-BE49-F238E27FC236}">
                <a16:creationId xmlns:a16="http://schemas.microsoft.com/office/drawing/2014/main" id="{7BDE6B3E-50CF-4BBD-B047-6557E3D5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86325"/>
            <a:ext cx="42481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Which request bytes reach a sink?</a:t>
            </a:r>
          </a:p>
        </p:txBody>
      </p:sp>
      <p:sp>
        <p:nvSpPr>
          <p:cNvPr id="45" name="stage-gate-table-cell-bg-2-2">
            <a:extLst xmlns:a="http://schemas.openxmlformats.org/drawingml/2006/main">
              <a:ext uri="{FF2B5EF4-FFF2-40B4-BE49-F238E27FC236}">
                <a16:creationId xmlns:a16="http://schemas.microsoft.com/office/drawing/2014/main" id="{34F39864-BEA8-4608-99C9-FF281979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37147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6" name="stage-gate-table-cell-2-2">
            <a:extLst xmlns:a="http://schemas.openxmlformats.org/drawingml/2006/main">
              <a:ext uri="{FF2B5EF4-FFF2-40B4-BE49-F238E27FC236}">
                <a16:creationId xmlns:a16="http://schemas.microsoft.com/office/drawing/2014/main" id="{001DAF55-015B-4D44-B110-F6D960BC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886325"/>
            <a:ext cx="34861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flows + request model</a:t>
            </a:r>
          </a:p>
        </p:txBody>
      </p:sp>
      <p:sp>
        <p:nvSpPr>
          <p:cNvPr id="47" name="stage-gate-table-cell-bg-3-0">
            <a:extLst xmlns:a="http://schemas.openxmlformats.org/drawingml/2006/main">
              <a:ext uri="{FF2B5EF4-FFF2-40B4-BE49-F238E27FC236}">
                <a16:creationId xmlns:a16="http://schemas.microsoft.com/office/drawing/2014/main" id="{8B4E6564-DB5D-441E-95DE-1B83DCC9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70500"/>
            <a:ext cx="8572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8" name="stage-gate-table-cell-3-0">
            <a:extLst xmlns:a="http://schemas.openxmlformats.org/drawingml/2006/main">
              <a:ext uri="{FF2B5EF4-FFF2-40B4-BE49-F238E27FC236}">
                <a16:creationId xmlns:a16="http://schemas.microsoft.com/office/drawing/2014/main" id="{41E150BB-23E7-4B80-964F-192534E0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299075"/>
            <a:ext cx="6286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9" name="stage-gate-table-cell-bg-3-1">
            <a:extLst xmlns:a="http://schemas.openxmlformats.org/drawingml/2006/main">
              <a:ext uri="{FF2B5EF4-FFF2-40B4-BE49-F238E27FC236}">
                <a16:creationId xmlns:a16="http://schemas.microsoft.com/office/drawing/2014/main" id="{54D4F9B5-B600-4505-84E4-A43F9A22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70500"/>
            <a:ext cx="44767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0" name="stage-gate-table-cell-3-1">
            <a:extLst xmlns:a="http://schemas.openxmlformats.org/drawingml/2006/main">
              <a:ext uri="{FF2B5EF4-FFF2-40B4-BE49-F238E27FC236}">
                <a16:creationId xmlns:a16="http://schemas.microsoft.com/office/drawing/2014/main" id="{C49F8D28-AE67-467B-B15A-7FAF85FA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299075"/>
            <a:ext cx="42481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Can the obligation become a runnable recipe?</a:t>
            </a:r>
          </a:p>
        </p:txBody>
      </p:sp>
      <p:sp>
        <p:nvSpPr>
          <p:cNvPr id="51" name="stage-gate-table-cell-bg-3-2">
            <a:extLst xmlns:a="http://schemas.openxmlformats.org/drawingml/2006/main">
              <a:ext uri="{FF2B5EF4-FFF2-40B4-BE49-F238E27FC236}">
                <a16:creationId xmlns:a16="http://schemas.microsoft.com/office/drawing/2014/main" id="{396B8B68-F01C-4673-91B4-8C32FC08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270500"/>
            <a:ext cx="37147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2" name="stage-gate-table-cell-3-2">
            <a:extLst xmlns:a="http://schemas.openxmlformats.org/drawingml/2006/main">
              <a:ext uri="{FF2B5EF4-FFF2-40B4-BE49-F238E27FC236}">
                <a16:creationId xmlns:a16="http://schemas.microsoft.com/office/drawing/2014/main" id="{D2920673-68E5-43DD-9736-FF96DB3D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299075"/>
            <a:ext cx="34861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verification + dynamic case</a:t>
            </a:r>
          </a:p>
        </p:txBody>
      </p:sp>
      <p:sp>
        <p:nvSpPr>
          <p:cNvPr id="53" name="stage-gate-table-cell-bg-4-0">
            <a:extLst xmlns:a="http://schemas.openxmlformats.org/drawingml/2006/main">
              <a:ext uri="{FF2B5EF4-FFF2-40B4-BE49-F238E27FC236}">
                <a16:creationId xmlns:a16="http://schemas.microsoft.com/office/drawing/2014/main" id="{240B3433-BBC5-4A94-8145-86C88B03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83250"/>
            <a:ext cx="8572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4" name="stage-gate-table-cell-4-0">
            <a:extLst xmlns:a="http://schemas.openxmlformats.org/drawingml/2006/main">
              <a:ext uri="{FF2B5EF4-FFF2-40B4-BE49-F238E27FC236}">
                <a16:creationId xmlns:a16="http://schemas.microsoft.com/office/drawing/2014/main" id="{9F45D81E-BB78-4C34-9385-F6A7A1D7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711825"/>
            <a:ext cx="6286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5" name="stage-gate-table-cell-bg-4-1">
            <a:extLst xmlns:a="http://schemas.openxmlformats.org/drawingml/2006/main">
              <a:ext uri="{FF2B5EF4-FFF2-40B4-BE49-F238E27FC236}">
                <a16:creationId xmlns:a16="http://schemas.microsoft.com/office/drawing/2014/main" id="{9DB88218-994C-42D5-8225-C3FF281F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83250"/>
            <a:ext cx="44767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6" name="stage-gate-table-cell-4-1">
            <a:extLst xmlns:a="http://schemas.openxmlformats.org/drawingml/2006/main">
              <a:ext uri="{FF2B5EF4-FFF2-40B4-BE49-F238E27FC236}">
                <a16:creationId xmlns:a16="http://schemas.microsoft.com/office/drawing/2014/main" id="{CF61061C-9FB7-4C75-90E5-DA04E391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711825"/>
            <a:ext cx="42481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Did the predicted behavior occur?</a:t>
            </a:r>
          </a:p>
        </p:txBody>
      </p:sp>
      <p:sp>
        <p:nvSpPr>
          <p:cNvPr id="57" name="stage-gate-table-cell-bg-4-2">
            <a:extLst xmlns:a="http://schemas.openxmlformats.org/drawingml/2006/main">
              <a:ext uri="{FF2B5EF4-FFF2-40B4-BE49-F238E27FC236}">
                <a16:creationId xmlns:a16="http://schemas.microsoft.com/office/drawing/2014/main" id="{0343FFC9-4806-4171-B7C5-157E9DE5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83250"/>
            <a:ext cx="3714750" cy="41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8" name="stage-gate-table-cell-4-2">
            <a:extLst xmlns:a="http://schemas.openxmlformats.org/drawingml/2006/main">
              <a:ext uri="{FF2B5EF4-FFF2-40B4-BE49-F238E27FC236}">
                <a16:creationId xmlns:a16="http://schemas.microsoft.com/office/drawing/2014/main" id="{51D7AD9B-303C-430A-B7C1-881E3B10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711825"/>
            <a:ext cx="34861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driver result + evidence grade</a:t>
            </a:r>
          </a:p>
        </p:txBody>
      </p:sp>
    </p:spTree>
    <p:extLst>
      <p:ext uri="{BB962C8B-B14F-4D97-AF65-F5344CB8AC3E}">
        <p14:creationId xmlns:p14="http://schemas.microsoft.com/office/powerpoint/2010/main" val="1237028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CE91AF57-58AF-4ABC-9F7A-D546609D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1 — PE INTAKE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75F42D7-3C64-44C5-8675-D0D09F76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 1 creates a stable analysis identity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31A878D3-3785-4C6B-823C-CE6019C9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22" name="s1-timeline-timeline-rule"/>
          <p:cNvCxnSpPr/>
          <p:nvPr/>
        </p:nvCxnSpPr>
        <p:spPr>
          <a:xfrm xmlns:a="http://schemas.openxmlformats.org/drawingml/2006/main">
            <a:off x="400050" y="28003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</a:ln>
        </p:spPr>
      </p:cxnSp>
      <p:sp>
        <p:nvSpPr>
          <p:cNvPr id="5" name="s1-timeline-dot-1">
            <a:extLst xmlns:a="http://schemas.openxmlformats.org/drawingml/2006/main">
              <a:ext uri="{FF2B5EF4-FFF2-40B4-BE49-F238E27FC236}">
                <a16:creationId xmlns:a16="http://schemas.microsoft.com/office/drawing/2014/main" id="{964547B7-CFCC-457C-923B-7FABDC68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-timeline-dot-2">
            <a:extLst xmlns:a="http://schemas.openxmlformats.org/drawingml/2006/main">
              <a:ext uri="{FF2B5EF4-FFF2-40B4-BE49-F238E27FC236}">
                <a16:creationId xmlns:a16="http://schemas.microsoft.com/office/drawing/2014/main" id="{8D550560-81B5-43EB-B7BD-E6C5C426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1-timeline-dot-3">
            <a:extLst xmlns:a="http://schemas.openxmlformats.org/drawingml/2006/main">
              <a:ext uri="{FF2B5EF4-FFF2-40B4-BE49-F238E27FC236}">
                <a16:creationId xmlns:a16="http://schemas.microsoft.com/office/drawing/2014/main" id="{BF8BB789-FDD2-42FB-A77C-BCAEC655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-timeline-label-1">
            <a:extLst xmlns:a="http://schemas.openxmlformats.org/drawingml/2006/main">
              <a:ext uri="{FF2B5EF4-FFF2-40B4-BE49-F238E27FC236}">
                <a16:creationId xmlns:a16="http://schemas.microsoft.com/office/drawing/2014/main" id="{58756625-2AD2-4AA6-8725-AB796B1B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9" name="s1-timeline-heading-1">
            <a:extLst xmlns:a="http://schemas.openxmlformats.org/drawingml/2006/main">
              <a:ext uri="{FF2B5EF4-FFF2-40B4-BE49-F238E27FC236}">
                <a16:creationId xmlns:a16="http://schemas.microsoft.com/office/drawing/2014/main" id="{812A1954-F0A5-4E13-A069-9195E1EA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 every parse</a:t>
            </a:r>
          </a:p>
        </p:txBody>
      </p:sp>
      <p:sp>
        <p:nvSpPr>
          <p:cNvPr id="10" name="s1-timeline-body-1">
            <a:extLst xmlns:a="http://schemas.openxmlformats.org/drawingml/2006/main">
              <a:ext uri="{FF2B5EF4-FFF2-40B4-BE49-F238E27FC236}">
                <a16:creationId xmlns:a16="http://schemas.microsoft.com/office/drawing/2014/main" id="{038DD325-E14D-4186-8FBA-DB678FF7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Read the complete file; validate DOS, PE, x64 machine, PE32+, section, and optional-header structure before deeper work.</a:t>
            </a:r>
          </a:p>
        </p:txBody>
      </p:sp>
      <p:sp>
        <p:nvSpPr>
          <p:cNvPr id="11" name="s1-timeline-label-2">
            <a:extLst xmlns:a="http://schemas.openxmlformats.org/drawingml/2006/main">
              <a:ext uri="{FF2B5EF4-FFF2-40B4-BE49-F238E27FC236}">
                <a16:creationId xmlns:a16="http://schemas.microsoft.com/office/drawing/2014/main" id="{167CD15C-5C90-4153-B0FF-356D21DB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12" name="s1-timeline-heading-2">
            <a:extLst xmlns:a="http://schemas.openxmlformats.org/drawingml/2006/main">
              <a:ext uri="{FF2B5EF4-FFF2-40B4-BE49-F238E27FC236}">
                <a16:creationId xmlns:a16="http://schemas.microsoft.com/office/drawing/2014/main" id="{BE7D6FEE-1853-4D2C-8CDD-81DE55D2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Hash every byte</a:t>
            </a:r>
          </a:p>
        </p:txBody>
      </p:sp>
      <p:sp>
        <p:nvSpPr>
          <p:cNvPr id="13" name="s1-timeline-body-2">
            <a:extLst xmlns:a="http://schemas.openxmlformats.org/drawingml/2006/main">
              <a:ext uri="{FF2B5EF4-FFF2-40B4-BE49-F238E27FC236}">
                <a16:creationId xmlns:a16="http://schemas.microsoft.com/office/drawing/2014/main" id="{65638AC3-9C85-47AE-9022-063D2D9E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766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SHA-256 becomes the canonical driver identity for deduplication, artifacts, resumability, and later handoff checks.</a:t>
            </a:r>
          </a:p>
        </p:txBody>
      </p:sp>
      <p:sp>
        <p:nvSpPr>
          <p:cNvPr id="14" name="s1-timeline-label-3">
            <a:extLst xmlns:a="http://schemas.openxmlformats.org/drawingml/2006/main">
              <a:ext uri="{FF2B5EF4-FFF2-40B4-BE49-F238E27FC236}">
                <a16:creationId xmlns:a16="http://schemas.microsoft.com/office/drawing/2014/main" id="{55840BF7-FE4F-49EF-AA18-00DF7422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15" name="s1-timeline-heading-3">
            <a:extLst xmlns:a="http://schemas.openxmlformats.org/drawingml/2006/main">
              <a:ext uri="{FF2B5EF4-FFF2-40B4-BE49-F238E27FC236}">
                <a16:creationId xmlns:a16="http://schemas.microsoft.com/office/drawing/2014/main" id="{7DF36BFE-76E3-47A7-88D5-16F09C26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 what exists</a:t>
            </a:r>
          </a:p>
        </p:txBody>
      </p:sp>
      <p:sp>
        <p:nvSpPr>
          <p:cNvPr id="16" name="s1-timeline-body-3">
            <a:extLst xmlns:a="http://schemas.openxmlformats.org/drawingml/2006/main">
              <a:ext uri="{FF2B5EF4-FFF2-40B4-BE49-F238E27FC236}">
                <a16:creationId xmlns:a16="http://schemas.microsoft.com/office/drawing/2014/main" id="{95CE7797-9BF3-46D5-82D7-F6150AA1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Load through XAIR; inventory segments, imports, exports, unwind roots, strings, API families, and privileged-opcode patterns.</a:t>
            </a:r>
          </a:p>
        </p:txBody>
      </p:sp>
      <p:sp>
        <p:nvSpPr>
          <p:cNvPr id="17" name="s1-artifacts">
            <a:extLst xmlns:a="http://schemas.openxmlformats.org/drawingml/2006/main">
              <a:ext uri="{FF2B5EF4-FFF2-40B4-BE49-F238E27FC236}">
                <a16:creationId xmlns:a16="http://schemas.microsoft.com/office/drawing/2014/main" id="{E7FCB374-99C8-46C2-8B6D-14869D85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Key artifacts: image.json  •  fingerprint.json  •  strings.json</a:t>
            </a:r>
          </a:p>
        </p:txBody>
      </p:sp>
      <p:sp>
        <p:nvSpPr>
          <p:cNvPr id="18" name="s1-boundary">
            <a:extLst xmlns:a="http://schemas.openxmlformats.org/drawingml/2006/main">
              <a:ext uri="{FF2B5EF4-FFF2-40B4-BE49-F238E27FC236}">
                <a16:creationId xmlns:a16="http://schemas.microsoft.com/office/drawing/2014/main" id="{4EADE236-71D4-494C-A21F-39CF75ED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388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This proves identity and presence—not reachability, loadability, controllability, or vulnerability.</a:t>
            </a:r>
          </a:p>
        </p:txBody>
      </p:sp>
    </p:spTree>
    <p:extLst>
      <p:ext uri="{BB962C8B-B14F-4D97-AF65-F5344CB8AC3E}">
        <p14:creationId xmlns:p14="http://schemas.microsoft.com/office/powerpoint/2010/main" val="866686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172A40EE-35CF-4F1A-8825-D8AB02C4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2 — CFG AND DISPATCH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2FCB014-6E4F-49E7-9C70-E55CE6B0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 2 recovers the user-reachable IOCTL surface</a:t>
            </a:r>
          </a:p>
        </p:txBody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A3982877-5208-4AFA-8E40-70E60895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s2-cols-heading-1">
            <a:extLst xmlns:a="http://schemas.openxmlformats.org/drawingml/2006/main">
              <a:ext uri="{FF2B5EF4-FFF2-40B4-BE49-F238E27FC236}">
                <a16:creationId xmlns:a16="http://schemas.microsoft.com/office/drawing/2014/main" id="{1568A932-8526-4B75-8273-EE8866D2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twice</a:t>
            </a:r>
          </a:p>
        </p:txBody>
      </p:sp>
      <p:sp>
        <p:nvSpPr>
          <p:cNvPr id="5" name="s2-cols-body-1">
            <a:extLst xmlns:a="http://schemas.openxmlformats.org/drawingml/2006/main">
              <a:ext uri="{FF2B5EF4-FFF2-40B4-BE49-F238E27FC236}">
                <a16:creationId xmlns:a16="http://schemas.microsoft.com/office/drawing/2014/main" id="{B216858D-766C-4CB8-BF73-7F3B9765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35687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Pass 1 uses automatic roots. WDM recovery adds handlers, exact case entries, and approved helpers. Pass 2 discards and rebuilds the authoritative CFG.</a:t>
            </a:r>
          </a:p>
        </p:txBody>
      </p:sp>
      <p:sp>
        <p:nvSpPr>
          <p:cNvPr id="6" name="s2-cols-heading-2">
            <a:extLst xmlns:a="http://schemas.openxmlformats.org/drawingml/2006/main">
              <a:ext uri="{FF2B5EF4-FFF2-40B4-BE49-F238E27FC236}">
                <a16:creationId xmlns:a16="http://schemas.microsoft.com/office/drawing/2014/main" id="{D3E697C1-4523-40D8-A3D7-996BA961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18097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Recover WDM wiring</a:t>
            </a:r>
          </a:p>
        </p:txBody>
      </p:sp>
      <p:sp>
        <p:nvSpPr>
          <p:cNvPr id="7" name="s2-cols-body-2">
            <a:extLst xmlns:a="http://schemas.openxmlformats.org/drawingml/2006/main">
              <a:ext uri="{FF2B5EF4-FFF2-40B4-BE49-F238E27FC236}">
                <a16:creationId xmlns:a16="http://schemas.microsoft.com/office/drawing/2014/main" id="{E2B66827-9958-4589-ACEC-564E5836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438400"/>
            <a:ext cx="35687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Recognize DriverObject→MajorFunction assignments, especially IRP_MJ_DEVICE_CONTROL, then connect handlers to device and front-door metadata.</a:t>
            </a:r>
          </a:p>
        </p:txBody>
      </p:sp>
      <p:sp>
        <p:nvSpPr>
          <p:cNvPr id="8" name="s2-cols-heading-3">
            <a:extLst xmlns:a="http://schemas.openxmlformats.org/drawingml/2006/main">
              <a:ext uri="{FF2B5EF4-FFF2-40B4-BE49-F238E27FC236}">
                <a16:creationId xmlns:a16="http://schemas.microsoft.com/office/drawing/2014/main" id="{D3E39475-6229-4EFF-93E0-56110028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18097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Split IOCTL cases</a:t>
            </a:r>
          </a:p>
        </p:txBody>
      </p:sp>
      <p:sp>
        <p:nvSpPr>
          <p:cNvPr id="9" name="s2-cols-body-3">
            <a:extLst xmlns:a="http://schemas.openxmlformats.org/drawingml/2006/main">
              <a:ext uri="{FF2B5EF4-FFF2-40B4-BE49-F238E27FC236}">
                <a16:creationId xmlns:a16="http://schemas.microsoft.com/office/drawing/2014/main" id="{B9F00ACF-3B27-42C5-9882-F25014B6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438400"/>
            <a:ext cx="35687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Prefer exact switch tables and equality branches; retain helper-derived exact cases and weaker heuristic or linear leads with explicit confidence.</a:t>
            </a:r>
          </a:p>
        </p:txBody>
      </p:sp>
      <p:sp>
        <p:nvSpPr>
          <p:cNvPr id="10" name="s2-boundary-table-header-bg-0">
            <a:extLst xmlns:a="http://schemas.openxmlformats.org/drawingml/2006/main">
              <a:ext uri="{FF2B5EF4-FFF2-40B4-BE49-F238E27FC236}">
                <a16:creationId xmlns:a16="http://schemas.microsoft.com/office/drawing/2014/main" id="{6F09CBE7-D56E-474E-A345-B02F3A7F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2-boundary-table-header-0">
            <a:extLst xmlns:a="http://schemas.openxmlformats.org/drawingml/2006/main">
              <a:ext uri="{FF2B5EF4-FFF2-40B4-BE49-F238E27FC236}">
                <a16:creationId xmlns:a16="http://schemas.microsoft.com/office/drawing/2014/main" id="{A174AA4D-FBC3-4C4C-B8B7-A6AF0260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Exact mapping</a:t>
            </a:r>
          </a:p>
        </p:txBody>
      </p:sp>
      <p:sp>
        <p:nvSpPr>
          <p:cNvPr id="12" name="s2-boundary-table-header-bg-1">
            <a:extLst xmlns:a="http://schemas.openxmlformats.org/drawingml/2006/main">
              <a:ext uri="{FF2B5EF4-FFF2-40B4-BE49-F238E27FC236}">
                <a16:creationId xmlns:a16="http://schemas.microsoft.com/office/drawing/2014/main" id="{6BACF749-68CF-4EC5-951C-7DAC1A8B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-boundary-table-header-1">
            <a:extLst xmlns:a="http://schemas.openxmlformats.org/drawingml/2006/main">
              <a:ext uri="{FF2B5EF4-FFF2-40B4-BE49-F238E27FC236}">
                <a16:creationId xmlns:a16="http://schemas.microsoft.com/office/drawing/2014/main" id="{9A3E086F-D411-4F7F-8497-22950459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2920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Approximate mapping</a:t>
            </a:r>
          </a:p>
        </p:txBody>
      </p:sp>
      <p:sp>
        <p:nvSpPr>
          <p:cNvPr id="14" name="s2-boundary-table-header-bg-2">
            <a:extLst xmlns:a="http://schemas.openxmlformats.org/drawingml/2006/main">
              <a:ext uri="{FF2B5EF4-FFF2-40B4-BE49-F238E27FC236}">
                <a16:creationId xmlns:a16="http://schemas.microsoft.com/office/drawing/2014/main" id="{7BE07EDB-8EEF-49D8-A724-96867F96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boundary-table-header-2">
            <a:extLst xmlns:a="http://schemas.openxmlformats.org/drawingml/2006/main">
              <a:ext uri="{FF2B5EF4-FFF2-40B4-BE49-F238E27FC236}">
                <a16:creationId xmlns:a16="http://schemas.microsoft.com/office/drawing/2014/main" id="{DE48329E-E35C-4570-8A13-F32A8C26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2920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Still unknown</a:t>
            </a:r>
          </a:p>
        </p:txBody>
      </p:sp>
      <p:sp>
        <p:nvSpPr>
          <p:cNvPr id="16" name="s2-boundary-table-cell-bg-0-0">
            <a:extLst xmlns:a="http://schemas.openxmlformats.org/drawingml/2006/main">
              <a:ext uri="{FF2B5EF4-FFF2-40B4-BE49-F238E27FC236}">
                <a16:creationId xmlns:a16="http://schemas.microsoft.com/office/drawing/2014/main" id="{C33CF584-3FE7-474F-8A5D-92A142FB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7" name="s2-boundary-table-cell-0-0">
            <a:extLst xmlns:a="http://schemas.openxmlformats.org/drawingml/2006/main">
              <a:ext uri="{FF2B5EF4-FFF2-40B4-BE49-F238E27FC236}">
                <a16:creationId xmlns:a16="http://schemas.microsoft.com/office/drawing/2014/main" id="{CCD0DE1F-B139-4F16-8771-D9E3FB94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switch/equality → concrete case RVA</a:t>
            </a:r>
          </a:p>
        </p:txBody>
      </p:sp>
      <p:sp>
        <p:nvSpPr>
          <p:cNvPr id="18" name="s2-boundary-table-cell-bg-0-1">
            <a:extLst xmlns:a="http://schemas.openxmlformats.org/drawingml/2006/main">
              <a:ext uri="{FF2B5EF4-FFF2-40B4-BE49-F238E27FC236}">
                <a16:creationId xmlns:a16="http://schemas.microsoft.com/office/drawing/2014/main" id="{E51DE97F-E462-45A6-9FBC-A69022B2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4830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9" name="s2-boundary-table-cell-0-1">
            <a:extLst xmlns:a="http://schemas.openxmlformats.org/drawingml/2006/main">
              <a:ext uri="{FF2B5EF4-FFF2-40B4-BE49-F238E27FC236}">
                <a16:creationId xmlns:a16="http://schemas.microsoft.com/office/drawing/2014/main" id="{0C9F7039-16A0-4D84-AC86-F93F0A00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2450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reachable compare or nearby constant</a:t>
            </a:r>
          </a:p>
        </p:txBody>
      </p:sp>
      <p:sp>
        <p:nvSpPr>
          <p:cNvPr id="20" name="s2-boundary-table-cell-bg-0-2">
            <a:extLst xmlns:a="http://schemas.openxmlformats.org/drawingml/2006/main">
              <a:ext uri="{FF2B5EF4-FFF2-40B4-BE49-F238E27FC236}">
                <a16:creationId xmlns:a16="http://schemas.microsoft.com/office/drawing/2014/main" id="{3A895A49-4E02-4462-B8C1-3B1B8A65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4830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1" name="s2-boundary-table-cell-0-2">
            <a:extLst xmlns:a="http://schemas.openxmlformats.org/drawingml/2006/main">
              <a:ext uri="{FF2B5EF4-FFF2-40B4-BE49-F238E27FC236}">
                <a16:creationId xmlns:a16="http://schemas.microsoft.com/office/drawing/2014/main" id="{8828AC6A-A46D-45A0-B86F-078C83E7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2450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guards, request flow, device access</a:t>
            </a:r>
          </a:p>
        </p:txBody>
      </p:sp>
      <p:sp>
        <p:nvSpPr>
          <p:cNvPr id="22" name="s2-boundary">
            <a:extLst xmlns:a="http://schemas.openxmlformats.org/drawingml/2006/main">
              <a:ext uri="{FF2B5EF4-FFF2-40B4-BE49-F238E27FC236}">
                <a16:creationId xmlns:a16="http://schemas.microsoft.com/office/drawing/2014/main" id="{AFAB8452-011B-4149-8092-180EF5DC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38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Stage 2 maps invocation. It does not decide whether a case is dangerous.</a:t>
            </a:r>
          </a:p>
        </p:txBody>
      </p:sp>
    </p:spTree>
    <p:extLst>
      <p:ext uri="{BB962C8B-B14F-4D97-AF65-F5344CB8AC3E}">
        <p14:creationId xmlns:p14="http://schemas.microsoft.com/office/powerpoint/2010/main" val="857111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B9111D6E-1407-40D7-BB98-3D30B680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3 — PROVENANCE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DC7275C-554D-4A76-A74C-1A47C496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 3 traces request bytes into sensitive operations</a:t>
            </a:r>
          </a:p>
        </p:txBody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D6D46D5F-B3FC-4B4B-AC3E-DC7CDD82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s3-expression-bg">
            <a:extLst xmlns:a="http://schemas.openxmlformats.org/drawingml/2006/main">
              <a:ext uri="{FF2B5EF4-FFF2-40B4-BE49-F238E27FC236}">
                <a16:creationId xmlns:a16="http://schemas.microsoft.com/office/drawing/2014/main" id="{2C20F4B5-B017-4192-BF18-FA085254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66850"/>
            <a:ext cx="8991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3-expression-text">
            <a:extLst xmlns:a="http://schemas.openxmlformats.org/drawingml/2006/main">
              <a:ext uri="{FF2B5EF4-FFF2-40B4-BE49-F238E27FC236}">
                <a16:creationId xmlns:a16="http://schemas.microsoft.com/office/drawing/2014/main" id="{93074063-B85C-4629-94F1-D1E787B1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562100"/>
            <a:ext cx="853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CE7F5"/>
                </a:solidFill>
                <a:latin typeface="Arial"/>
                <a:ea typeface="Arial"/>
                <a:cs typeface="Arial"/>
              </a:rPr>
              <a:t>arg0 = zext64(load32(irp.AssociatedIrp.SystemBuffer + 0))</a:t>
            </a:r>
          </a:p>
        </p:txBody>
      </p:sp>
      <p:sp>
        <p:nvSpPr>
          <p:cNvPr id="6" name="s3-cols-heading-1">
            <a:extLst xmlns:a="http://schemas.openxmlformats.org/drawingml/2006/main">
              <a:ext uri="{FF2B5EF4-FFF2-40B4-BE49-F238E27FC236}">
                <a16:creationId xmlns:a16="http://schemas.microsoft.com/office/drawing/2014/main" id="{D0FFCE44-2AA7-4315-8AFA-CFCD514A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sources</a:t>
            </a:r>
          </a:p>
        </p:txBody>
      </p:sp>
      <p:sp>
        <p:nvSpPr>
          <p:cNvPr id="7" name="s3-cols-body-1">
            <a:extLst xmlns:a="http://schemas.openxmlformats.org/drawingml/2006/main">
              <a:ext uri="{FF2B5EF4-FFF2-40B4-BE49-F238E27FC236}">
                <a16:creationId xmlns:a16="http://schemas.microsoft.com/office/drawing/2014/main" id="{817E9E98-6CE1-4AA0-8574-DDB3C8F6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35687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IoControlCode, input/output lengths, SystemBuffer, Type3InputBuffer, UserBuffer, and MDL-backed views—chosen by transfer method.</a:t>
            </a:r>
          </a:p>
        </p:txBody>
      </p:sp>
      <p:sp>
        <p:nvSpPr>
          <p:cNvPr id="8" name="s3-cols-heading-2">
            <a:extLst xmlns:a="http://schemas.openxmlformats.org/drawingml/2006/main">
              <a:ext uri="{FF2B5EF4-FFF2-40B4-BE49-F238E27FC236}">
                <a16:creationId xmlns:a16="http://schemas.microsoft.com/office/drawing/2014/main" id="{789EDCE1-B888-4D57-88C4-7CDDA2F1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62890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Preserve expressions</a:t>
            </a:r>
          </a:p>
        </p:txBody>
      </p:sp>
      <p:sp>
        <p:nvSpPr>
          <p:cNvPr id="9" name="s3-cols-body-2">
            <a:extLst xmlns:a="http://schemas.openxmlformats.org/drawingml/2006/main">
              <a:ext uri="{FF2B5EF4-FFF2-40B4-BE49-F238E27FC236}">
                <a16:creationId xmlns:a16="http://schemas.microsoft.com/office/drawing/2014/main" id="{5050B1AA-AA0F-497D-8306-179EC349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257550"/>
            <a:ext cx="35687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Track loads, arithmetic, masks, shifts, extensions, truncation, aliases, spills, local calls, and phi-style merges—not just one-bit taint.</a:t>
            </a:r>
          </a:p>
        </p:txBody>
      </p:sp>
      <p:sp>
        <p:nvSpPr>
          <p:cNvPr id="10" name="s3-cols-heading-3">
            <a:extLst xmlns:a="http://schemas.openxmlformats.org/drawingml/2006/main">
              <a:ext uri="{FF2B5EF4-FFF2-40B4-BE49-F238E27FC236}">
                <a16:creationId xmlns:a16="http://schemas.microsoft.com/office/drawing/2014/main" id="{B4993043-1B79-487A-BBDC-36D1583C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62890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Apply sink contracts</a:t>
            </a:r>
          </a:p>
        </p:txBody>
      </p:sp>
      <p:sp>
        <p:nvSpPr>
          <p:cNvPr id="11" name="s3-cols-body-3">
            <a:extLst xmlns:a="http://schemas.openxmlformats.org/drawingml/2006/main">
              <a:ext uri="{FF2B5EF4-FFF2-40B4-BE49-F238E27FC236}">
                <a16:creationId xmlns:a16="http://schemas.microsoft.com/office/drawing/2014/main" id="{AF498C0D-EEB4-4A48-AAB4-DF15E21D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257550"/>
            <a:ext cx="35687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Refine a broad family to a sink kind, identify required operands, and admit only concrete, non-weak cases with a rooted required value.</a:t>
            </a:r>
          </a:p>
        </p:txBody>
      </p:sp>
      <p:sp>
        <p:nvSpPr>
          <p:cNvPr id="12" name="s3-precision-left-title">
            <a:extLst xmlns:a="http://schemas.openxmlformats.org/drawingml/2006/main">
              <a:ext uri="{FF2B5EF4-FFF2-40B4-BE49-F238E27FC236}">
                <a16:creationId xmlns:a16="http://schemas.microsoft.com/office/drawing/2014/main" id="{594E63F9-73D7-4141-AEBD-FEF75ECD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Tainted</a:t>
            </a:r>
          </a:p>
        </p:txBody>
      </p:sp>
      <p:sp>
        <p:nvSpPr>
          <p:cNvPr id="13" name="s3-precision-left-body">
            <a:extLst xmlns:a="http://schemas.openxmlformats.org/drawingml/2006/main">
              <a:ext uri="{FF2B5EF4-FFF2-40B4-BE49-F238E27FC236}">
                <a16:creationId xmlns:a16="http://schemas.microsoft.com/office/drawing/2014/main" id="{2E6746D7-8F8E-4C20-9161-4EA947FE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552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Request data contributes somewhere to an expression.</a:t>
            </a:r>
          </a:p>
        </p:txBody>
      </p:sp>
      <p:sp>
        <p:nvSpPr>
          <p:cNvPr id="14" name="s3-precision-right-title">
            <a:extLst xmlns:a="http://schemas.openxmlformats.org/drawingml/2006/main">
              <a:ext uri="{FF2B5EF4-FFF2-40B4-BE49-F238E27FC236}">
                <a16:creationId xmlns:a16="http://schemas.microsoft.com/office/drawing/2014/main" id="{F79C2432-28EB-4CA3-B388-20BDA00F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530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Exact binding</a:t>
            </a:r>
          </a:p>
        </p:txBody>
      </p:sp>
      <p:sp>
        <p:nvSpPr>
          <p:cNvPr id="15" name="s3-precision-right-body">
            <a:extLst xmlns:a="http://schemas.openxmlformats.org/drawingml/2006/main">
              <a:ext uri="{FF2B5EF4-FFF2-40B4-BE49-F238E27FC236}">
                <a16:creationId xmlns:a16="http://schemas.microsoft.com/office/drawing/2014/main" id="{9C3480AB-033E-472E-8CFD-1A326637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905500"/>
            <a:ext cx="552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Exact request object, offset, width, and transforms; no precision loss.</a:t>
            </a:r>
          </a:p>
        </p:txBody>
      </p:sp>
    </p:spTree>
    <p:extLst>
      <p:ext uri="{BB962C8B-B14F-4D97-AF65-F5344CB8AC3E}">
        <p14:creationId xmlns:p14="http://schemas.microsoft.com/office/powerpoint/2010/main" val="370498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FDC5DFB1-FF60-471B-9355-66487FDF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4 — VERIFICATION AND HANDOFF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6D64A2A9-79CA-4943-A308-9FFF21A0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 4 proves obligations and packages a recipe</a:t>
            </a:r>
          </a:p>
        </p:txBody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D24CDB7A-592F-4019-9908-81B149BF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cxnSp>
        <p:nvCxnSpPr>
          <p:cNvPr id="32" name="s4-flow-edge-1"/>
          <p:cNvCxnSpPr/>
          <p:nvPr/>
        </p:nvCxnSpPr>
        <p:spPr>
          <a:xfrm xmlns:a="http://schemas.openxmlformats.org/drawingml/2006/main">
            <a:off x="2526030" y="2247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3" name="s4-flow-edge-2"/>
          <p:cNvCxnSpPr/>
          <p:nvPr/>
        </p:nvCxnSpPr>
        <p:spPr>
          <a:xfrm xmlns:a="http://schemas.openxmlformats.org/drawingml/2006/main">
            <a:off x="4842510" y="2247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4" name="s4-flow-edge-3"/>
          <p:cNvCxnSpPr/>
          <p:nvPr/>
        </p:nvCxnSpPr>
        <p:spPr>
          <a:xfrm xmlns:a="http://schemas.openxmlformats.org/drawingml/2006/main">
            <a:off x="7158990" y="2247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5" name="s4-flow-edge-4"/>
          <p:cNvCxnSpPr/>
          <p:nvPr/>
        </p:nvCxnSpPr>
        <p:spPr>
          <a:xfrm xmlns:a="http://schemas.openxmlformats.org/drawingml/2006/main">
            <a:off x="9475470" y="2247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8" name="s4-flow-node-1">
            <a:extLst xmlns:a="http://schemas.openxmlformats.org/drawingml/2006/main">
              <a:ext uri="{FF2B5EF4-FFF2-40B4-BE49-F238E27FC236}">
                <a16:creationId xmlns:a16="http://schemas.microsoft.com/office/drawing/2014/main" id="{1037197F-51C2-4FAB-A95A-034FCCF9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4-flow-node-num-1">
            <a:extLst xmlns:a="http://schemas.openxmlformats.org/drawingml/2006/main">
              <a:ext uri="{FF2B5EF4-FFF2-40B4-BE49-F238E27FC236}">
                <a16:creationId xmlns:a16="http://schemas.microsoft.com/office/drawing/2014/main" id="{CA39C1FF-BF74-458B-BAD4-CC69D447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BIND</a:t>
            </a:r>
          </a:p>
        </p:txBody>
      </p:sp>
      <p:sp>
        <p:nvSpPr>
          <p:cNvPr id="10" name="s4-flow-node-title-1">
            <a:extLst xmlns:a="http://schemas.openxmlformats.org/drawingml/2006/main">
              <a:ext uri="{FF2B5EF4-FFF2-40B4-BE49-F238E27FC236}">
                <a16:creationId xmlns:a16="http://schemas.microsoft.com/office/drawing/2014/main" id="{843C8649-5A20-478D-9657-01D45E99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Root sink operands</a:t>
            </a:r>
          </a:p>
        </p:txBody>
      </p:sp>
      <p:sp>
        <p:nvSpPr>
          <p:cNvPr id="11" name="s4-flow-node-2">
            <a:extLst xmlns:a="http://schemas.openxmlformats.org/drawingml/2006/main">
              <a:ext uri="{FF2B5EF4-FFF2-40B4-BE49-F238E27FC236}">
                <a16:creationId xmlns:a16="http://schemas.microsoft.com/office/drawing/2014/main" id="{6134984A-2CF1-4692-A6F1-FA2C5BD6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16192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4-flow-node-num-2">
            <a:extLst xmlns:a="http://schemas.openxmlformats.org/drawingml/2006/main">
              <a:ext uri="{FF2B5EF4-FFF2-40B4-BE49-F238E27FC236}">
                <a16:creationId xmlns:a16="http://schemas.microsoft.com/office/drawing/2014/main" id="{D8AAF2A6-9E46-456B-A0BC-745AE4FF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7526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13" name="s4-flow-node-title-2">
            <a:extLst xmlns:a="http://schemas.openxmlformats.org/drawingml/2006/main">
              <a:ext uri="{FF2B5EF4-FFF2-40B4-BE49-F238E27FC236}">
                <a16:creationId xmlns:a16="http://schemas.microsoft.com/office/drawing/2014/main" id="{B2C5F8F4-C2B5-4858-80AB-625FC694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0955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 local constraints</a:t>
            </a:r>
          </a:p>
        </p:txBody>
      </p:sp>
      <p:sp>
        <p:nvSpPr>
          <p:cNvPr id="14" name="s4-flow-node-3">
            <a:extLst xmlns:a="http://schemas.openxmlformats.org/drawingml/2006/main">
              <a:ext uri="{FF2B5EF4-FFF2-40B4-BE49-F238E27FC236}">
                <a16:creationId xmlns:a16="http://schemas.microsoft.com/office/drawing/2014/main" id="{AD758CA7-F564-41AE-867B-6D55BE94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16192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4-flow-node-num-3">
            <a:extLst xmlns:a="http://schemas.openxmlformats.org/drawingml/2006/main">
              <a:ext uri="{FF2B5EF4-FFF2-40B4-BE49-F238E27FC236}">
                <a16:creationId xmlns:a16="http://schemas.microsoft.com/office/drawing/2014/main" id="{7C5B835F-B5CE-4E2E-997C-8357FF1E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17526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6" name="s4-flow-node-title-3">
            <a:extLst xmlns:a="http://schemas.openxmlformats.org/drawingml/2006/main">
              <a:ext uri="{FF2B5EF4-FFF2-40B4-BE49-F238E27FC236}">
                <a16:creationId xmlns:a16="http://schemas.microsoft.com/office/drawing/2014/main" id="{1C4E9991-9817-4498-8F9C-4373850D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0955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Slice handler if needed</a:t>
            </a:r>
          </a:p>
        </p:txBody>
      </p:sp>
      <p:sp>
        <p:nvSpPr>
          <p:cNvPr id="17" name="s4-flow-node-4">
            <a:extLst xmlns:a="http://schemas.openxmlformats.org/drawingml/2006/main">
              <a:ext uri="{FF2B5EF4-FFF2-40B4-BE49-F238E27FC236}">
                <a16:creationId xmlns:a16="http://schemas.microsoft.com/office/drawing/2014/main" id="{1C9E3157-0E97-4F9E-A4C9-47F3891D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6192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4-flow-node-num-4">
            <a:extLst xmlns:a="http://schemas.openxmlformats.org/drawingml/2006/main">
              <a:ext uri="{FF2B5EF4-FFF2-40B4-BE49-F238E27FC236}">
                <a16:creationId xmlns:a16="http://schemas.microsoft.com/office/drawing/2014/main" id="{793ECB27-156C-402C-9D35-70E32E31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17526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SYNTHESIZE</a:t>
            </a:r>
          </a:p>
        </p:txBody>
      </p:sp>
      <p:sp>
        <p:nvSpPr>
          <p:cNvPr id="19" name="s4-flow-node-title-4">
            <a:extLst xmlns:a="http://schemas.openxmlformats.org/drawingml/2006/main">
              <a:ext uri="{FF2B5EF4-FFF2-40B4-BE49-F238E27FC236}">
                <a16:creationId xmlns:a16="http://schemas.microsoft.com/office/drawing/2014/main" id="{FF7AACBF-FD7F-4A5C-9C90-9211971D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20955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Write request + fixups</a:t>
            </a:r>
          </a:p>
        </p:txBody>
      </p:sp>
      <p:sp>
        <p:nvSpPr>
          <p:cNvPr id="20" name="s4-flow-node-5">
            <a:extLst xmlns:a="http://schemas.openxmlformats.org/drawingml/2006/main">
              <a:ext uri="{FF2B5EF4-FFF2-40B4-BE49-F238E27FC236}">
                <a16:creationId xmlns:a16="http://schemas.microsoft.com/office/drawing/2014/main" id="{459F03B1-4B93-43AF-86A4-CFBA0EF3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16192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4-flow-node-num-5">
            <a:extLst xmlns:a="http://schemas.openxmlformats.org/drawingml/2006/main">
              <a:ext uri="{FF2B5EF4-FFF2-40B4-BE49-F238E27FC236}">
                <a16:creationId xmlns:a16="http://schemas.microsoft.com/office/drawing/2014/main" id="{E00ACC62-9D44-42B7-A740-180688A6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17526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22" name="s4-flow-node-title-5">
            <a:extLst xmlns:a="http://schemas.openxmlformats.org/drawingml/2006/main">
              <a:ext uri="{FF2B5EF4-FFF2-40B4-BE49-F238E27FC236}">
                <a16:creationId xmlns:a16="http://schemas.microsoft.com/office/drawing/2014/main" id="{C90AC7D1-E485-4C49-B484-B4B8BDD8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20955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Emit dynamic case</a:t>
            </a:r>
          </a:p>
        </p:txBody>
      </p:sp>
      <p:sp>
        <p:nvSpPr>
          <p:cNvPr id="23" name="s4-compare-left-title">
            <a:extLst xmlns:a="http://schemas.openxmlformats.org/drawingml/2006/main">
              <a:ext uri="{FF2B5EF4-FFF2-40B4-BE49-F238E27FC236}">
                <a16:creationId xmlns:a16="http://schemas.microsoft.com/office/drawing/2014/main" id="{555014DA-3673-4972-BB44-3C8D5DD2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Local structured proof</a:t>
            </a:r>
          </a:p>
        </p:txBody>
      </p:sp>
      <p:sp>
        <p:nvSpPr>
          <p:cNvPr id="24" name="s4-compare-left-body">
            <a:extLst xmlns:a="http://schemas.openxmlformats.org/drawingml/2006/main">
              <a:ext uri="{FF2B5EF4-FFF2-40B4-BE49-F238E27FC236}">
                <a16:creationId xmlns:a16="http://schemas.microsoft.com/office/drawing/2014/main" id="{B690D671-FFE3-493F-A343-BD020B2C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524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Rebuilds the request-to-sink expression graph, applies per-sink obligation constraints, chooses witnesses, and checks consistency with xair_sym/Z3.</a:t>
            </a:r>
          </a:p>
        </p:txBody>
      </p:sp>
      <p:sp>
        <p:nvSpPr>
          <p:cNvPr id="25" name="s4-compare-right-title">
            <a:extLst xmlns:a="http://schemas.openxmlformats.org/drawingml/2006/main">
              <a:ext uri="{FF2B5EF4-FFF2-40B4-BE49-F238E27FC236}">
                <a16:creationId xmlns:a16="http://schemas.microsoft.com/office/drawing/2014/main" id="{AD50C8A2-A84F-4D39-8DFE-547C23D8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Bounded CFG fallback</a:t>
            </a:r>
          </a:p>
        </p:txBody>
      </p:sp>
      <p:sp>
        <p:nvSpPr>
          <p:cNvPr id="26" name="s4-compare-right-body">
            <a:extLst xmlns:a="http://schemas.openxmlformats.org/drawingml/2006/main">
              <a:ext uri="{FF2B5EF4-FFF2-40B4-BE49-F238E27FC236}">
                <a16:creationId xmlns:a16="http://schemas.microsoft.com/office/drawing/2014/main" id="{0C0E1F34-67EE-4423-B708-2A08C731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524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Explores only an approved exact handler-to-sink slice when a required operand is rooted but not proven. It can improve feasibility without overstating proof.</a:t>
            </a:r>
          </a:p>
        </p:txBody>
      </p:sp>
      <p:sp>
        <p:nvSpPr>
          <p:cNvPr id="27" name="s4-output">
            <a:extLst xmlns:a="http://schemas.openxmlformats.org/drawingml/2006/main">
              <a:ext uri="{FF2B5EF4-FFF2-40B4-BE49-F238E27FC236}">
                <a16:creationId xmlns:a16="http://schemas.microsoft.com/office/drawing/2014/main" id="{191D108C-6B5C-482F-8AA2-8705F7BB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95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Recipe = request bytes + sizes + allocations + runtime fixups + device-path candidates + oracle + backend + run sequence</a:t>
            </a:r>
          </a:p>
        </p:txBody>
      </p:sp>
      <p:sp>
        <p:nvSpPr>
          <p:cNvPr id="28" name="s4-ready">
            <a:extLst xmlns:a="http://schemas.openxmlformats.org/drawingml/2006/main">
              <a:ext uri="{FF2B5EF4-FFF2-40B4-BE49-F238E27FC236}">
                <a16:creationId xmlns:a16="http://schemas.microsoft.com/office/drawing/2014/main" id="{04CE792E-221D-40AB-BE29-298259CD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817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58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dynamic_ready is stricter than manifest_complete: it also requires exact static classification and a sink-specific, self-tested oracle.</a:t>
            </a:r>
          </a:p>
        </p:txBody>
      </p:sp>
    </p:spTree>
    <p:extLst>
      <p:ext uri="{BB962C8B-B14F-4D97-AF65-F5344CB8AC3E}">
        <p14:creationId xmlns:p14="http://schemas.microsoft.com/office/powerpoint/2010/main" val="1223899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44728A7D-52B0-4DBE-850A-149E7020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5 — DYNAMIC CONFIRMATION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C7EC32C-A32C-4A63-895C-C134FEA7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 5 runs the recipe and grades the evidence</a:t>
            </a:r>
          </a:p>
        </p:txBody>
      </p:sp>
      <p:sp>
        <p:nvSpPr>
          <p:cNvPr id="3" name="footer-9">
            <a:extLst xmlns:a="http://schemas.openxmlformats.org/drawingml/2006/main">
              <a:ext uri="{FF2B5EF4-FFF2-40B4-BE49-F238E27FC236}">
                <a16:creationId xmlns:a16="http://schemas.microsoft.com/office/drawing/2014/main" id="{DAE63359-1ECC-47A1-A294-931E9AF3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cxnSp>
        <p:nvCxnSpPr>
          <p:cNvPr id="44" name="s5-timeline-timeline-rule"/>
          <p:cNvCxnSpPr/>
          <p:nvPr/>
        </p:nvCxnSpPr>
        <p:spPr>
          <a:xfrm xmlns:a="http://schemas.openxmlformats.org/drawingml/2006/main">
            <a:off x="400050" y="2724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</a:ln>
        </p:spPr>
      </p:cxnSp>
      <p:sp>
        <p:nvSpPr>
          <p:cNvPr id="5" name="s5-timeline-dot-1">
            <a:extLst xmlns:a="http://schemas.openxmlformats.org/drawingml/2006/main">
              <a:ext uri="{FF2B5EF4-FFF2-40B4-BE49-F238E27FC236}">
                <a16:creationId xmlns:a16="http://schemas.microsoft.com/office/drawing/2014/main" id="{36194876-A231-4976-A4AB-85A40E10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5-timeline-dot-2">
            <a:extLst xmlns:a="http://schemas.openxmlformats.org/drawingml/2006/main">
              <a:ext uri="{FF2B5EF4-FFF2-40B4-BE49-F238E27FC236}">
                <a16:creationId xmlns:a16="http://schemas.microsoft.com/office/drawing/2014/main" id="{C1092D0E-C793-495E-B6B5-5D6B94D0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5-timeline-dot-3">
            <a:extLst xmlns:a="http://schemas.openxmlformats.org/drawingml/2006/main">
              <a:ext uri="{FF2B5EF4-FFF2-40B4-BE49-F238E27FC236}">
                <a16:creationId xmlns:a16="http://schemas.microsoft.com/office/drawing/2014/main" id="{A4D2D9AA-1F38-47D7-BF00-C797A159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5-timeline-label-1">
            <a:extLst xmlns:a="http://schemas.openxmlformats.org/drawingml/2006/main">
              <a:ext uri="{FF2B5EF4-FFF2-40B4-BE49-F238E27FC236}">
                <a16:creationId xmlns:a16="http://schemas.microsoft.com/office/drawing/2014/main" id="{44D6745C-8166-44F4-9401-7EDFB600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9" name="s5-timeline-heading-1">
            <a:extLst xmlns:a="http://schemas.openxmlformats.org/drawingml/2006/main">
              <a:ext uri="{FF2B5EF4-FFF2-40B4-BE49-F238E27FC236}">
                <a16:creationId xmlns:a16="http://schemas.microsoft.com/office/drawing/2014/main" id="{3C8C2CFF-C1EE-43B5-9239-46C3A4F9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Repair setup</a:t>
            </a:r>
          </a:p>
        </p:txBody>
      </p:sp>
      <p:sp>
        <p:nvSpPr>
          <p:cNvPr id="10" name="s5-timeline-body-1">
            <a:extLst xmlns:a="http://schemas.openxmlformats.org/drawingml/2006/main">
              <a:ext uri="{FF2B5EF4-FFF2-40B4-BE49-F238E27FC236}">
                <a16:creationId xmlns:a16="http://schemas.microsoft.com/office/drawing/2014/main" id="{3FD7D6EC-6A76-468D-B3E1-85590D90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Validate the handoff, classify support, probe installation if needed, find a real device path, and rebind every case.</a:t>
            </a:r>
          </a:p>
        </p:txBody>
      </p:sp>
      <p:sp>
        <p:nvSpPr>
          <p:cNvPr id="11" name="s5-timeline-label-2">
            <a:extLst xmlns:a="http://schemas.openxmlformats.org/drawingml/2006/main">
              <a:ext uri="{FF2B5EF4-FFF2-40B4-BE49-F238E27FC236}">
                <a16:creationId xmlns:a16="http://schemas.microsoft.com/office/drawing/2014/main" id="{49AAAEAB-4950-41DC-B03A-177FA7AD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2" name="s5-timeline-heading-2">
            <a:extLst xmlns:a="http://schemas.openxmlformats.org/drawingml/2006/main">
              <a:ext uri="{FF2B5EF4-FFF2-40B4-BE49-F238E27FC236}">
                <a16:creationId xmlns:a16="http://schemas.microsoft.com/office/drawing/2014/main" id="{63C98FF7-E9DA-40E3-B20D-F8DED055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 the experiment</a:t>
            </a:r>
          </a:p>
        </p:txBody>
      </p:sp>
      <p:sp>
        <p:nvSpPr>
          <p:cNvPr id="13" name="s5-timeline-body-2">
            <a:extLst xmlns:a="http://schemas.openxmlformats.org/drawingml/2006/main">
              <a:ext uri="{FF2B5EF4-FFF2-40B4-BE49-F238E27FC236}">
                <a16:creationId xmlns:a16="http://schemas.microsoft.com/office/drawing/2014/main" id="{20B64569-41F7-4063-A571-677FAE74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0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Use a disposable Windows Server 2022 guest and run baseline → variant → baseline with fresh runtime objects.</a:t>
            </a:r>
          </a:p>
        </p:txBody>
      </p:sp>
      <p:sp>
        <p:nvSpPr>
          <p:cNvPr id="14" name="s5-timeline-label-3">
            <a:extLst xmlns:a="http://schemas.openxmlformats.org/drawingml/2006/main">
              <a:ext uri="{FF2B5EF4-FFF2-40B4-BE49-F238E27FC236}">
                <a16:creationId xmlns:a16="http://schemas.microsoft.com/office/drawing/2014/main" id="{2CFE36E9-E9BC-458B-B875-9C570DCC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33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GRADE</a:t>
            </a:r>
          </a:p>
        </p:txBody>
      </p:sp>
      <p:sp>
        <p:nvSpPr>
          <p:cNvPr id="15" name="s5-timeline-heading-3">
            <a:extLst xmlns:a="http://schemas.openxmlformats.org/drawingml/2006/main">
              <a:ext uri="{FF2B5EF4-FFF2-40B4-BE49-F238E27FC236}">
                <a16:creationId xmlns:a16="http://schemas.microsoft.com/office/drawing/2014/main" id="{E69A4F11-0A71-4E77-BEB1-8882B979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86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Separate evidence</a:t>
            </a:r>
          </a:p>
        </p:txBody>
      </p:sp>
      <p:sp>
        <p:nvSpPr>
          <p:cNvPr id="16" name="s5-timeline-body-3">
            <a:extLst xmlns:a="http://schemas.openxmlformats.org/drawingml/2006/main">
              <a:ext uri="{FF2B5EF4-FFF2-40B4-BE49-F238E27FC236}">
                <a16:creationId xmlns:a16="http://schemas.microsoft.com/office/drawing/2014/main" id="{FE3D4994-B8DF-4BB1-AAC2-438B7439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42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Combine guest oracles, host instrumentation, crash lifecycle markers, KD, and dumps without treating any one observer as universal proof.</a:t>
            </a:r>
          </a:p>
        </p:txBody>
      </p:sp>
      <p:sp>
        <p:nvSpPr>
          <p:cNvPr id="17" name="s5-evidence-table-header-bg-0">
            <a:extLst xmlns:a="http://schemas.openxmlformats.org/drawingml/2006/main">
              <a:ext uri="{FF2B5EF4-FFF2-40B4-BE49-F238E27FC236}">
                <a16:creationId xmlns:a16="http://schemas.microsoft.com/office/drawing/2014/main" id="{C7282728-3BF5-4DB4-BB26-A0898F7B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81550"/>
            <a:ext cx="347662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5-evidence-table-header-0">
            <a:extLst xmlns:a="http://schemas.openxmlformats.org/drawingml/2006/main">
              <a:ext uri="{FF2B5EF4-FFF2-40B4-BE49-F238E27FC236}">
                <a16:creationId xmlns:a16="http://schemas.microsoft.com/office/drawing/2014/main" id="{6ABEC00B-939E-4E1F-BBA1-57AC26B8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10125"/>
            <a:ext cx="32480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Runtime question</a:t>
            </a:r>
          </a:p>
        </p:txBody>
      </p:sp>
      <p:sp>
        <p:nvSpPr>
          <p:cNvPr id="19" name="s5-evidence-table-header-bg-1">
            <a:extLst xmlns:a="http://schemas.openxmlformats.org/drawingml/2006/main">
              <a:ext uri="{FF2B5EF4-FFF2-40B4-BE49-F238E27FC236}">
                <a16:creationId xmlns:a16="http://schemas.microsoft.com/office/drawing/2014/main" id="{6DE1D78C-55C6-4A17-8617-DAA826D9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81550"/>
            <a:ext cx="385762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5-evidence-table-header-1">
            <a:extLst xmlns:a="http://schemas.openxmlformats.org/drawingml/2006/main">
              <a:ext uri="{FF2B5EF4-FFF2-40B4-BE49-F238E27FC236}">
                <a16:creationId xmlns:a16="http://schemas.microsoft.com/office/drawing/2014/main" id="{6EC18568-443A-41DF-BE8B-70AFD1D0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0125"/>
            <a:ext cx="36290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source</a:t>
            </a:r>
          </a:p>
        </p:txBody>
      </p:sp>
      <p:sp>
        <p:nvSpPr>
          <p:cNvPr id="21" name="s5-evidence-table-header-bg-2">
            <a:extLst xmlns:a="http://schemas.openxmlformats.org/drawingml/2006/main">
              <a:ext uri="{FF2B5EF4-FFF2-40B4-BE49-F238E27FC236}">
                <a16:creationId xmlns:a16="http://schemas.microsoft.com/office/drawing/2014/main" id="{5BD6FFD3-B0AC-494A-8FA0-4E72ABBA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304800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5-evidence-table-header-2">
            <a:extLst xmlns:a="http://schemas.openxmlformats.org/drawingml/2006/main">
              <a:ext uri="{FF2B5EF4-FFF2-40B4-BE49-F238E27FC236}">
                <a16:creationId xmlns:a16="http://schemas.microsoft.com/office/drawing/2014/main" id="{AE12D8C9-EE3F-46BA-9C78-EF8ACF86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810125"/>
            <a:ext cx="28194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Typical strength</a:t>
            </a:r>
          </a:p>
        </p:txBody>
      </p:sp>
      <p:sp>
        <p:nvSpPr>
          <p:cNvPr id="23" name="s5-evidence-table-cell-bg-0-0">
            <a:extLst xmlns:a="http://schemas.openxmlformats.org/drawingml/2006/main">
              <a:ext uri="{FF2B5EF4-FFF2-40B4-BE49-F238E27FC236}">
                <a16:creationId xmlns:a16="http://schemas.microsoft.com/office/drawing/2014/main" id="{7AE18461-50D0-4343-8615-7786EEBE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38738"/>
            <a:ext cx="347662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4" name="s5-evidence-table-cell-0-0">
            <a:extLst xmlns:a="http://schemas.openxmlformats.org/drawingml/2006/main">
              <a:ext uri="{FF2B5EF4-FFF2-40B4-BE49-F238E27FC236}">
                <a16:creationId xmlns:a16="http://schemas.microsoft.com/office/drawing/2014/main" id="{A142C76E-E0EB-4182-B029-EF8821CD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67313"/>
            <a:ext cx="32480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Did a canary object change?</a:t>
            </a:r>
          </a:p>
        </p:txBody>
      </p:sp>
      <p:sp>
        <p:nvSpPr>
          <p:cNvPr id="25" name="s5-evidence-table-cell-bg-0-1">
            <a:extLst xmlns:a="http://schemas.openxmlformats.org/drawingml/2006/main">
              <a:ext uri="{FF2B5EF4-FFF2-40B4-BE49-F238E27FC236}">
                <a16:creationId xmlns:a16="http://schemas.microsoft.com/office/drawing/2014/main" id="{764BFDC8-C488-4C3C-BBF5-37D5A7E0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38738"/>
            <a:ext cx="385762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6" name="s5-evidence-table-cell-0-1">
            <a:extLst xmlns:a="http://schemas.openxmlformats.org/drawingml/2006/main">
              <a:ext uri="{FF2B5EF4-FFF2-40B4-BE49-F238E27FC236}">
                <a16:creationId xmlns:a16="http://schemas.microsoft.com/office/drawing/2014/main" id="{6C6BF78F-83CC-47D6-9876-3399C372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67313"/>
            <a:ext cx="36290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guest-side exact-effect oracle</a:t>
            </a:r>
          </a:p>
        </p:txBody>
      </p:sp>
      <p:sp>
        <p:nvSpPr>
          <p:cNvPr id="27" name="s5-evidence-table-cell-bg-0-2">
            <a:extLst xmlns:a="http://schemas.openxmlformats.org/drawingml/2006/main">
              <a:ext uri="{FF2B5EF4-FFF2-40B4-BE49-F238E27FC236}">
                <a16:creationId xmlns:a16="http://schemas.microsoft.com/office/drawing/2014/main" id="{C5EC6A77-98F7-4384-AD34-34742A0F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38738"/>
            <a:ext cx="304800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8" name="s5-evidence-table-cell-0-2">
            <a:extLst xmlns:a="http://schemas.openxmlformats.org/drawingml/2006/main">
              <a:ext uri="{FF2B5EF4-FFF2-40B4-BE49-F238E27FC236}">
                <a16:creationId xmlns:a16="http://schemas.microsoft.com/office/drawing/2014/main" id="{287493F7-3BE8-4144-89CB-ECF53F84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167313"/>
            <a:ext cx="28194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strict confirmation</a:t>
            </a:r>
          </a:p>
        </p:txBody>
      </p:sp>
      <p:sp>
        <p:nvSpPr>
          <p:cNvPr id="29" name="s5-evidence-table-cell-bg-1-0">
            <a:extLst xmlns:a="http://schemas.openxmlformats.org/drawingml/2006/main">
              <a:ext uri="{FF2B5EF4-FFF2-40B4-BE49-F238E27FC236}">
                <a16:creationId xmlns:a16="http://schemas.microsoft.com/office/drawing/2014/main" id="{44DDA122-31B4-4904-96B8-F8FB0728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95925"/>
            <a:ext cx="347662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0" name="s5-evidence-table-cell-1-0">
            <a:extLst xmlns:a="http://schemas.openxmlformats.org/drawingml/2006/main">
              <a:ext uri="{FF2B5EF4-FFF2-40B4-BE49-F238E27FC236}">
                <a16:creationId xmlns:a16="http://schemas.microsoft.com/office/drawing/2014/main" id="{9928DE13-79C2-4C58-9ABE-D27A69E1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524500"/>
            <a:ext cx="32480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Did privileged I/O occur at the candidate?</a:t>
            </a:r>
          </a:p>
        </p:txBody>
      </p:sp>
      <p:sp>
        <p:nvSpPr>
          <p:cNvPr id="31" name="s5-evidence-table-cell-bg-1-1">
            <a:extLst xmlns:a="http://schemas.openxmlformats.org/drawingml/2006/main">
              <a:ext uri="{FF2B5EF4-FFF2-40B4-BE49-F238E27FC236}">
                <a16:creationId xmlns:a16="http://schemas.microsoft.com/office/drawing/2014/main" id="{8A7D9931-9036-4CF6-903C-09B06B70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95925"/>
            <a:ext cx="385762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2" name="s5-evidence-table-cell-1-1">
            <a:extLst xmlns:a="http://schemas.openxmlformats.org/drawingml/2006/main">
              <a:ext uri="{FF2B5EF4-FFF2-40B4-BE49-F238E27FC236}">
                <a16:creationId xmlns:a16="http://schemas.microsoft.com/office/drawing/2014/main" id="{4E2EAE48-72F4-4E7E-A0BF-11D2FA99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24500"/>
            <a:ext cx="36290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TCG/QEMU host instrumentation</a:t>
            </a:r>
          </a:p>
        </p:txBody>
      </p:sp>
      <p:sp>
        <p:nvSpPr>
          <p:cNvPr id="33" name="s5-evidence-table-cell-bg-1-2">
            <a:extLst xmlns:a="http://schemas.openxmlformats.org/drawingml/2006/main">
              <a:ext uri="{FF2B5EF4-FFF2-40B4-BE49-F238E27FC236}">
                <a16:creationId xmlns:a16="http://schemas.microsoft.com/office/drawing/2014/main" id="{B0E255CC-9F2B-44C6-8BB2-F9B07072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95925"/>
            <a:ext cx="304800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4" name="s5-evidence-table-cell-1-2">
            <a:extLst xmlns:a="http://schemas.openxmlformats.org/drawingml/2006/main">
              <a:ext uri="{FF2B5EF4-FFF2-40B4-BE49-F238E27FC236}">
                <a16:creationId xmlns:a16="http://schemas.microsoft.com/office/drawing/2014/main" id="{9265AE21-AF4F-4A50-8BCA-035DE25F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524500"/>
            <a:ext cx="28194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E3–E4 depending on correlation</a:t>
            </a:r>
          </a:p>
        </p:txBody>
      </p:sp>
      <p:sp>
        <p:nvSpPr>
          <p:cNvPr id="35" name="s5-evidence-table-cell-bg-2-0">
            <a:extLst xmlns:a="http://schemas.openxmlformats.org/drawingml/2006/main">
              <a:ext uri="{FF2B5EF4-FFF2-40B4-BE49-F238E27FC236}">
                <a16:creationId xmlns:a16="http://schemas.microsoft.com/office/drawing/2014/main" id="{7AA68ECD-DFFD-4430-9E49-2248EAF3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53113"/>
            <a:ext cx="347662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6" name="s5-evidence-table-cell-2-0">
            <a:extLst xmlns:a="http://schemas.openxmlformats.org/drawingml/2006/main">
              <a:ext uri="{FF2B5EF4-FFF2-40B4-BE49-F238E27FC236}">
                <a16:creationId xmlns:a16="http://schemas.microsoft.com/office/drawing/2014/main" id="{FD1D53E1-07EF-48FE-ABCA-D1D80C48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81688"/>
            <a:ext cx="32480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Did the DUT crash on the active request?</a:t>
            </a:r>
          </a:p>
        </p:txBody>
      </p:sp>
      <p:sp>
        <p:nvSpPr>
          <p:cNvPr id="37" name="s5-evidence-table-cell-bg-2-1">
            <a:extLst xmlns:a="http://schemas.openxmlformats.org/drawingml/2006/main">
              <a:ext uri="{FF2B5EF4-FFF2-40B4-BE49-F238E27FC236}">
                <a16:creationId xmlns:a16="http://schemas.microsoft.com/office/drawing/2014/main" id="{9B9596B5-AAD1-4431-BD44-1E685298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53113"/>
            <a:ext cx="3857625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8" name="s5-evidence-table-cell-2-1">
            <a:extLst xmlns:a="http://schemas.openxmlformats.org/drawingml/2006/main">
              <a:ext uri="{FF2B5EF4-FFF2-40B4-BE49-F238E27FC236}">
                <a16:creationId xmlns:a16="http://schemas.microsoft.com/office/drawing/2014/main" id="{F70CB685-7A54-4E4F-A956-F3195783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881688"/>
            <a:ext cx="36290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KsObserver + KD/dump attribution</a:t>
            </a:r>
          </a:p>
        </p:txBody>
      </p:sp>
      <p:sp>
        <p:nvSpPr>
          <p:cNvPr id="39" name="s5-evidence-table-cell-bg-2-2">
            <a:extLst xmlns:a="http://schemas.openxmlformats.org/drawingml/2006/main">
              <a:ext uri="{FF2B5EF4-FFF2-40B4-BE49-F238E27FC236}">
                <a16:creationId xmlns:a16="http://schemas.microsoft.com/office/drawing/2014/main" id="{E926229C-CB6A-4698-98DD-54417568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853113"/>
            <a:ext cx="304800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0" name="s5-evidence-table-cell-2-2">
            <a:extLst xmlns:a="http://schemas.openxmlformats.org/drawingml/2006/main">
              <a:ext uri="{FF2B5EF4-FFF2-40B4-BE49-F238E27FC236}">
                <a16:creationId xmlns:a16="http://schemas.microsoft.com/office/drawing/2014/main" id="{D74B2388-033F-4FFB-AFB0-4FB6F60C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881688"/>
            <a:ext cx="28194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A0–A5 crash ladder</a:t>
            </a:r>
          </a:p>
        </p:txBody>
      </p:sp>
    </p:spTree>
    <p:extLst>
      <p:ext uri="{BB962C8B-B14F-4D97-AF65-F5344CB8AC3E}">
        <p14:creationId xmlns:p14="http://schemas.microsoft.com/office/powerpoint/2010/main" val="10985777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7FF64297-6FE3-4DC4-8819-F2DF566B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HOW TO READ THE OUTPUT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1730D93-25E1-4BB4-B17A-C5F8B884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artifact preserves an evidence boundary</a:t>
            </a:r>
          </a:p>
        </p:txBody>
      </p:sp>
      <p:sp>
        <p:nvSpPr>
          <p:cNvPr id="3" name="footer-10">
            <a:extLst xmlns:a="http://schemas.openxmlformats.org/drawingml/2006/main">
              <a:ext uri="{FF2B5EF4-FFF2-40B4-BE49-F238E27FC236}">
                <a16:creationId xmlns:a16="http://schemas.microsoft.com/office/drawing/2014/main" id="{9F5F73FA-5A12-4DF9-A045-48261B03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boundary-table-header-bg-0">
            <a:extLst xmlns:a="http://schemas.openxmlformats.org/drawingml/2006/main">
              <a:ext uri="{FF2B5EF4-FFF2-40B4-BE49-F238E27FC236}">
                <a16:creationId xmlns:a16="http://schemas.microsoft.com/office/drawing/2014/main" id="{7723FD5F-7F58-4807-88C6-14BF83B1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85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undary-table-header-0">
            <a:extLst xmlns:a="http://schemas.openxmlformats.org/drawingml/2006/main">
              <a:ext uri="{FF2B5EF4-FFF2-40B4-BE49-F238E27FC236}">
                <a16:creationId xmlns:a16="http://schemas.microsoft.com/office/drawing/2014/main" id="{1A1A4729-4DE5-4112-B9B1-471ACF85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6" name="boundary-table-header-bg-1">
            <a:extLst xmlns:a="http://schemas.openxmlformats.org/drawingml/2006/main">
              <a:ext uri="{FF2B5EF4-FFF2-40B4-BE49-F238E27FC236}">
                <a16:creationId xmlns:a16="http://schemas.microsoft.com/office/drawing/2014/main" id="{E9589E18-1AB8-4254-8803-DB5EE3D6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62100"/>
            <a:ext cx="3000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undary-table-header-1">
            <a:extLst xmlns:a="http://schemas.openxmlformats.org/drawingml/2006/main">
              <a:ext uri="{FF2B5EF4-FFF2-40B4-BE49-F238E27FC236}">
                <a16:creationId xmlns:a16="http://schemas.microsoft.com/office/drawing/2014/main" id="{07615895-904A-4D3B-B38D-EFF789F1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38300"/>
            <a:ext cx="2771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artifacts</a:t>
            </a:r>
          </a:p>
        </p:txBody>
      </p:sp>
      <p:sp>
        <p:nvSpPr>
          <p:cNvPr id="8" name="boundary-table-header-bg-2">
            <a:extLst xmlns:a="http://schemas.openxmlformats.org/drawingml/2006/main">
              <a:ext uri="{FF2B5EF4-FFF2-40B4-BE49-F238E27FC236}">
                <a16:creationId xmlns:a16="http://schemas.microsoft.com/office/drawing/2014/main" id="{67A69A7F-F401-4B76-BAEE-FEA68808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621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undary-table-header-2">
            <a:extLst xmlns:a="http://schemas.openxmlformats.org/drawingml/2006/main">
              <a:ext uri="{FF2B5EF4-FFF2-40B4-BE49-F238E27FC236}">
                <a16:creationId xmlns:a16="http://schemas.microsoft.com/office/drawing/2014/main" id="{E4F13504-1F79-4C1C-936A-840EBA16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383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 supported</a:t>
            </a:r>
          </a:p>
        </p:txBody>
      </p:sp>
      <p:sp>
        <p:nvSpPr>
          <p:cNvPr id="10" name="boundary-table-header-bg-3">
            <a:extLst xmlns:a="http://schemas.openxmlformats.org/drawingml/2006/main">
              <a:ext uri="{FF2B5EF4-FFF2-40B4-BE49-F238E27FC236}">
                <a16:creationId xmlns:a16="http://schemas.microsoft.com/office/drawing/2014/main" id="{51D57B0C-9000-41F0-AE20-FEB97268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562100"/>
            <a:ext cx="381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undary-table-header-3">
            <a:extLst xmlns:a="http://schemas.openxmlformats.org/drawingml/2006/main">
              <a:ext uri="{FF2B5EF4-FFF2-40B4-BE49-F238E27FC236}">
                <a16:creationId xmlns:a16="http://schemas.microsoft.com/office/drawing/2014/main" id="{216BC2CA-3929-4C4D-9B32-B285DED9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38300"/>
            <a:ext cx="3590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established yet</a:t>
            </a:r>
          </a:p>
        </p:txBody>
      </p:sp>
      <p:sp>
        <p:nvSpPr>
          <p:cNvPr id="12" name="boundary-table-cell-bg-0-0">
            <a:extLst xmlns:a="http://schemas.openxmlformats.org/drawingml/2006/main">
              <a:ext uri="{FF2B5EF4-FFF2-40B4-BE49-F238E27FC236}">
                <a16:creationId xmlns:a16="http://schemas.microsoft.com/office/drawing/2014/main" id="{D1D291DF-5566-4B44-915A-1CE3262B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85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3" name="boundary-table-cell-0-0">
            <a:extLst xmlns:a="http://schemas.openxmlformats.org/drawingml/2006/main">
              <a:ext uri="{FF2B5EF4-FFF2-40B4-BE49-F238E27FC236}">
                <a16:creationId xmlns:a16="http://schemas.microsoft.com/office/drawing/2014/main" id="{C63909D0-ACD1-4799-98CD-00590067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boundary-table-cell-bg-0-1">
            <a:extLst xmlns:a="http://schemas.openxmlformats.org/drawingml/2006/main">
              <a:ext uri="{FF2B5EF4-FFF2-40B4-BE49-F238E27FC236}">
                <a16:creationId xmlns:a16="http://schemas.microsoft.com/office/drawing/2014/main" id="{38776A9B-66A9-4E7B-A477-AA24EAFC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95500"/>
            <a:ext cx="3000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5" name="boundary-table-cell-0-1">
            <a:extLst xmlns:a="http://schemas.openxmlformats.org/drawingml/2006/main">
              <a:ext uri="{FF2B5EF4-FFF2-40B4-BE49-F238E27FC236}">
                <a16:creationId xmlns:a16="http://schemas.microsoft.com/office/drawing/2014/main" id="{1E6CA00A-2CEF-410A-A691-127D83E4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71700"/>
            <a:ext cx="2771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image / fingerprint / strings</a:t>
            </a:r>
          </a:p>
        </p:txBody>
      </p:sp>
      <p:sp>
        <p:nvSpPr>
          <p:cNvPr id="16" name="boundary-table-cell-bg-0-2">
            <a:extLst xmlns:a="http://schemas.openxmlformats.org/drawingml/2006/main">
              <a:ext uri="{FF2B5EF4-FFF2-40B4-BE49-F238E27FC236}">
                <a16:creationId xmlns:a16="http://schemas.microsoft.com/office/drawing/2014/main" id="{BA522828-9C0D-42C9-8D4C-8DE07416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7" name="boundary-table-cell-0-2">
            <a:extLst xmlns:a="http://schemas.openxmlformats.org/drawingml/2006/main">
              <a:ext uri="{FF2B5EF4-FFF2-40B4-BE49-F238E27FC236}">
                <a16:creationId xmlns:a16="http://schemas.microsoft.com/office/drawing/2014/main" id="{35086ED0-917A-40BE-ABD1-C96ADE9F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717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supported file identity and inventory</a:t>
            </a:r>
          </a:p>
        </p:txBody>
      </p:sp>
      <p:sp>
        <p:nvSpPr>
          <p:cNvPr id="18" name="boundary-table-cell-bg-0-3">
            <a:extLst xmlns:a="http://schemas.openxmlformats.org/drawingml/2006/main">
              <a:ext uri="{FF2B5EF4-FFF2-40B4-BE49-F238E27FC236}">
                <a16:creationId xmlns:a16="http://schemas.microsoft.com/office/drawing/2014/main" id="{F68261CF-B6D4-4A8E-91C0-B970A500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95500"/>
            <a:ext cx="381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9" name="boundary-table-cell-0-3">
            <a:extLst xmlns:a="http://schemas.openxmlformats.org/drawingml/2006/main">
              <a:ext uri="{FF2B5EF4-FFF2-40B4-BE49-F238E27FC236}">
                <a16:creationId xmlns:a16="http://schemas.microsoft.com/office/drawing/2014/main" id="{43C3637B-D75A-4155-8A9A-51588043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71700"/>
            <a:ext cx="3590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reachability or loadability</a:t>
            </a:r>
          </a:p>
        </p:txBody>
      </p:sp>
      <p:sp>
        <p:nvSpPr>
          <p:cNvPr id="20" name="boundary-table-cell-bg-1-0">
            <a:extLst xmlns:a="http://schemas.openxmlformats.org/drawingml/2006/main">
              <a:ext uri="{FF2B5EF4-FFF2-40B4-BE49-F238E27FC236}">
                <a16:creationId xmlns:a16="http://schemas.microsoft.com/office/drawing/2014/main" id="{64B86156-38A5-487B-AB3B-0A82B59F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85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1" name="boundary-table-cell-1-0">
            <a:extLst xmlns:a="http://schemas.openxmlformats.org/drawingml/2006/main">
              <a:ext uri="{FF2B5EF4-FFF2-40B4-BE49-F238E27FC236}">
                <a16:creationId xmlns:a16="http://schemas.microsoft.com/office/drawing/2014/main" id="{8A0171D9-8385-43E1-9DFD-7BAE61F1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boundary-table-cell-bg-1-1">
            <a:extLst xmlns:a="http://schemas.openxmlformats.org/drawingml/2006/main">
              <a:ext uri="{FF2B5EF4-FFF2-40B4-BE49-F238E27FC236}">
                <a16:creationId xmlns:a16="http://schemas.microsoft.com/office/drawing/2014/main" id="{C5CAFD7F-2866-45BA-A9FE-B188E228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3000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3" name="boundary-table-cell-1-1">
            <a:extLst xmlns:a="http://schemas.openxmlformats.org/drawingml/2006/main">
              <a:ext uri="{FF2B5EF4-FFF2-40B4-BE49-F238E27FC236}">
                <a16:creationId xmlns:a16="http://schemas.microsoft.com/office/drawing/2014/main" id="{57B2F47C-5CE8-48BF-8BE9-2972224F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2771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cfg / surface / ioctls / devices</a:t>
            </a:r>
          </a:p>
        </p:txBody>
      </p:sp>
      <p:sp>
        <p:nvSpPr>
          <p:cNvPr id="24" name="boundary-table-cell-bg-1-2">
            <a:extLst xmlns:a="http://schemas.openxmlformats.org/drawingml/2006/main">
              <a:ext uri="{FF2B5EF4-FFF2-40B4-BE49-F238E27FC236}">
                <a16:creationId xmlns:a16="http://schemas.microsoft.com/office/drawing/2014/main" id="{DFB43025-0E3E-4249-A359-B4537FFF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289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5" name="boundary-table-cell-1-2">
            <a:extLst xmlns:a="http://schemas.openxmlformats.org/drawingml/2006/main">
              <a:ext uri="{FF2B5EF4-FFF2-40B4-BE49-F238E27FC236}">
                <a16:creationId xmlns:a16="http://schemas.microsoft.com/office/drawing/2014/main" id="{CD4D884F-EDD2-414D-B626-655F37B2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051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user-invocation map</a:t>
            </a:r>
          </a:p>
        </p:txBody>
      </p:sp>
      <p:sp>
        <p:nvSpPr>
          <p:cNvPr id="26" name="boundary-table-cell-bg-1-3">
            <a:extLst xmlns:a="http://schemas.openxmlformats.org/drawingml/2006/main">
              <a:ext uri="{FF2B5EF4-FFF2-40B4-BE49-F238E27FC236}">
                <a16:creationId xmlns:a16="http://schemas.microsoft.com/office/drawing/2014/main" id="{F35272CC-BEA6-46B9-9D15-0FD3BD34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628900"/>
            <a:ext cx="381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7" name="boundary-table-cell-1-3">
            <a:extLst xmlns:a="http://schemas.openxmlformats.org/drawingml/2006/main">
              <a:ext uri="{FF2B5EF4-FFF2-40B4-BE49-F238E27FC236}">
                <a16:creationId xmlns:a16="http://schemas.microsoft.com/office/drawing/2014/main" id="{42595DC0-0DCB-4FEF-AEA0-CDC04859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05100"/>
            <a:ext cx="3590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dangerous data flow</a:t>
            </a:r>
          </a:p>
        </p:txBody>
      </p:sp>
      <p:sp>
        <p:nvSpPr>
          <p:cNvPr id="28" name="boundary-table-cell-bg-2-0">
            <a:extLst xmlns:a="http://schemas.openxmlformats.org/drawingml/2006/main">
              <a:ext uri="{FF2B5EF4-FFF2-40B4-BE49-F238E27FC236}">
                <a16:creationId xmlns:a16="http://schemas.microsoft.com/office/drawing/2014/main" id="{AB949DC7-EFE4-4D7C-A08B-E3584A36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85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9" name="boundary-table-cell-2-0">
            <a:extLst xmlns:a="http://schemas.openxmlformats.org/drawingml/2006/main">
              <a:ext uri="{FF2B5EF4-FFF2-40B4-BE49-F238E27FC236}">
                <a16:creationId xmlns:a16="http://schemas.microsoft.com/office/drawing/2014/main" id="{6F088B7E-CB92-4AD0-877E-491941FD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boundary-table-cell-bg-2-1">
            <a:extLst xmlns:a="http://schemas.openxmlformats.org/drawingml/2006/main">
              <a:ext uri="{FF2B5EF4-FFF2-40B4-BE49-F238E27FC236}">
                <a16:creationId xmlns:a16="http://schemas.microsoft.com/office/drawing/2014/main" id="{00C3FB22-0F1C-4576-8772-1CAD38A3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3000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1" name="boundary-table-cell-2-1">
            <a:extLst xmlns:a="http://schemas.openxmlformats.org/drawingml/2006/main">
              <a:ext uri="{FF2B5EF4-FFF2-40B4-BE49-F238E27FC236}">
                <a16:creationId xmlns:a16="http://schemas.microsoft.com/office/drawing/2014/main" id="{8FE93AAF-B7B3-43AE-A676-89DBADF9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2771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flows / request_model</a:t>
            </a:r>
          </a:p>
        </p:txBody>
      </p:sp>
      <p:sp>
        <p:nvSpPr>
          <p:cNvPr id="32" name="boundary-table-cell-bg-2-2">
            <a:extLst xmlns:a="http://schemas.openxmlformats.org/drawingml/2006/main">
              <a:ext uri="{FF2B5EF4-FFF2-40B4-BE49-F238E27FC236}">
                <a16:creationId xmlns:a16="http://schemas.microsoft.com/office/drawing/2014/main" id="{8299A4ED-A56E-49D3-8B34-C52CFA10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623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3" name="boundary-table-cell-2-2">
            <a:extLst xmlns:a="http://schemas.openxmlformats.org/drawingml/2006/main">
              <a:ext uri="{FF2B5EF4-FFF2-40B4-BE49-F238E27FC236}">
                <a16:creationId xmlns:a16="http://schemas.microsoft.com/office/drawing/2014/main" id="{7BC8BDF3-A31C-4732-A1D3-493A3B5A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385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request-backed control of sink operands</a:t>
            </a:r>
          </a:p>
        </p:txBody>
      </p:sp>
      <p:sp>
        <p:nvSpPr>
          <p:cNvPr id="34" name="boundary-table-cell-bg-2-3">
            <a:extLst xmlns:a="http://schemas.openxmlformats.org/drawingml/2006/main">
              <a:ext uri="{FF2B5EF4-FFF2-40B4-BE49-F238E27FC236}">
                <a16:creationId xmlns:a16="http://schemas.microsoft.com/office/drawing/2014/main" id="{7B40E95C-F951-44CF-97A7-7AA7ECC9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162300"/>
            <a:ext cx="381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5" name="boundary-table-cell-2-3">
            <a:extLst xmlns:a="http://schemas.openxmlformats.org/drawingml/2006/main">
              <a:ext uri="{FF2B5EF4-FFF2-40B4-BE49-F238E27FC236}">
                <a16:creationId xmlns:a16="http://schemas.microsoft.com/office/drawing/2014/main" id="{6A0B0CE3-3D05-4CDD-B855-5613521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238500"/>
            <a:ext cx="3590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path feasibility or runtime effect</a:t>
            </a:r>
          </a:p>
        </p:txBody>
      </p:sp>
      <p:sp>
        <p:nvSpPr>
          <p:cNvPr id="36" name="boundary-table-cell-bg-3-0">
            <a:extLst xmlns:a="http://schemas.openxmlformats.org/drawingml/2006/main">
              <a:ext uri="{FF2B5EF4-FFF2-40B4-BE49-F238E27FC236}">
                <a16:creationId xmlns:a16="http://schemas.microsoft.com/office/drawing/2014/main" id="{E188AF06-A9DC-4EE1-81CF-D429689C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85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7" name="boundary-table-cell-3-0">
            <a:extLst xmlns:a="http://schemas.openxmlformats.org/drawingml/2006/main">
              <a:ext uri="{FF2B5EF4-FFF2-40B4-BE49-F238E27FC236}">
                <a16:creationId xmlns:a16="http://schemas.microsoft.com/office/drawing/2014/main" id="{7828AD48-E8F2-4A28-AB9A-C0A73EDE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boundary-table-cell-bg-3-1">
            <a:extLst xmlns:a="http://schemas.openxmlformats.org/drawingml/2006/main">
              <a:ext uri="{FF2B5EF4-FFF2-40B4-BE49-F238E27FC236}">
                <a16:creationId xmlns:a16="http://schemas.microsoft.com/office/drawing/2014/main" id="{8EF1BCE8-AA49-4CC6-8A5F-37F0F245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3000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9" name="boundary-table-cell-3-1">
            <a:extLst xmlns:a="http://schemas.openxmlformats.org/drawingml/2006/main">
              <a:ext uri="{FF2B5EF4-FFF2-40B4-BE49-F238E27FC236}">
                <a16:creationId xmlns:a16="http://schemas.microsoft.com/office/drawing/2014/main" id="{BD627073-B321-4FAC-89BA-5DE33E6C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2771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verification / requests / cases</a:t>
            </a:r>
          </a:p>
        </p:txBody>
      </p:sp>
      <p:sp>
        <p:nvSpPr>
          <p:cNvPr id="40" name="boundary-table-cell-bg-3-2">
            <a:extLst xmlns:a="http://schemas.openxmlformats.org/drawingml/2006/main">
              <a:ext uri="{FF2B5EF4-FFF2-40B4-BE49-F238E27FC236}">
                <a16:creationId xmlns:a16="http://schemas.microsoft.com/office/drawing/2014/main" id="{992F6A54-5BCD-4AC0-972C-80B88107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957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1" name="boundary-table-cell-3-2">
            <a:extLst xmlns:a="http://schemas.openxmlformats.org/drawingml/2006/main">
              <a:ext uri="{FF2B5EF4-FFF2-40B4-BE49-F238E27FC236}">
                <a16:creationId xmlns:a16="http://schemas.microsoft.com/office/drawing/2014/main" id="{08BFCB9E-5F45-4162-844B-BCA830ED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719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proof grade and concrete experiment</a:t>
            </a:r>
          </a:p>
        </p:txBody>
      </p:sp>
      <p:sp>
        <p:nvSpPr>
          <p:cNvPr id="42" name="boundary-table-cell-bg-3-3">
            <a:extLst xmlns:a="http://schemas.openxmlformats.org/drawingml/2006/main">
              <a:ext uri="{FF2B5EF4-FFF2-40B4-BE49-F238E27FC236}">
                <a16:creationId xmlns:a16="http://schemas.microsoft.com/office/drawing/2014/main" id="{5E3EB6B2-3542-414C-9F56-8414E06A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695700"/>
            <a:ext cx="381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3" name="boundary-table-cell-3-3">
            <a:extLst xmlns:a="http://schemas.openxmlformats.org/drawingml/2006/main">
              <a:ext uri="{FF2B5EF4-FFF2-40B4-BE49-F238E27FC236}">
                <a16:creationId xmlns:a16="http://schemas.microsoft.com/office/drawing/2014/main" id="{69FFAFB0-6327-42DE-986E-1174D13E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71900"/>
            <a:ext cx="3590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observed behavior</a:t>
            </a:r>
          </a:p>
        </p:txBody>
      </p:sp>
      <p:sp>
        <p:nvSpPr>
          <p:cNvPr id="44" name="boundary-table-cell-bg-4-0">
            <a:extLst xmlns:a="http://schemas.openxmlformats.org/drawingml/2006/main">
              <a:ext uri="{FF2B5EF4-FFF2-40B4-BE49-F238E27FC236}">
                <a16:creationId xmlns:a16="http://schemas.microsoft.com/office/drawing/2014/main" id="{09CB7C26-40BB-47E1-90F0-18A96A34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85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5" name="boundary-table-cell-4-0">
            <a:extLst xmlns:a="http://schemas.openxmlformats.org/drawingml/2006/main">
              <a:ext uri="{FF2B5EF4-FFF2-40B4-BE49-F238E27FC236}">
                <a16:creationId xmlns:a16="http://schemas.microsoft.com/office/drawing/2014/main" id="{5ECCB488-0279-4CCA-B58A-DA682889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6" name="boundary-table-cell-bg-4-1">
            <a:extLst xmlns:a="http://schemas.openxmlformats.org/drawingml/2006/main">
              <a:ext uri="{FF2B5EF4-FFF2-40B4-BE49-F238E27FC236}">
                <a16:creationId xmlns:a16="http://schemas.microsoft.com/office/drawing/2014/main" id="{266BFD2B-F401-4B92-A069-D4051C0D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3000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7" name="boundary-table-cell-4-1">
            <a:extLst xmlns:a="http://schemas.openxmlformats.org/drawingml/2006/main">
              <a:ext uri="{FF2B5EF4-FFF2-40B4-BE49-F238E27FC236}">
                <a16:creationId xmlns:a16="http://schemas.microsoft.com/office/drawing/2014/main" id="{C053046A-C90A-4B6A-89E1-CE3E9AD6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05300"/>
            <a:ext cx="2771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driver-result / queue summary</a:t>
            </a:r>
          </a:p>
        </p:txBody>
      </p:sp>
      <p:sp>
        <p:nvSpPr>
          <p:cNvPr id="48" name="boundary-table-cell-bg-4-2">
            <a:extLst xmlns:a="http://schemas.openxmlformats.org/drawingml/2006/main">
              <a:ext uri="{FF2B5EF4-FFF2-40B4-BE49-F238E27FC236}">
                <a16:creationId xmlns:a16="http://schemas.microsoft.com/office/drawing/2014/main" id="{ADDAF53D-67FA-476C-8D4E-72910B49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291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9" name="boundary-table-cell-4-2">
            <a:extLst xmlns:a="http://schemas.openxmlformats.org/drawingml/2006/main">
              <a:ext uri="{FF2B5EF4-FFF2-40B4-BE49-F238E27FC236}">
                <a16:creationId xmlns:a16="http://schemas.microsoft.com/office/drawing/2014/main" id="{08591304-D5E9-4ED2-B2CD-6322C55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3053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measured effect, instruction, or crash</a:t>
            </a:r>
          </a:p>
        </p:txBody>
      </p:sp>
      <p:sp>
        <p:nvSpPr>
          <p:cNvPr id="50" name="boundary-table-cell-bg-4-3">
            <a:extLst xmlns:a="http://schemas.openxmlformats.org/drawingml/2006/main">
              <a:ext uri="{FF2B5EF4-FFF2-40B4-BE49-F238E27FC236}">
                <a16:creationId xmlns:a16="http://schemas.microsoft.com/office/drawing/2014/main" id="{0FA2A1EA-7BB9-47D0-BA7E-646481BB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29100"/>
            <a:ext cx="381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1" name="boundary-table-cell-4-3">
            <a:extLst xmlns:a="http://schemas.openxmlformats.org/drawingml/2006/main">
              <a:ext uri="{FF2B5EF4-FFF2-40B4-BE49-F238E27FC236}">
                <a16:creationId xmlns:a16="http://schemas.microsoft.com/office/drawing/2014/main" id="{0813ACAE-A703-4DBE-BFAB-BE94DFE3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05300"/>
            <a:ext cx="3590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general exploitability</a:t>
            </a:r>
          </a:p>
        </p:txBody>
      </p:sp>
      <p:sp>
        <p:nvSpPr>
          <p:cNvPr id="52" name="boundary-scope-heading-1">
            <a:extLst xmlns:a="http://schemas.openxmlformats.org/drawingml/2006/main">
              <a:ext uri="{FF2B5EF4-FFF2-40B4-BE49-F238E27FC236}">
                <a16:creationId xmlns:a16="http://schemas.microsoft.com/office/drawing/2014/main" id="{95AE8583-19E9-4292-A0FE-7975669C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scope</a:t>
            </a:r>
          </a:p>
        </p:txBody>
      </p:sp>
      <p:sp>
        <p:nvSpPr>
          <p:cNvPr id="53" name="boundary-scope-body-1">
            <a:extLst xmlns:a="http://schemas.openxmlformats.org/drawingml/2006/main">
              <a:ext uri="{FF2B5EF4-FFF2-40B4-BE49-F238E27FC236}">
                <a16:creationId xmlns:a16="http://schemas.microsoft.com/office/drawing/2014/main" id="{31ED6588-7C2E-4EDC-AB17-BCE45B95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x64 WDM drivers in a Windows Server 2022 guest.</a:t>
            </a:r>
          </a:p>
        </p:txBody>
      </p:sp>
      <p:sp>
        <p:nvSpPr>
          <p:cNvPr id="54" name="boundary-scope-heading-2">
            <a:extLst xmlns:a="http://schemas.openxmlformats.org/drawingml/2006/main">
              <a:ext uri="{FF2B5EF4-FFF2-40B4-BE49-F238E27FC236}">
                <a16:creationId xmlns:a16="http://schemas.microsoft.com/office/drawing/2014/main" id="{9D9F1173-A4B3-4E7D-8A8F-184E39BB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510540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Known boundary</a:t>
            </a:r>
          </a:p>
        </p:txBody>
      </p:sp>
      <p:sp>
        <p:nvSpPr>
          <p:cNvPr id="55" name="boundary-scope-body-2">
            <a:extLst xmlns:a="http://schemas.openxmlformats.org/drawingml/2006/main">
              <a:ext uri="{FF2B5EF4-FFF2-40B4-BE49-F238E27FC236}">
                <a16:creationId xmlns:a16="http://schemas.microsoft.com/office/drawing/2014/main" id="{F352F193-B688-45BF-BCC2-78ADA025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57340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KMDF/WDF callbacks and framework request objects are not modeled yet.</a:t>
            </a:r>
          </a:p>
        </p:txBody>
      </p:sp>
      <p:sp>
        <p:nvSpPr>
          <p:cNvPr id="56" name="boundary-scope-heading-3">
            <a:extLst xmlns:a="http://schemas.openxmlformats.org/drawingml/2006/main">
              <a:ext uri="{FF2B5EF4-FFF2-40B4-BE49-F238E27FC236}">
                <a16:creationId xmlns:a16="http://schemas.microsoft.com/office/drawing/2014/main" id="{3D134471-AE46-4BC7-80FF-0F2D1774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510540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ceiling</a:t>
            </a:r>
          </a:p>
        </p:txBody>
      </p:sp>
      <p:sp>
        <p:nvSpPr>
          <p:cNvPr id="57" name="boundary-scope-body-3">
            <a:extLst xmlns:a="http://schemas.openxmlformats.org/drawingml/2006/main">
              <a:ext uri="{FF2B5EF4-FFF2-40B4-BE49-F238E27FC236}">
                <a16:creationId xmlns:a16="http://schemas.microsoft.com/office/drawing/2014/main" id="{F706D99E-295E-4735-950A-13FFC07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57340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E5 boundary-crossing classification is not implemented in the current runner.</a:t>
            </a:r>
          </a:p>
        </p:txBody>
      </p:sp>
    </p:spTree>
    <p:extLst>
      <p:ext uri="{BB962C8B-B14F-4D97-AF65-F5344CB8AC3E}">
        <p14:creationId xmlns:p14="http://schemas.microsoft.com/office/powerpoint/2010/main" val="12452527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kicker-11">
            <a:extLst xmlns:a="http://schemas.openxmlformats.org/drawingml/2006/main">
              <a:ext uri="{FF2B5EF4-FFF2-40B4-BE49-F238E27FC236}">
                <a16:creationId xmlns:a16="http://schemas.microsoft.com/office/drawing/2014/main" id="{246EB5CF-2920-4AA6-BA04-1D93D1B4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section-title-11">
            <a:extLst xmlns:a="http://schemas.openxmlformats.org/drawingml/2006/main">
              <a:ext uri="{FF2B5EF4-FFF2-40B4-BE49-F238E27FC236}">
                <a16:creationId xmlns:a16="http://schemas.microsoft.com/office/drawing/2014/main" id="{366A529A-FA7F-4813-A318-D5BBA139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477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life of one driver:</a:t>
            </a:r>
          </a:p>
          <a:p xmlns:a="http://schemas.openxmlformats.org/drawingml/2006/main">
            <a:pPr algn="l">
              <a:defRPr sz="5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LHA.sys</a:t>
            </a:r>
          </a:p>
        </p:txBody>
      </p:sp>
      <p:sp>
        <p:nvSpPr>
          <p:cNvPr id="3" name="section-subtitle-11">
            <a:extLst xmlns:a="http://schemas.openxmlformats.org/drawingml/2006/main">
              <a:ext uri="{FF2B5EF4-FFF2-40B4-BE49-F238E27FC236}">
                <a16:creationId xmlns:a16="http://schemas.microsoft.com/office/drawing/2014/main" id="{D8FDDCA1-AEAA-42A7-8E0B-86512D30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From 40 static security candidates to a request-controlled MmMapIoSpace call and an E4-confirmed MMIO event</a:t>
            </a:r>
          </a:p>
        </p:txBody>
      </p:sp>
      <p:sp>
        <p:nvSpPr>
          <p:cNvPr id="4" name="section-footer-11">
            <a:extLst xmlns:a="http://schemas.openxmlformats.org/drawingml/2006/main">
              <a:ext uri="{FF2B5EF4-FFF2-40B4-BE49-F238E27FC236}">
                <a16:creationId xmlns:a16="http://schemas.microsoft.com/office/drawing/2014/main" id="{DADDA134-7F84-4865-A76C-B02CF7EC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43106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2">
            <a:extLst xmlns:a="http://schemas.openxmlformats.org/drawingml/2006/main">
              <a:ext uri="{FF2B5EF4-FFF2-40B4-BE49-F238E27FC236}">
                <a16:creationId xmlns:a16="http://schemas.microsoft.com/office/drawing/2014/main" id="{88C4DDC6-3261-46CD-AF22-41825A56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DRIVER IDENTITY AND STRUCTURE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2D16C7D8-1954-4AFA-B54F-61F763CB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LHA.sys exposes a classic WDM control surface</a:t>
            </a:r>
          </a:p>
        </p:txBody>
      </p:sp>
      <p:sp>
        <p:nvSpPr>
          <p:cNvPr id="3" name="footer-12">
            <a:extLst xmlns:a="http://schemas.openxmlformats.org/drawingml/2006/main">
              <a:ext uri="{FF2B5EF4-FFF2-40B4-BE49-F238E27FC236}">
                <a16:creationId xmlns:a16="http://schemas.microsoft.com/office/drawing/2014/main" id="{EF76FED7-64DC-47AF-806A-1A64A199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lha-hash">
            <a:extLst xmlns:a="http://schemas.openxmlformats.org/drawingml/2006/main">
              <a:ext uri="{FF2B5EF4-FFF2-40B4-BE49-F238E27FC236}">
                <a16:creationId xmlns:a16="http://schemas.microsoft.com/office/drawing/2014/main" id="{47DB1FE0-B6ED-47E0-835B-5A69D46F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SHA-256  e75714f8e0ff4560…84a584539cf</a:t>
            </a:r>
          </a:p>
        </p:txBody>
      </p:sp>
      <p:sp>
        <p:nvSpPr>
          <p:cNvPr id="5" name="lha-run">
            <a:extLst xmlns:a="http://schemas.openxmlformats.org/drawingml/2006/main">
              <a:ext uri="{FF2B5EF4-FFF2-40B4-BE49-F238E27FC236}">
                <a16:creationId xmlns:a16="http://schemas.microsoft.com/office/drawing/2014/main" id="{21F9F955-D8C1-41CE-895B-8C746E64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88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Run slice: mixed10-laptop-20260803b  •  queue ok  •  18 executed</a:t>
            </a:r>
          </a:p>
        </p:txBody>
      </p:sp>
      <p:cxnSp>
        <p:nvCxnSpPr>
          <p:cNvPr id="36" name="lha-structure-edge-1"/>
          <p:cNvCxnSpPr/>
          <p:nvPr/>
        </p:nvCxnSpPr>
        <p:spPr>
          <a:xfrm xmlns:a="http://schemas.openxmlformats.org/drawingml/2006/main">
            <a:off x="2628900" y="246697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7" name="lha-structure-edge-2"/>
          <p:cNvCxnSpPr/>
          <p:nvPr/>
        </p:nvCxnSpPr>
        <p:spPr>
          <a:xfrm xmlns:a="http://schemas.openxmlformats.org/drawingml/2006/main">
            <a:off x="5905500" y="246697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8" name="lha-structure-edge-3"/>
          <p:cNvCxnSpPr/>
          <p:nvPr/>
        </p:nvCxnSpPr>
        <p:spPr>
          <a:xfrm xmlns:a="http://schemas.openxmlformats.org/drawingml/2006/main">
            <a:off x="9182100" y="246697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9" name="lha-branch-edge-1"/>
          <p:cNvCxnSpPr/>
          <p:nvPr/>
        </p:nvCxnSpPr>
        <p:spPr>
          <a:xfrm xmlns:a="http://schemas.openxmlformats.org/drawingml/2006/main">
            <a:off x="1619250" y="299085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0" name="lha-branch-edge-2"/>
          <p:cNvCxnSpPr/>
          <p:nvPr/>
        </p:nvCxnSpPr>
        <p:spPr>
          <a:xfrm xmlns:a="http://schemas.openxmlformats.org/drawingml/2006/main">
            <a:off x="1619250" y="39814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1" name="lha-branch-edge-3"/>
          <p:cNvCxnSpPr/>
          <p:nvPr/>
        </p:nvCxnSpPr>
        <p:spPr>
          <a:xfrm xmlns:a="http://schemas.openxmlformats.org/drawingml/2006/main">
            <a:off x="4953000" y="39814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2" name="lha-device-link"/>
          <p:cNvCxnSpPr/>
          <p:nvPr/>
        </p:nvCxnSpPr>
        <p:spPr>
          <a:xfrm xmlns:a="http://schemas.openxmlformats.org/drawingml/2006/main">
            <a:off x="6286500" y="49339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3" name="lha-structure-binary-panel">
            <a:extLst xmlns:a="http://schemas.openxmlformats.org/drawingml/2006/main">
              <a:ext uri="{FF2B5EF4-FFF2-40B4-BE49-F238E27FC236}">
                <a16:creationId xmlns:a16="http://schemas.microsoft.com/office/drawing/2014/main" id="{E47024A3-DEDC-4D86-BE09-895DCCD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2228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ha-structure-binary-title">
            <a:extLst xmlns:a="http://schemas.openxmlformats.org/drawingml/2006/main">
              <a:ext uri="{FF2B5EF4-FFF2-40B4-BE49-F238E27FC236}">
                <a16:creationId xmlns:a16="http://schemas.microsoft.com/office/drawing/2014/main" id="{03B507C0-94B3-4A70-BA11-3E18EFA8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LHA.sys</a:t>
            </a:r>
          </a:p>
        </p:txBody>
      </p:sp>
      <p:sp>
        <p:nvSpPr>
          <p:cNvPr id="15" name="lha-structure-binary-subtitle">
            <a:extLst xmlns:a="http://schemas.openxmlformats.org/drawingml/2006/main">
              <a:ext uri="{FF2B5EF4-FFF2-40B4-BE49-F238E27FC236}">
                <a16:creationId xmlns:a16="http://schemas.microsoft.com/office/drawing/2014/main" id="{EBE13BD7-816C-4D2C-A208-A3F16D26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x64 WDM image</a:t>
            </a:r>
          </a:p>
        </p:txBody>
      </p:sp>
      <p:sp>
        <p:nvSpPr>
          <p:cNvPr id="16" name="lha-structure-dispatch-panel">
            <a:extLst xmlns:a="http://schemas.openxmlformats.org/drawingml/2006/main">
              <a:ext uri="{FF2B5EF4-FFF2-40B4-BE49-F238E27FC236}">
                <a16:creationId xmlns:a16="http://schemas.microsoft.com/office/drawing/2014/main" id="{340E0CD1-16D4-427B-93E8-50F2447A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310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ha-structure-dispatch-title">
            <a:extLst xmlns:a="http://schemas.openxmlformats.org/drawingml/2006/main">
              <a:ext uri="{FF2B5EF4-FFF2-40B4-BE49-F238E27FC236}">
                <a16:creationId xmlns:a16="http://schemas.microsoft.com/office/drawing/2014/main" id="{83598B6B-9DB5-4DC3-A6C1-CCFB6371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145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08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dispatch assignments</a:t>
            </a:r>
          </a:p>
        </p:txBody>
      </p:sp>
      <p:sp>
        <p:nvSpPr>
          <p:cNvPr id="18" name="lha-structure-dispatch-subtitle">
            <a:extLst xmlns:a="http://schemas.openxmlformats.org/drawingml/2006/main">
              <a:ext uri="{FF2B5EF4-FFF2-40B4-BE49-F238E27FC236}">
                <a16:creationId xmlns:a16="http://schemas.microsoft.com/office/drawing/2014/main" id="{460CB548-2BB8-4DA8-94EF-464290D5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MajorFunction wiring</a:t>
            </a:r>
          </a:p>
        </p:txBody>
      </p:sp>
      <p:sp>
        <p:nvSpPr>
          <p:cNvPr id="19" name="lha-structure-handlers-panel">
            <a:extLst xmlns:a="http://schemas.openxmlformats.org/drawingml/2006/main">
              <a:ext uri="{FF2B5EF4-FFF2-40B4-BE49-F238E27FC236}">
                <a16:creationId xmlns:a16="http://schemas.microsoft.com/office/drawing/2014/main" id="{1D4FCEE5-0A68-4346-A920-1B6BB4ED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ha-structure-handlers-title">
            <a:extLst xmlns:a="http://schemas.openxmlformats.org/drawingml/2006/main">
              <a:ext uri="{FF2B5EF4-FFF2-40B4-BE49-F238E27FC236}">
                <a16:creationId xmlns:a16="http://schemas.microsoft.com/office/drawing/2014/main" id="{C43B02B2-10D3-49A3-ABA7-9B54EBDE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145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handlers</a:t>
            </a:r>
          </a:p>
        </p:txBody>
      </p:sp>
      <p:sp>
        <p:nvSpPr>
          <p:cNvPr id="21" name="lha-structure-handlers-subtitle">
            <a:extLst xmlns:a="http://schemas.openxmlformats.org/drawingml/2006/main">
              <a:ext uri="{FF2B5EF4-FFF2-40B4-BE49-F238E27FC236}">
                <a16:creationId xmlns:a16="http://schemas.microsoft.com/office/drawing/2014/main" id="{36CD268E-10D0-4CEC-AE95-7ACED09B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WDM IRP entry points</a:t>
            </a:r>
          </a:p>
        </p:txBody>
      </p:sp>
      <p:sp>
        <p:nvSpPr>
          <p:cNvPr id="22" name="lha-structure-cases-panel">
            <a:extLst xmlns:a="http://schemas.openxmlformats.org/drawingml/2006/main">
              <a:ext uri="{FF2B5EF4-FFF2-40B4-BE49-F238E27FC236}">
                <a16:creationId xmlns:a16="http://schemas.microsoft.com/office/drawing/2014/main" id="{B65E344C-A8FB-4A84-BD8C-EA84AB3F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431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ha-structure-cases-title">
            <a:extLst xmlns:a="http://schemas.openxmlformats.org/drawingml/2006/main">
              <a:ext uri="{FF2B5EF4-FFF2-40B4-BE49-F238E27FC236}">
                <a16:creationId xmlns:a16="http://schemas.microsoft.com/office/drawing/2014/main" id="{B52E8A6B-3486-43CF-8C68-6A4F69A8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14550"/>
            <a:ext cx="1466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 IOCTL cases</a:t>
            </a:r>
          </a:p>
        </p:txBody>
      </p:sp>
      <p:sp>
        <p:nvSpPr>
          <p:cNvPr id="24" name="lha-devices-panel">
            <a:extLst xmlns:a="http://schemas.openxmlformats.org/drawingml/2006/main">
              <a:ext uri="{FF2B5EF4-FFF2-40B4-BE49-F238E27FC236}">
                <a16:creationId xmlns:a16="http://schemas.microsoft.com/office/drawing/2014/main" id="{23B0D934-802B-4A06-8D7D-3FB3000D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0055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lha-devices-title">
            <a:extLst xmlns:a="http://schemas.openxmlformats.org/drawingml/2006/main">
              <a:ext uri="{FF2B5EF4-FFF2-40B4-BE49-F238E27FC236}">
                <a16:creationId xmlns:a16="http://schemas.microsoft.com/office/drawing/2014/main" id="{02F40A0A-925F-4AEF-9B75-D8A0A351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720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device objects</a:t>
            </a:r>
          </a:p>
        </p:txBody>
      </p:sp>
      <p:sp>
        <p:nvSpPr>
          <p:cNvPr id="26" name="lha-devices-subtitle">
            <a:extLst xmlns:a="http://schemas.openxmlformats.org/drawingml/2006/main">
              <a:ext uri="{FF2B5EF4-FFF2-40B4-BE49-F238E27FC236}">
                <a16:creationId xmlns:a16="http://schemas.microsoft.com/office/drawing/2014/main" id="{9F5662CD-1260-4E9C-BD3A-327E90DB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911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kernel device surface</a:t>
            </a:r>
          </a:p>
        </p:txBody>
      </p:sp>
      <p:sp>
        <p:nvSpPr>
          <p:cNvPr id="27" name="lha-frontdoors-panel">
            <a:extLst xmlns:a="http://schemas.openxmlformats.org/drawingml/2006/main">
              <a:ext uri="{FF2B5EF4-FFF2-40B4-BE49-F238E27FC236}">
                <a16:creationId xmlns:a16="http://schemas.microsoft.com/office/drawing/2014/main" id="{2E77669B-D73D-41DA-8F01-4EEBA3A5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ha-frontdoors-title">
            <a:extLst xmlns:a="http://schemas.openxmlformats.org/drawingml/2006/main">
              <a:ext uri="{FF2B5EF4-FFF2-40B4-BE49-F238E27FC236}">
                <a16:creationId xmlns:a16="http://schemas.microsoft.com/office/drawing/2014/main" id="{A72DF679-1206-40FB-A3B5-057A6CED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720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frontdoors</a:t>
            </a:r>
          </a:p>
        </p:txBody>
      </p:sp>
      <p:sp>
        <p:nvSpPr>
          <p:cNvPr id="29" name="lha-frontdoors-subtitle">
            <a:extLst xmlns:a="http://schemas.openxmlformats.org/drawingml/2006/main">
              <a:ext uri="{FF2B5EF4-FFF2-40B4-BE49-F238E27FC236}">
                <a16:creationId xmlns:a16="http://schemas.microsoft.com/office/drawing/2014/main" id="{CD709D3D-4EF1-4CB1-BB20-09A7C28C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911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user-mode naming surface</a:t>
            </a:r>
          </a:p>
        </p:txBody>
      </p:sp>
      <p:sp>
        <p:nvSpPr>
          <p:cNvPr id="30" name="lha-structure-note">
            <a:extLst xmlns:a="http://schemas.openxmlformats.org/drawingml/2006/main">
              <a:ext uri="{FF2B5EF4-FFF2-40B4-BE49-F238E27FC236}">
                <a16:creationId xmlns:a16="http://schemas.microsoft.com/office/drawing/2014/main" id="{452B5E02-FA71-4155-81CD-85702521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48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71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static structure is already useful, but the install mode and exact runtime device path remain unresolved until Stage 5.</a:t>
            </a:r>
          </a:p>
        </p:txBody>
      </p:sp>
    </p:spTree>
    <p:extLst>
      <p:ext uri="{BB962C8B-B14F-4D97-AF65-F5344CB8AC3E}">
        <p14:creationId xmlns:p14="http://schemas.microsoft.com/office/powerpoint/2010/main" val="4916062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3">
            <a:extLst xmlns:a="http://schemas.openxmlformats.org/drawingml/2006/main">
              <a:ext uri="{FF2B5EF4-FFF2-40B4-BE49-F238E27FC236}">
                <a16:creationId xmlns:a16="http://schemas.microsoft.com/office/drawing/2014/main" id="{A6C95358-BFC1-4B6A-B72E-A884A428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LHA.SYS CANDIDATE FUNNEL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FFE404B7-56F6-476B-A800-4A304D69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Forty static leads narrow to three automatic cases</a:t>
            </a:r>
          </a:p>
        </p:txBody>
      </p:sp>
      <p:sp>
        <p:nvSpPr>
          <p:cNvPr id="3" name="footer-13">
            <a:extLst xmlns:a="http://schemas.openxmlformats.org/drawingml/2006/main">
              <a:ext uri="{FF2B5EF4-FFF2-40B4-BE49-F238E27FC236}">
                <a16:creationId xmlns:a16="http://schemas.microsoft.com/office/drawing/2014/main" id="{96BF9C2A-F0F4-47E2-8EF7-BA1BD8B7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lha-funnel-funnel-0">
            <a:extLst xmlns:a="http://schemas.openxmlformats.org/drawingml/2006/main">
              <a:ext uri="{FF2B5EF4-FFF2-40B4-BE49-F238E27FC236}">
                <a16:creationId xmlns:a16="http://schemas.microsoft.com/office/drawing/2014/main" id="{9526229B-8622-426F-85D2-669B8D67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933450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ha-funnel-funnel-label-0">
            <a:extLst xmlns:a="http://schemas.openxmlformats.org/drawingml/2006/main">
              <a:ext uri="{FF2B5EF4-FFF2-40B4-BE49-F238E27FC236}">
                <a16:creationId xmlns:a16="http://schemas.microsoft.com/office/drawing/2014/main" id="{C76D9383-8A8E-43D2-83B7-D6608A56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581150"/>
            <a:ext cx="81915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 3 flows / security candidates</a:t>
            </a:r>
          </a:p>
        </p:txBody>
      </p:sp>
      <p:sp>
        <p:nvSpPr>
          <p:cNvPr id="6" name="lha-funnel-funnel-value-0">
            <a:extLst xmlns:a="http://schemas.openxmlformats.org/drawingml/2006/main">
              <a:ext uri="{FF2B5EF4-FFF2-40B4-BE49-F238E27FC236}">
                <a16:creationId xmlns:a16="http://schemas.microsoft.com/office/drawing/2014/main" id="{F282C4D6-4DB7-469A-8A45-0A2B5A44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81150"/>
            <a:ext cx="5715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7" name="lha-funnel-funnel-1">
            <a:extLst xmlns:a="http://schemas.openxmlformats.org/drawingml/2006/main">
              <a:ext uri="{FF2B5EF4-FFF2-40B4-BE49-F238E27FC236}">
                <a16:creationId xmlns:a16="http://schemas.microsoft.com/office/drawing/2014/main" id="{FDE455A2-4C21-4EC3-97B0-9ED55D2E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047" y="2308860"/>
            <a:ext cx="7631906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ha-funnel-funnel-label-1">
            <a:extLst xmlns:a="http://schemas.openxmlformats.org/drawingml/2006/main">
              <a:ext uri="{FF2B5EF4-FFF2-40B4-BE49-F238E27FC236}">
                <a16:creationId xmlns:a16="http://schemas.microsoft.com/office/drawing/2014/main" id="{CC838EA8-025F-4542-A5C2-5B963C75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597" y="2385060"/>
            <a:ext cx="6488906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 4 verification records</a:t>
            </a:r>
          </a:p>
        </p:txBody>
      </p:sp>
      <p:sp>
        <p:nvSpPr>
          <p:cNvPr id="9" name="lha-funnel-funnel-value-1">
            <a:extLst xmlns:a="http://schemas.openxmlformats.org/drawingml/2006/main">
              <a:ext uri="{FF2B5EF4-FFF2-40B4-BE49-F238E27FC236}">
                <a16:creationId xmlns:a16="http://schemas.microsoft.com/office/drawing/2014/main" id="{0FA320C8-AD65-48C8-AAC9-22A693B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903" y="2385060"/>
            <a:ext cx="5715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0" name="lha-funnel-funnel-2">
            <a:extLst xmlns:a="http://schemas.openxmlformats.org/drawingml/2006/main">
              <a:ext uri="{FF2B5EF4-FFF2-40B4-BE49-F238E27FC236}">
                <a16:creationId xmlns:a16="http://schemas.microsoft.com/office/drawing/2014/main" id="{5605657E-28FD-460E-A548-D306EE3D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112770"/>
            <a:ext cx="6238875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ha-funnel-funnel-label-2">
            <a:extLst xmlns:a="http://schemas.openxmlformats.org/drawingml/2006/main">
              <a:ext uri="{FF2B5EF4-FFF2-40B4-BE49-F238E27FC236}">
                <a16:creationId xmlns:a16="http://schemas.microsoft.com/office/drawing/2014/main" id="{639F09D5-B6DE-46F0-9173-35792D30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3188970"/>
            <a:ext cx="5095875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Obligations proven</a:t>
            </a:r>
          </a:p>
        </p:txBody>
      </p:sp>
      <p:sp>
        <p:nvSpPr>
          <p:cNvPr id="12" name="lha-funnel-funnel-value-2">
            <a:extLst xmlns:a="http://schemas.openxmlformats.org/drawingml/2006/main">
              <a:ext uri="{FF2B5EF4-FFF2-40B4-BE49-F238E27FC236}">
                <a16:creationId xmlns:a16="http://schemas.microsoft.com/office/drawing/2014/main" id="{F3D264FC-9050-48A5-8CAE-A9E36797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388" y="3188970"/>
            <a:ext cx="5715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3" name="lha-funnel-funnel-3">
            <a:extLst xmlns:a="http://schemas.openxmlformats.org/drawingml/2006/main">
              <a:ext uri="{FF2B5EF4-FFF2-40B4-BE49-F238E27FC236}">
                <a16:creationId xmlns:a16="http://schemas.microsoft.com/office/drawing/2014/main" id="{E4D11E4B-9EDC-42D7-945A-961F2E47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3916680"/>
            <a:ext cx="5929313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ha-funnel-funnel-label-3">
            <a:extLst xmlns:a="http://schemas.openxmlformats.org/drawingml/2006/main">
              <a:ext uri="{FF2B5EF4-FFF2-40B4-BE49-F238E27FC236}">
                <a16:creationId xmlns:a16="http://schemas.microsoft.com/office/drawing/2014/main" id="{146BADC1-ADB1-42C8-B1C3-B9948077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894" y="3992880"/>
            <a:ext cx="4786313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Manifest-complete cases executed</a:t>
            </a:r>
          </a:p>
        </p:txBody>
      </p:sp>
      <p:sp>
        <p:nvSpPr>
          <p:cNvPr id="15" name="lha-funnel-funnel-value-3">
            <a:extLst xmlns:a="http://schemas.openxmlformats.org/drawingml/2006/main">
              <a:ext uri="{FF2B5EF4-FFF2-40B4-BE49-F238E27FC236}">
                <a16:creationId xmlns:a16="http://schemas.microsoft.com/office/drawing/2014/main" id="{62057055-D9E8-4ECF-9322-3A1ADBCE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606" y="3992880"/>
            <a:ext cx="5715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6" name="lha-funnel-funnel-4">
            <a:extLst xmlns:a="http://schemas.openxmlformats.org/drawingml/2006/main">
              <a:ext uri="{FF2B5EF4-FFF2-40B4-BE49-F238E27FC236}">
                <a16:creationId xmlns:a16="http://schemas.microsoft.com/office/drawing/2014/main" id="{76A8E0A2-7F46-4B40-B47A-3219558F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203" y="4720590"/>
            <a:ext cx="3607594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ha-funnel-funnel-label-4">
            <a:extLst xmlns:a="http://schemas.openxmlformats.org/drawingml/2006/main">
              <a:ext uri="{FF2B5EF4-FFF2-40B4-BE49-F238E27FC236}">
                <a16:creationId xmlns:a16="http://schemas.microsoft.com/office/drawing/2014/main" id="{233FECF4-3DFE-4B68-B37C-A2526A03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753" y="4796790"/>
            <a:ext cx="2464594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Strict dynamic-ready cases</a:t>
            </a:r>
          </a:p>
        </p:txBody>
      </p:sp>
      <p:sp>
        <p:nvSpPr>
          <p:cNvPr id="18" name="lha-funnel-funnel-value-4">
            <a:extLst xmlns:a="http://schemas.openxmlformats.org/drawingml/2006/main">
              <a:ext uri="{FF2B5EF4-FFF2-40B4-BE49-F238E27FC236}">
                <a16:creationId xmlns:a16="http://schemas.microsoft.com/office/drawing/2014/main" id="{B51DD69A-4350-4A88-AA7A-231D93D7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747" y="4796790"/>
            <a:ext cx="571500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lha-funnel-explain">
            <a:extLst xmlns:a="http://schemas.openxmlformats.org/drawingml/2006/main">
              <a:ext uri="{FF2B5EF4-FFF2-40B4-BE49-F238E27FC236}">
                <a16:creationId xmlns:a16="http://schemas.microsoft.com/office/drawing/2014/main" id="{47FB32B8-D60D-4A49-BAF7-CDBA46AE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Dynamic-ready is deliberately strict. The queue still executed guided and observability-oriented manifests, so 18 cases ran even though only 3 met the automatic-ready gate.</a:t>
            </a:r>
          </a:p>
        </p:txBody>
      </p:sp>
    </p:spTree>
    <p:extLst>
      <p:ext uri="{BB962C8B-B14F-4D97-AF65-F5344CB8AC3E}">
        <p14:creationId xmlns:p14="http://schemas.microsoft.com/office/powerpoint/2010/main" val="16618520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4">
            <a:extLst xmlns:a="http://schemas.openxmlformats.org/drawingml/2006/main">
              <a:ext uri="{FF2B5EF4-FFF2-40B4-BE49-F238E27FC236}">
                <a16:creationId xmlns:a16="http://schemas.microsoft.com/office/drawing/2014/main" id="{66EAECB7-9B29-45D8-BBCE-99525795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LHA.SYS CANDIDATE INVENTORY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3CF8E7CF-7152-47C9-A733-7668900E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Physical-memory candidates dominate the useful signal</a:t>
            </a:r>
          </a:p>
        </p:txBody>
      </p:sp>
      <p:sp>
        <p:nvSpPr>
          <p:cNvPr id="3" name="footer-14">
            <a:extLst xmlns:a="http://schemas.openxmlformats.org/drawingml/2006/main">
              <a:ext uri="{FF2B5EF4-FFF2-40B4-BE49-F238E27FC236}">
                <a16:creationId xmlns:a16="http://schemas.microsoft.com/office/drawing/2014/main" id="{00B1B836-3A50-443D-B800-26AA2E4B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family-title">
            <a:extLst xmlns:a="http://schemas.openxmlformats.org/drawingml/2006/main">
              <a:ext uri="{FF2B5EF4-FFF2-40B4-BE49-F238E27FC236}">
                <a16:creationId xmlns:a16="http://schemas.microsoft.com/office/drawing/2014/main" id="{A7FC87F2-E816-47E0-AECC-5EA3CCCF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Static records by sink family</a:t>
            </a:r>
          </a:p>
        </p:txBody>
      </p:sp>
      <p:sp>
        <p:nvSpPr>
          <p:cNvPr id="5" name="family-table-header-bg-0">
            <a:extLst xmlns:a="http://schemas.openxmlformats.org/drawingml/2006/main">
              <a:ext uri="{FF2B5EF4-FFF2-40B4-BE49-F238E27FC236}">
                <a16:creationId xmlns:a16="http://schemas.microsoft.com/office/drawing/2014/main" id="{7286F51E-B945-4B84-B14E-1C1F2A66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2619375" cy="60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amily-table-header-0">
            <a:extLst xmlns:a="http://schemas.openxmlformats.org/drawingml/2006/main">
              <a:ext uri="{FF2B5EF4-FFF2-40B4-BE49-F238E27FC236}">
                <a16:creationId xmlns:a16="http://schemas.microsoft.com/office/drawing/2014/main" id="{816A2B47-24CB-43AE-ABCD-2FC2D85C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2390775" cy="45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Family</a:t>
            </a:r>
          </a:p>
        </p:txBody>
      </p:sp>
      <p:sp>
        <p:nvSpPr>
          <p:cNvPr id="7" name="family-table-header-bg-1">
            <a:extLst xmlns:a="http://schemas.openxmlformats.org/drawingml/2006/main">
              <a:ext uri="{FF2B5EF4-FFF2-40B4-BE49-F238E27FC236}">
                <a16:creationId xmlns:a16="http://schemas.microsoft.com/office/drawing/2014/main" id="{E86E4EA5-368C-4E7E-876E-8618D91E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924050"/>
            <a:ext cx="904875" cy="60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amily-table-header-1">
            <a:extLst xmlns:a="http://schemas.openxmlformats.org/drawingml/2006/main">
              <a:ext uri="{FF2B5EF4-FFF2-40B4-BE49-F238E27FC236}">
                <a16:creationId xmlns:a16="http://schemas.microsoft.com/office/drawing/2014/main" id="{75EA91A8-E344-4390-A9BC-BD4D9303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00250"/>
            <a:ext cx="676275" cy="45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Rec.</a:t>
            </a:r>
          </a:p>
        </p:txBody>
      </p:sp>
      <p:sp>
        <p:nvSpPr>
          <p:cNvPr id="9" name="family-table-header-bg-2">
            <a:extLst xmlns:a="http://schemas.openxmlformats.org/drawingml/2006/main">
              <a:ext uri="{FF2B5EF4-FFF2-40B4-BE49-F238E27FC236}">
                <a16:creationId xmlns:a16="http://schemas.microsoft.com/office/drawing/2014/main" id="{60CEC32A-0873-4B3F-B77D-47821111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24050"/>
            <a:ext cx="904875" cy="60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amily-table-header-2">
            <a:extLst xmlns:a="http://schemas.openxmlformats.org/drawingml/2006/main">
              <a:ext uri="{FF2B5EF4-FFF2-40B4-BE49-F238E27FC236}">
                <a16:creationId xmlns:a16="http://schemas.microsoft.com/office/drawing/2014/main" id="{25F7B745-DFCF-43C7-B8F1-20F722ED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00250"/>
            <a:ext cx="676275" cy="45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</a:t>
            </a:r>
          </a:p>
        </p:txBody>
      </p:sp>
      <p:sp>
        <p:nvSpPr>
          <p:cNvPr id="11" name="family-table-header-bg-3">
            <a:extLst xmlns:a="http://schemas.openxmlformats.org/drawingml/2006/main">
              <a:ext uri="{FF2B5EF4-FFF2-40B4-BE49-F238E27FC236}">
                <a16:creationId xmlns:a16="http://schemas.microsoft.com/office/drawing/2014/main" id="{5F23E982-313D-4E76-B43B-D25D42E3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24050"/>
            <a:ext cx="904875" cy="60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amily-table-header-3">
            <a:extLst xmlns:a="http://schemas.openxmlformats.org/drawingml/2006/main">
              <a:ext uri="{FF2B5EF4-FFF2-40B4-BE49-F238E27FC236}">
                <a16:creationId xmlns:a16="http://schemas.microsoft.com/office/drawing/2014/main" id="{E43BC5B9-82CE-4E8A-8D84-B66905EB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00250"/>
            <a:ext cx="676275" cy="45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13" name="family-table-cell-bg-0-0">
            <a:extLst xmlns:a="http://schemas.openxmlformats.org/drawingml/2006/main">
              <a:ext uri="{FF2B5EF4-FFF2-40B4-BE49-F238E27FC236}">
                <a16:creationId xmlns:a16="http://schemas.microsoft.com/office/drawing/2014/main" id="{4950EBCE-2268-47A6-BCCC-A7B215FA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7300"/>
            <a:ext cx="2619375" cy="60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4" name="family-table-cell-0-0">
            <a:extLst xmlns:a="http://schemas.openxmlformats.org/drawingml/2006/main">
              <a:ext uri="{FF2B5EF4-FFF2-40B4-BE49-F238E27FC236}">
                <a16:creationId xmlns:a16="http://schemas.microsoft.com/office/drawing/2014/main" id="{3C460890-F7EB-4EF4-9F75-E4FD4589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3500"/>
            <a:ext cx="2390775" cy="45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Privileged register I/O</a:t>
            </a:r>
          </a:p>
        </p:txBody>
      </p:sp>
      <p:sp>
        <p:nvSpPr>
          <p:cNvPr id="15" name="family-table-cell-bg-0-1">
            <a:extLst xmlns:a="http://schemas.openxmlformats.org/drawingml/2006/main">
              <a:ext uri="{FF2B5EF4-FFF2-40B4-BE49-F238E27FC236}">
                <a16:creationId xmlns:a16="http://schemas.microsoft.com/office/drawing/2014/main" id="{31F6B077-9479-49C5-BC55-39AF26F0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27300"/>
            <a:ext cx="904875" cy="60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6" name="family-table-cell-0-1">
            <a:extLst xmlns:a="http://schemas.openxmlformats.org/drawingml/2006/main">
              <a:ext uri="{FF2B5EF4-FFF2-40B4-BE49-F238E27FC236}">
                <a16:creationId xmlns:a16="http://schemas.microsoft.com/office/drawing/2014/main" id="{20D2096A-B9EC-4461-B8CF-EE57D261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03500"/>
            <a:ext cx="676275" cy="45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7" name="family-table-cell-bg-0-2">
            <a:extLst xmlns:a="http://schemas.openxmlformats.org/drawingml/2006/main">
              <a:ext uri="{FF2B5EF4-FFF2-40B4-BE49-F238E27FC236}">
                <a16:creationId xmlns:a16="http://schemas.microsoft.com/office/drawing/2014/main" id="{B4264D3B-1176-4058-852E-83205DC5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27300"/>
            <a:ext cx="904875" cy="60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8" name="family-table-cell-0-2">
            <a:extLst xmlns:a="http://schemas.openxmlformats.org/drawingml/2006/main">
              <a:ext uri="{FF2B5EF4-FFF2-40B4-BE49-F238E27FC236}">
                <a16:creationId xmlns:a16="http://schemas.microsoft.com/office/drawing/2014/main" id="{B23C083B-913B-4CA5-A550-0A2BC2AC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03500"/>
            <a:ext cx="676275" cy="45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9" name="family-table-cell-bg-0-3">
            <a:extLst xmlns:a="http://schemas.openxmlformats.org/drawingml/2006/main">
              <a:ext uri="{FF2B5EF4-FFF2-40B4-BE49-F238E27FC236}">
                <a16:creationId xmlns:a16="http://schemas.microsoft.com/office/drawing/2014/main" id="{7373D918-2104-48E9-8AE2-847CDAE9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527300"/>
            <a:ext cx="904875" cy="60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0" name="family-table-cell-0-3">
            <a:extLst xmlns:a="http://schemas.openxmlformats.org/drawingml/2006/main">
              <a:ext uri="{FF2B5EF4-FFF2-40B4-BE49-F238E27FC236}">
                <a16:creationId xmlns:a16="http://schemas.microsoft.com/office/drawing/2014/main" id="{C0F7F485-0A28-44D1-9784-B7ABB2E7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03500"/>
            <a:ext cx="676275" cy="45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family-table-cell-bg-1-0">
            <a:extLst xmlns:a="http://schemas.openxmlformats.org/drawingml/2006/main">
              <a:ext uri="{FF2B5EF4-FFF2-40B4-BE49-F238E27FC236}">
                <a16:creationId xmlns:a16="http://schemas.microsoft.com/office/drawing/2014/main" id="{8AB5A86A-F18E-4A76-912D-A0E1F820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0550"/>
            <a:ext cx="2619375" cy="60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2" name="family-table-cell-1-0">
            <a:extLst xmlns:a="http://schemas.openxmlformats.org/drawingml/2006/main">
              <a:ext uri="{FF2B5EF4-FFF2-40B4-BE49-F238E27FC236}">
                <a16:creationId xmlns:a16="http://schemas.microsoft.com/office/drawing/2014/main" id="{762DA18D-7FE7-420F-9AB1-D6FD8361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6750"/>
            <a:ext cx="2390775" cy="45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Physical memory</a:t>
            </a:r>
          </a:p>
        </p:txBody>
      </p:sp>
      <p:sp>
        <p:nvSpPr>
          <p:cNvPr id="23" name="family-table-cell-bg-1-1">
            <a:extLst xmlns:a="http://schemas.openxmlformats.org/drawingml/2006/main">
              <a:ext uri="{FF2B5EF4-FFF2-40B4-BE49-F238E27FC236}">
                <a16:creationId xmlns:a16="http://schemas.microsoft.com/office/drawing/2014/main" id="{49729C98-8635-4195-9834-E4CF5C06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30550"/>
            <a:ext cx="904875" cy="60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4" name="family-table-cell-1-1">
            <a:extLst xmlns:a="http://schemas.openxmlformats.org/drawingml/2006/main">
              <a:ext uri="{FF2B5EF4-FFF2-40B4-BE49-F238E27FC236}">
                <a16:creationId xmlns:a16="http://schemas.microsoft.com/office/drawing/2014/main" id="{91729BA1-8ABE-4882-B1F2-1DD7935A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06750"/>
            <a:ext cx="676275" cy="45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family-table-cell-bg-1-2">
            <a:extLst xmlns:a="http://schemas.openxmlformats.org/drawingml/2006/main">
              <a:ext uri="{FF2B5EF4-FFF2-40B4-BE49-F238E27FC236}">
                <a16:creationId xmlns:a16="http://schemas.microsoft.com/office/drawing/2014/main" id="{358FF056-C608-45B0-883C-9A3FB519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30550"/>
            <a:ext cx="904875" cy="60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6" name="family-table-cell-1-2">
            <a:extLst xmlns:a="http://schemas.openxmlformats.org/drawingml/2006/main">
              <a:ext uri="{FF2B5EF4-FFF2-40B4-BE49-F238E27FC236}">
                <a16:creationId xmlns:a16="http://schemas.microsoft.com/office/drawing/2014/main" id="{ECAF2ABC-B759-4B17-8269-04DB4F4D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06750"/>
            <a:ext cx="676275" cy="45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family-table-cell-bg-1-3">
            <a:extLst xmlns:a="http://schemas.openxmlformats.org/drawingml/2006/main">
              <a:ext uri="{FF2B5EF4-FFF2-40B4-BE49-F238E27FC236}">
                <a16:creationId xmlns:a16="http://schemas.microsoft.com/office/drawing/2014/main" id="{0EB516A3-99BF-41A4-95BD-5BDA8A21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30550"/>
            <a:ext cx="904875" cy="60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8" name="family-table-cell-1-3">
            <a:extLst xmlns:a="http://schemas.openxmlformats.org/drawingml/2006/main">
              <a:ext uri="{FF2B5EF4-FFF2-40B4-BE49-F238E27FC236}">
                <a16:creationId xmlns:a16="http://schemas.microsoft.com/office/drawing/2014/main" id="{7CEB810C-FBE5-4936-9460-BBA24893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06750"/>
            <a:ext cx="676275" cy="45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" name="outcomes-title">
            <a:extLst xmlns:a="http://schemas.openxmlformats.org/drawingml/2006/main">
              <a:ext uri="{FF2B5EF4-FFF2-40B4-BE49-F238E27FC236}">
                <a16:creationId xmlns:a16="http://schemas.microsoft.com/office/drawing/2014/main" id="{51E28B3D-F2BF-4F8E-ABF5-41A7E58D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the 18 executed cases produced</a:t>
            </a:r>
          </a:p>
        </p:txBody>
      </p:sp>
      <p:sp>
        <p:nvSpPr>
          <p:cNvPr id="30" name="outcome-bars-bar-label-0">
            <a:extLst xmlns:a="http://schemas.openxmlformats.org/drawingml/2006/main">
              <a:ext uri="{FF2B5EF4-FFF2-40B4-BE49-F238E27FC236}">
                <a16:creationId xmlns:a16="http://schemas.microsoft.com/office/drawing/2014/main" id="{7024A0FC-0433-43C7-8BA9-0D58F573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1657350" cy="5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Confirmed</a:t>
            </a:r>
          </a:p>
        </p:txBody>
      </p:sp>
      <p:sp>
        <p:nvSpPr>
          <p:cNvPr id="31" name="outcome-bars-bar-track-0">
            <a:extLst xmlns:a="http://schemas.openxmlformats.org/drawingml/2006/main">
              <a:ext uri="{FF2B5EF4-FFF2-40B4-BE49-F238E27FC236}">
                <a16:creationId xmlns:a16="http://schemas.microsoft.com/office/drawing/2014/main" id="{4B4B8244-40C8-4EC6-9BD6-90BFC1B1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43125"/>
            <a:ext cx="2914650" cy="2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utcome-bars-bar-fill-0">
            <a:extLst xmlns:a="http://schemas.openxmlformats.org/drawingml/2006/main">
              <a:ext uri="{FF2B5EF4-FFF2-40B4-BE49-F238E27FC236}">
                <a16:creationId xmlns:a16="http://schemas.microsoft.com/office/drawing/2014/main" id="{0A1FBABF-2556-4776-BE58-37F1E2F3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43125"/>
            <a:ext cx="485775" cy="2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utcome-bars-bar-value-0">
            <a:extLst xmlns:a="http://schemas.openxmlformats.org/drawingml/2006/main">
              <a:ext uri="{FF2B5EF4-FFF2-40B4-BE49-F238E27FC236}">
                <a16:creationId xmlns:a16="http://schemas.microsoft.com/office/drawing/2014/main" id="{7D238D7A-9637-4473-8DC3-E51FF2E8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000250"/>
            <a:ext cx="476250" cy="5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" name="outcome-bars-bar-label-1">
            <a:extLst xmlns:a="http://schemas.openxmlformats.org/drawingml/2006/main">
              <a:ext uri="{FF2B5EF4-FFF2-40B4-BE49-F238E27FC236}">
                <a16:creationId xmlns:a16="http://schemas.microsoft.com/office/drawing/2014/main" id="{241821D6-A2CF-4232-A507-F6201F39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3500"/>
            <a:ext cx="1657350" cy="5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reproduced</a:t>
            </a:r>
          </a:p>
        </p:txBody>
      </p:sp>
      <p:sp>
        <p:nvSpPr>
          <p:cNvPr id="35" name="outcome-bars-bar-track-1">
            <a:extLst xmlns:a="http://schemas.openxmlformats.org/drawingml/2006/main">
              <a:ext uri="{FF2B5EF4-FFF2-40B4-BE49-F238E27FC236}">
                <a16:creationId xmlns:a16="http://schemas.microsoft.com/office/drawing/2014/main" id="{9DB37FFA-AFDF-4038-B92D-EF2B96CA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6375"/>
            <a:ext cx="2914650" cy="2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outcome-bars-bar-fill-1">
            <a:extLst xmlns:a="http://schemas.openxmlformats.org/drawingml/2006/main">
              <a:ext uri="{FF2B5EF4-FFF2-40B4-BE49-F238E27FC236}">
                <a16:creationId xmlns:a16="http://schemas.microsoft.com/office/drawing/2014/main" id="{A839D457-9CE3-4F86-A20B-798FCAC8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6375"/>
            <a:ext cx="2914650" cy="2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outcome-bars-bar-value-1">
            <a:extLst xmlns:a="http://schemas.openxmlformats.org/drawingml/2006/main">
              <a:ext uri="{FF2B5EF4-FFF2-40B4-BE49-F238E27FC236}">
                <a16:creationId xmlns:a16="http://schemas.microsoft.com/office/drawing/2014/main" id="{871AB06F-1AE5-4EDA-BC4A-F146EE92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03500"/>
            <a:ext cx="476250" cy="5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8" name="outcome-bars-bar-label-2">
            <a:extLst xmlns:a="http://schemas.openxmlformats.org/drawingml/2006/main">
              <a:ext uri="{FF2B5EF4-FFF2-40B4-BE49-F238E27FC236}">
                <a16:creationId xmlns:a16="http://schemas.microsoft.com/office/drawing/2014/main" id="{7CCB2930-92DB-4CEE-868C-4D9FDDF8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6750"/>
            <a:ext cx="1657350" cy="5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Inconclusive</a:t>
            </a:r>
          </a:p>
        </p:txBody>
      </p:sp>
      <p:sp>
        <p:nvSpPr>
          <p:cNvPr id="39" name="outcome-bars-bar-track-2">
            <a:extLst xmlns:a="http://schemas.openxmlformats.org/drawingml/2006/main">
              <a:ext uri="{FF2B5EF4-FFF2-40B4-BE49-F238E27FC236}">
                <a16:creationId xmlns:a16="http://schemas.microsoft.com/office/drawing/2014/main" id="{472B563F-F298-4086-BC76-E904FB94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49625"/>
            <a:ext cx="2914650" cy="2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outcome-bars-bar-fill-2">
            <a:extLst xmlns:a="http://schemas.openxmlformats.org/drawingml/2006/main">
              <a:ext uri="{FF2B5EF4-FFF2-40B4-BE49-F238E27FC236}">
                <a16:creationId xmlns:a16="http://schemas.microsoft.com/office/drawing/2014/main" id="{074C4D78-1F5E-4460-905B-16AE95A2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49625"/>
            <a:ext cx="971550" cy="2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outcome-bars-bar-value-2">
            <a:extLst xmlns:a="http://schemas.openxmlformats.org/drawingml/2006/main">
              <a:ext uri="{FF2B5EF4-FFF2-40B4-BE49-F238E27FC236}">
                <a16:creationId xmlns:a16="http://schemas.microsoft.com/office/drawing/2014/main" id="{64C70690-954B-4927-93EB-A7E1E050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06750"/>
            <a:ext cx="476250" cy="5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0A9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0A93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2" name="physical-summary">
            <a:extLst xmlns:a="http://schemas.openxmlformats.org/drawingml/2006/main">
              <a:ext uri="{FF2B5EF4-FFF2-40B4-BE49-F238E27FC236}">
                <a16:creationId xmlns:a16="http://schemas.microsoft.com/office/drawing/2014/main" id="{9634F8D7-ACA2-4D0B-B2BC-839CF21F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Physical-memory family</a:t>
            </a:r>
          </a:p>
        </p:txBody>
      </p:sp>
      <p:sp>
        <p:nvSpPr>
          <p:cNvPr id="43" name="physical-detail">
            <a:extLst xmlns:a="http://schemas.openxmlformats.org/drawingml/2006/main">
              <a:ext uri="{FF2B5EF4-FFF2-40B4-BE49-F238E27FC236}">
                <a16:creationId xmlns:a16="http://schemas.microsoft.com/office/drawing/2014/main" id="{11955121-2A19-4568-ADC9-379DE675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0x9c402fa8  confirmed</a:t>
            </a:r>
          </a:p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0x9c402fb0  confirmed</a:t>
            </a:r>
          </a:p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0x9c4036b0  inconclusive</a:t>
            </a:r>
          </a:p>
        </p:txBody>
      </p:sp>
      <p:sp>
        <p:nvSpPr>
          <p:cNvPr id="44" name="port-summary">
            <a:extLst xmlns:a="http://schemas.openxmlformats.org/drawingml/2006/main">
              <a:ext uri="{FF2B5EF4-FFF2-40B4-BE49-F238E27FC236}">
                <a16:creationId xmlns:a16="http://schemas.microsoft.com/office/drawing/2014/main" id="{F493EDD8-D6B2-4117-A0DB-0874C212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9E77E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9E77ED"/>
                </a:solidFill>
                <a:latin typeface="Arial"/>
                <a:ea typeface="Arial"/>
                <a:cs typeface="Arial"/>
              </a:rPr>
              <a:t>Port-I/O family</a:t>
            </a:r>
          </a:p>
        </p:txBody>
      </p:sp>
      <p:sp>
        <p:nvSpPr>
          <p:cNvPr id="45" name="port-detail">
            <a:extLst xmlns:a="http://schemas.openxmlformats.org/drawingml/2006/main">
              <a:ext uri="{FF2B5EF4-FFF2-40B4-BE49-F238E27FC236}">
                <a16:creationId xmlns:a16="http://schemas.microsoft.com/office/drawing/2014/main" id="{5C5E1283-2786-409B-9985-C7D95E0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Most cases were not reproduced. Some 0x9c403200-family cases remained inconclusive with Win32 error 23. None were promoted to confirmed.</a:t>
            </a:r>
          </a:p>
        </p:txBody>
      </p:sp>
    </p:spTree>
    <p:extLst>
      <p:ext uri="{BB962C8B-B14F-4D97-AF65-F5344CB8AC3E}">
        <p14:creationId xmlns:p14="http://schemas.microsoft.com/office/powerpoint/2010/main" val="11722366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5">
            <a:extLst xmlns:a="http://schemas.openxmlformats.org/drawingml/2006/main">
              <a:ext uri="{FF2B5EF4-FFF2-40B4-BE49-F238E27FC236}">
                <a16:creationId xmlns:a16="http://schemas.microsoft.com/office/drawing/2014/main" id="{DF5838F9-6C85-4CDB-9CB3-42D9023A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SELECTED CONFIRMED CANDIDATE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BF52289F-90AE-4CFD-B77A-5F7FE402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Candidate 0x9c402fa8 is exact from request to sink</a:t>
            </a:r>
          </a:p>
        </p:txBody>
      </p:sp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DE19625C-2676-4E36-BA78-09A23862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candidate-code">
            <a:extLst xmlns:a="http://schemas.openxmlformats.org/drawingml/2006/main">
              <a:ext uri="{FF2B5EF4-FFF2-40B4-BE49-F238E27FC236}">
                <a16:creationId xmlns:a16="http://schemas.microsoft.com/office/drawing/2014/main" id="{44206A0A-A8F8-453D-A562-F8FC36E2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0x9c402fa8</a:t>
            </a:r>
          </a:p>
        </p:txBody>
      </p:sp>
      <p:sp>
        <p:nvSpPr>
          <p:cNvPr id="5" name="candidate-decomp">
            <a:extLst xmlns:a="http://schemas.openxmlformats.org/drawingml/2006/main">
              <a:ext uri="{FF2B5EF4-FFF2-40B4-BE49-F238E27FC236}">
                <a16:creationId xmlns:a16="http://schemas.microsoft.com/office/drawing/2014/main" id="{0CA8C759-352A-4DCA-A58A-0D1B7549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DeviceType 0x9c40  •  Access 0  •  Function 0xBEA  •  Method 0</a:t>
            </a:r>
          </a:p>
        </p:txBody>
      </p:sp>
      <p:sp>
        <p:nvSpPr>
          <p:cNvPr id="6" name="candidate-coords-header-bg-0">
            <a:extLst xmlns:a="http://schemas.openxmlformats.org/drawingml/2006/main">
              <a:ext uri="{FF2B5EF4-FFF2-40B4-BE49-F238E27FC236}">
                <a16:creationId xmlns:a16="http://schemas.microsoft.com/office/drawing/2014/main" id="{1106E6D2-168B-4316-897C-FD727FC4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ndidate-coords-header-0">
            <a:extLst xmlns:a="http://schemas.openxmlformats.org/drawingml/2006/main">
              <a:ext uri="{FF2B5EF4-FFF2-40B4-BE49-F238E27FC236}">
                <a16:creationId xmlns:a16="http://schemas.microsoft.com/office/drawing/2014/main" id="{08125386-2DA5-41C4-A416-4995CF5B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105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 coordinate</a:t>
            </a:r>
          </a:p>
        </p:txBody>
      </p:sp>
      <p:sp>
        <p:nvSpPr>
          <p:cNvPr id="8" name="candidate-coords-header-bg-1">
            <a:extLst xmlns:a="http://schemas.openxmlformats.org/drawingml/2006/main">
              <a:ext uri="{FF2B5EF4-FFF2-40B4-BE49-F238E27FC236}">
                <a16:creationId xmlns:a16="http://schemas.microsoft.com/office/drawing/2014/main" id="{F6EF1D37-A570-4EC0-BD36-895A11B1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086100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ndidate-coords-header-1">
            <a:extLst xmlns:a="http://schemas.openxmlformats.org/drawingml/2006/main">
              <a:ext uri="{FF2B5EF4-FFF2-40B4-BE49-F238E27FC236}">
                <a16:creationId xmlns:a16="http://schemas.microsoft.com/office/drawing/2014/main" id="{B06B86F6-BC53-4E58-97E1-04C62C2E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62300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0" name="candidate-coords-cell-bg-0-0">
            <a:extLst xmlns:a="http://schemas.openxmlformats.org/drawingml/2006/main">
              <a:ext uri="{FF2B5EF4-FFF2-40B4-BE49-F238E27FC236}">
                <a16:creationId xmlns:a16="http://schemas.microsoft.com/office/drawing/2014/main" id="{93EA7777-FDFA-4EC9-BBF6-21A1C192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1" name="candidate-coords-cell-0-0">
            <a:extLst xmlns:a="http://schemas.openxmlformats.org/drawingml/2006/main">
              <a:ext uri="{FF2B5EF4-FFF2-40B4-BE49-F238E27FC236}">
                <a16:creationId xmlns:a16="http://schemas.microsoft.com/office/drawing/2014/main" id="{44E2D0EE-FCA6-4B60-9C38-D8FE5056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2105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Handler</a:t>
            </a:r>
          </a:p>
        </p:txBody>
      </p:sp>
      <p:sp>
        <p:nvSpPr>
          <p:cNvPr id="12" name="candidate-coords-cell-bg-0-1">
            <a:extLst xmlns:a="http://schemas.openxmlformats.org/drawingml/2006/main">
              <a:ext uri="{FF2B5EF4-FFF2-40B4-BE49-F238E27FC236}">
                <a16:creationId xmlns:a16="http://schemas.microsoft.com/office/drawing/2014/main" id="{EB6D4A2D-B2FF-494F-9F70-B0C54098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562350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3" name="candidate-coords-cell-0-1">
            <a:extLst xmlns:a="http://schemas.openxmlformats.org/drawingml/2006/main">
              <a:ext uri="{FF2B5EF4-FFF2-40B4-BE49-F238E27FC236}">
                <a16:creationId xmlns:a16="http://schemas.microsoft.com/office/drawing/2014/main" id="{EE1C6C2C-B036-424A-87D7-FA735DE3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638550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RVA 0x1738</a:t>
            </a:r>
          </a:p>
        </p:txBody>
      </p:sp>
      <p:sp>
        <p:nvSpPr>
          <p:cNvPr id="14" name="candidate-coords-cell-bg-1-0">
            <a:extLst xmlns:a="http://schemas.openxmlformats.org/drawingml/2006/main">
              <a:ext uri="{FF2B5EF4-FFF2-40B4-BE49-F238E27FC236}">
                <a16:creationId xmlns:a16="http://schemas.microsoft.com/office/drawing/2014/main" id="{7DC83A50-D3BC-4B7D-832C-13FFBF5B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5" name="candidate-coords-cell-1-0">
            <a:extLst xmlns:a="http://schemas.openxmlformats.org/drawingml/2006/main">
              <a:ext uri="{FF2B5EF4-FFF2-40B4-BE49-F238E27FC236}">
                <a16:creationId xmlns:a16="http://schemas.microsoft.com/office/drawing/2014/main" id="{B949FDCE-771D-44E3-901E-44D59D8D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2105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 entry</a:t>
            </a:r>
          </a:p>
        </p:txBody>
      </p:sp>
      <p:sp>
        <p:nvSpPr>
          <p:cNvPr id="16" name="candidate-coords-cell-bg-1-1">
            <a:extLst xmlns:a="http://schemas.openxmlformats.org/drawingml/2006/main">
              <a:ext uri="{FF2B5EF4-FFF2-40B4-BE49-F238E27FC236}">
                <a16:creationId xmlns:a16="http://schemas.microsoft.com/office/drawing/2014/main" id="{6B974F2B-0BB9-4130-855F-58B5274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38600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7" name="candidate-coords-cell-1-1">
            <a:extLst xmlns:a="http://schemas.openxmlformats.org/drawingml/2006/main">
              <a:ext uri="{FF2B5EF4-FFF2-40B4-BE49-F238E27FC236}">
                <a16:creationId xmlns:a16="http://schemas.microsoft.com/office/drawing/2014/main" id="{48BDF69C-86A3-472E-BC3F-C3E5F5C6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14800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RVA 0x190d</a:t>
            </a:r>
          </a:p>
        </p:txBody>
      </p:sp>
      <p:sp>
        <p:nvSpPr>
          <p:cNvPr id="18" name="candidate-coords-cell-bg-2-0">
            <a:extLst xmlns:a="http://schemas.openxmlformats.org/drawingml/2006/main">
              <a:ext uri="{FF2B5EF4-FFF2-40B4-BE49-F238E27FC236}">
                <a16:creationId xmlns:a16="http://schemas.microsoft.com/office/drawing/2014/main" id="{B7BB9216-271F-467D-BD19-43A00C8F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9" name="candidate-coords-cell-2-0">
            <a:extLst xmlns:a="http://schemas.openxmlformats.org/drawingml/2006/main">
              <a:ext uri="{FF2B5EF4-FFF2-40B4-BE49-F238E27FC236}">
                <a16:creationId xmlns:a16="http://schemas.microsoft.com/office/drawing/2014/main" id="{97FF0472-3630-4D5A-A3C1-EFAF7849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2105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Sink</a:t>
            </a:r>
          </a:p>
        </p:txBody>
      </p:sp>
      <p:sp>
        <p:nvSpPr>
          <p:cNvPr id="20" name="candidate-coords-cell-bg-2-1">
            <a:extLst xmlns:a="http://schemas.openxmlformats.org/drawingml/2006/main">
              <a:ext uri="{FF2B5EF4-FFF2-40B4-BE49-F238E27FC236}">
                <a16:creationId xmlns:a16="http://schemas.microsoft.com/office/drawing/2014/main" id="{5158FC61-23B4-4BA6-8E8C-B34DB80E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14850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1" name="candidate-coords-cell-2-1">
            <a:extLst xmlns:a="http://schemas.openxmlformats.org/drawingml/2006/main">
              <a:ext uri="{FF2B5EF4-FFF2-40B4-BE49-F238E27FC236}">
                <a16:creationId xmlns:a16="http://schemas.microsoft.com/office/drawing/2014/main" id="{5D0996D6-6041-4233-A1F3-F812E2D8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591050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MmMapIoSpace at RVA 0x1942</a:t>
            </a:r>
          </a:p>
        </p:txBody>
      </p:sp>
      <p:sp>
        <p:nvSpPr>
          <p:cNvPr id="22" name="candidate-coords-cell-bg-3-0">
            <a:extLst xmlns:a="http://schemas.openxmlformats.org/drawingml/2006/main">
              <a:ext uri="{FF2B5EF4-FFF2-40B4-BE49-F238E27FC236}">
                <a16:creationId xmlns:a16="http://schemas.microsoft.com/office/drawing/2014/main" id="{4612AFD2-6495-43EE-86FB-E7F990B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3" name="candidate-coords-cell-3-0">
            <a:extLst xmlns:a="http://schemas.openxmlformats.org/drawingml/2006/main">
              <a:ext uri="{FF2B5EF4-FFF2-40B4-BE49-F238E27FC236}">
                <a16:creationId xmlns:a16="http://schemas.microsoft.com/office/drawing/2014/main" id="{AF5D6689-04A8-4B2E-A2CB-D73D1748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2105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Obligation</a:t>
            </a:r>
          </a:p>
        </p:txBody>
      </p:sp>
      <p:sp>
        <p:nvSpPr>
          <p:cNvPr id="24" name="candidate-coords-cell-bg-3-1">
            <a:extLst xmlns:a="http://schemas.openxmlformats.org/drawingml/2006/main">
              <a:ext uri="{FF2B5EF4-FFF2-40B4-BE49-F238E27FC236}">
                <a16:creationId xmlns:a16="http://schemas.microsoft.com/office/drawing/2014/main" id="{74F681D5-6D55-4B77-A3BC-008CDFE9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91100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5" name="candidate-coords-cell-3-1">
            <a:extLst xmlns:a="http://schemas.openxmlformats.org/drawingml/2006/main">
              <a:ext uri="{FF2B5EF4-FFF2-40B4-BE49-F238E27FC236}">
                <a16:creationId xmlns:a16="http://schemas.microsoft.com/office/drawing/2014/main" id="{4299F91D-8BD7-4C20-BD53-32CE1659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067300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physical_memory.address_control</a:t>
            </a:r>
          </a:p>
        </p:txBody>
      </p:sp>
      <p:sp>
        <p:nvSpPr>
          <p:cNvPr id="26" name="candidate-profile-panel">
            <a:extLst xmlns:a="http://schemas.openxmlformats.org/drawingml/2006/main">
              <a:ext uri="{FF2B5EF4-FFF2-40B4-BE49-F238E27FC236}">
                <a16:creationId xmlns:a16="http://schemas.microsoft.com/office/drawing/2014/main" id="{DFF6E144-449E-406E-AB18-F62AEC28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81150"/>
            <a:ext cx="50292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andidate-profile-title">
            <a:extLst xmlns:a="http://schemas.openxmlformats.org/drawingml/2006/main">
              <a:ext uri="{FF2B5EF4-FFF2-40B4-BE49-F238E27FC236}">
                <a16:creationId xmlns:a16="http://schemas.microsoft.com/office/drawing/2014/main" id="{30C356C6-E753-44CB-A9F9-87F2B436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859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this case is runnable</a:t>
            </a:r>
          </a:p>
        </p:txBody>
      </p:sp>
      <p:sp>
        <p:nvSpPr>
          <p:cNvPr id="28" name="candidate-profile-body">
            <a:extLst xmlns:a="http://schemas.openxmlformats.org/drawingml/2006/main">
              <a:ext uri="{FF2B5EF4-FFF2-40B4-BE49-F238E27FC236}">
                <a16:creationId xmlns:a16="http://schemas.microsoft.com/office/drawing/2014/main" id="{B7860388-4C29-4EAE-BDCE-AEFA1D47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43815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METHOD_BUFFERED</a:t>
            </a:r>
          </a:p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4-byte input / 4-byte output</a:t>
            </a:r>
          </a:p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 IOCTL case and request offset</a:t>
            </a:r>
          </a:p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Request-controlled required operand</a:t>
            </a:r>
          </a:p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Proof strength: local_exact</a:t>
            </a:r>
          </a:p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Oracle: mm_map_observer</a:t>
            </a:r>
          </a:p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Lane: tcg_test_device</a:t>
            </a:r>
          </a:p>
        </p:txBody>
      </p:sp>
      <p:sp>
        <p:nvSpPr>
          <p:cNvPr id="29" name="candidate-profile-footer">
            <a:extLst xmlns:a="http://schemas.openxmlformats.org/drawingml/2006/main">
              <a:ext uri="{FF2B5EF4-FFF2-40B4-BE49-F238E27FC236}">
                <a16:creationId xmlns:a16="http://schemas.microsoft.com/office/drawing/2014/main" id="{FA423B81-8FBD-4B87-AAAA-381E461B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293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82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This candidate has one continuous identity across handler, selector, case, sink, obligation, recipe, and runtime observation.</a:t>
            </a:r>
          </a:p>
        </p:txBody>
      </p:sp>
    </p:spTree>
    <p:extLst>
      <p:ext uri="{BB962C8B-B14F-4D97-AF65-F5344CB8AC3E}">
        <p14:creationId xmlns:p14="http://schemas.microsoft.com/office/powerpoint/2010/main" val="15955061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6">
            <a:extLst xmlns:a="http://schemas.openxmlformats.org/drawingml/2006/main">
              <a:ext uri="{FF2B5EF4-FFF2-40B4-BE49-F238E27FC236}">
                <a16:creationId xmlns:a16="http://schemas.microsoft.com/office/drawing/2014/main" id="{B6C13873-BF1C-461A-A577-7531898E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LIFE OF THE CANDIDATE — CONTROL FLOW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70308C48-B8A0-4F99-8F68-42302E94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1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selected IOCTL reaches MmMapIoSpace on an exact path</a:t>
            </a:r>
          </a:p>
        </p:txBody>
      </p:sp>
      <p:sp>
        <p:nvSpPr>
          <p:cNvPr id="3" name="footer-16">
            <a:extLst xmlns:a="http://schemas.openxmlformats.org/drawingml/2006/main">
              <a:ext uri="{FF2B5EF4-FFF2-40B4-BE49-F238E27FC236}">
                <a16:creationId xmlns:a16="http://schemas.microsoft.com/office/drawing/2014/main" id="{10A70F18-63DC-4C38-B998-683A6682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cxnSp>
        <p:nvCxnSpPr>
          <p:cNvPr id="33" name="lha-control-path-edge-1"/>
          <p:cNvCxnSpPr/>
          <p:nvPr/>
        </p:nvCxnSpPr>
        <p:spPr>
          <a:xfrm xmlns:a="http://schemas.openxmlformats.org/drawingml/2006/main">
            <a:off x="2526030" y="26098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4" name="lha-control-path-edge-2"/>
          <p:cNvCxnSpPr/>
          <p:nvPr/>
        </p:nvCxnSpPr>
        <p:spPr>
          <a:xfrm xmlns:a="http://schemas.openxmlformats.org/drawingml/2006/main">
            <a:off x="4842510" y="26098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5" name="lha-control-path-edge-3"/>
          <p:cNvCxnSpPr/>
          <p:nvPr/>
        </p:nvCxnSpPr>
        <p:spPr>
          <a:xfrm xmlns:a="http://schemas.openxmlformats.org/drawingml/2006/main">
            <a:off x="7158990" y="26098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6" name="lha-control-path-edge-4"/>
          <p:cNvCxnSpPr/>
          <p:nvPr/>
        </p:nvCxnSpPr>
        <p:spPr>
          <a:xfrm xmlns:a="http://schemas.openxmlformats.org/drawingml/2006/main">
            <a:off x="9475470" y="26098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8" name="lha-control-path-node-1">
            <a:extLst xmlns:a="http://schemas.openxmlformats.org/drawingml/2006/main">
              <a:ext uri="{FF2B5EF4-FFF2-40B4-BE49-F238E27FC236}">
                <a16:creationId xmlns:a16="http://schemas.microsoft.com/office/drawing/2014/main" id="{00EDC2A8-C49E-45DD-81D8-17E872AA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ha-control-path-node-num-1">
            <a:extLst xmlns:a="http://schemas.openxmlformats.org/drawingml/2006/main">
              <a:ext uri="{FF2B5EF4-FFF2-40B4-BE49-F238E27FC236}">
                <a16:creationId xmlns:a16="http://schemas.microsoft.com/office/drawing/2014/main" id="{DA56FA36-CD69-468D-8F12-21D7D402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HANDLER</a:t>
            </a:r>
          </a:p>
        </p:txBody>
      </p:sp>
      <p:sp>
        <p:nvSpPr>
          <p:cNvPr id="10" name="lha-control-path-node-title-1">
            <a:extLst xmlns:a="http://schemas.openxmlformats.org/drawingml/2006/main">
              <a:ext uri="{FF2B5EF4-FFF2-40B4-BE49-F238E27FC236}">
                <a16:creationId xmlns:a16="http://schemas.microsoft.com/office/drawing/2014/main" id="{AE37754D-C521-42DA-BA9F-D4D8AFD8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RVA 0x1738</a:t>
            </a:r>
          </a:p>
        </p:txBody>
      </p:sp>
      <p:sp>
        <p:nvSpPr>
          <p:cNvPr id="11" name="lha-control-path-node-2">
            <a:extLst xmlns:a="http://schemas.openxmlformats.org/drawingml/2006/main">
              <a:ext uri="{FF2B5EF4-FFF2-40B4-BE49-F238E27FC236}">
                <a16:creationId xmlns:a16="http://schemas.microsoft.com/office/drawing/2014/main" id="{9BCA74CD-A37E-47F1-B812-EAEF4382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198120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ha-control-path-node-num-2">
            <a:extLst xmlns:a="http://schemas.openxmlformats.org/drawingml/2006/main">
              <a:ext uri="{FF2B5EF4-FFF2-40B4-BE49-F238E27FC236}">
                <a16:creationId xmlns:a16="http://schemas.microsoft.com/office/drawing/2014/main" id="{058F2195-BB75-4498-BA45-CE1EBA19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1455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SELECTOR</a:t>
            </a:r>
          </a:p>
        </p:txBody>
      </p:sp>
      <p:sp>
        <p:nvSpPr>
          <p:cNvPr id="13" name="lha-control-path-node-title-2">
            <a:extLst xmlns:a="http://schemas.openxmlformats.org/drawingml/2006/main">
              <a:ext uri="{FF2B5EF4-FFF2-40B4-BE49-F238E27FC236}">
                <a16:creationId xmlns:a16="http://schemas.microsoft.com/office/drawing/2014/main" id="{DF647B08-72EB-4BDB-A952-0BEA0F59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4574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RVA 0x1901</a:t>
            </a:r>
          </a:p>
        </p:txBody>
      </p:sp>
      <p:sp>
        <p:nvSpPr>
          <p:cNvPr id="14" name="lha-control-path-node-3">
            <a:extLst xmlns:a="http://schemas.openxmlformats.org/drawingml/2006/main">
              <a:ext uri="{FF2B5EF4-FFF2-40B4-BE49-F238E27FC236}">
                <a16:creationId xmlns:a16="http://schemas.microsoft.com/office/drawing/2014/main" id="{622ACB61-BB09-44F6-99DC-21B7FAF1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198120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ha-control-path-node-num-3">
            <a:extLst xmlns:a="http://schemas.openxmlformats.org/drawingml/2006/main">
              <a:ext uri="{FF2B5EF4-FFF2-40B4-BE49-F238E27FC236}">
                <a16:creationId xmlns:a16="http://schemas.microsoft.com/office/drawing/2014/main" id="{167F91F1-4A74-41A1-8EC7-0D0AB59F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11455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16" name="lha-control-path-node-title-3">
            <a:extLst xmlns:a="http://schemas.openxmlformats.org/drawingml/2006/main">
              <a:ext uri="{FF2B5EF4-FFF2-40B4-BE49-F238E27FC236}">
                <a16:creationId xmlns:a16="http://schemas.microsoft.com/office/drawing/2014/main" id="{60827F7B-F6E1-42E4-9002-F99D5F69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4574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0x9c402fa8</a:t>
            </a:r>
          </a:p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RVA 0x190d</a:t>
            </a:r>
          </a:p>
        </p:txBody>
      </p:sp>
      <p:sp>
        <p:nvSpPr>
          <p:cNvPr id="17" name="lha-control-path-node-4">
            <a:extLst xmlns:a="http://schemas.openxmlformats.org/drawingml/2006/main">
              <a:ext uri="{FF2B5EF4-FFF2-40B4-BE49-F238E27FC236}">
                <a16:creationId xmlns:a16="http://schemas.microsoft.com/office/drawing/2014/main" id="{8E0CDDBA-068F-44E2-9B64-A259989D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98120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ha-control-path-node-num-4">
            <a:extLst xmlns:a="http://schemas.openxmlformats.org/drawingml/2006/main">
              <a:ext uri="{FF2B5EF4-FFF2-40B4-BE49-F238E27FC236}">
                <a16:creationId xmlns:a16="http://schemas.microsoft.com/office/drawing/2014/main" id="{D0E79CA6-A4DD-4335-AA34-5D666A7E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211455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19" name="lha-control-path-node-title-4">
            <a:extLst xmlns:a="http://schemas.openxmlformats.org/drawingml/2006/main">
              <a:ext uri="{FF2B5EF4-FFF2-40B4-BE49-F238E27FC236}">
                <a16:creationId xmlns:a16="http://schemas.microsoft.com/office/drawing/2014/main" id="{C70BE108-35E6-4457-8194-F6A8E103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24574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SystemBuffer</a:t>
            </a:r>
          </a:p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[0..3]</a:t>
            </a:r>
          </a:p>
        </p:txBody>
      </p:sp>
      <p:sp>
        <p:nvSpPr>
          <p:cNvPr id="20" name="lha-control-path-node-5">
            <a:extLst xmlns:a="http://schemas.openxmlformats.org/drawingml/2006/main">
              <a:ext uri="{FF2B5EF4-FFF2-40B4-BE49-F238E27FC236}">
                <a16:creationId xmlns:a16="http://schemas.microsoft.com/office/drawing/2014/main" id="{83DE432F-9704-44B1-BCBD-48863FD3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198120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ha-control-path-node-num-5">
            <a:extLst xmlns:a="http://schemas.openxmlformats.org/drawingml/2006/main">
              <a:ext uri="{FF2B5EF4-FFF2-40B4-BE49-F238E27FC236}">
                <a16:creationId xmlns:a16="http://schemas.microsoft.com/office/drawing/2014/main" id="{E6B73553-9BC7-411B-B3A9-16BBF2EC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211455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SINK</a:t>
            </a:r>
          </a:p>
        </p:txBody>
      </p:sp>
      <p:sp>
        <p:nvSpPr>
          <p:cNvPr id="22" name="lha-control-path-node-title-5">
            <a:extLst xmlns:a="http://schemas.openxmlformats.org/drawingml/2006/main">
              <a:ext uri="{FF2B5EF4-FFF2-40B4-BE49-F238E27FC236}">
                <a16:creationId xmlns:a16="http://schemas.microsoft.com/office/drawing/2014/main" id="{DA57E9EE-ED59-44BC-9233-B715B550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24574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MmMapIoSpace</a:t>
            </a:r>
          </a:p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RVA 0x1942</a:t>
            </a:r>
          </a:p>
        </p:txBody>
      </p:sp>
      <p:sp>
        <p:nvSpPr>
          <p:cNvPr id="23" name="control-metrics-value-0">
            <a:extLst xmlns:a="http://schemas.openxmlformats.org/drawingml/2006/main">
              <a:ext uri="{FF2B5EF4-FFF2-40B4-BE49-F238E27FC236}">
                <a16:creationId xmlns:a16="http://schemas.microsoft.com/office/drawing/2014/main" id="{A2800B38-2D03-415D-987C-04DA985C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00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Exact</a:t>
            </a:r>
          </a:p>
        </p:txBody>
      </p:sp>
      <p:sp>
        <p:nvSpPr>
          <p:cNvPr id="24" name="control-metrics-label-0">
            <a:extLst xmlns:a="http://schemas.openxmlformats.org/drawingml/2006/main">
              <a:ext uri="{FF2B5EF4-FFF2-40B4-BE49-F238E27FC236}">
                <a16:creationId xmlns:a16="http://schemas.microsoft.com/office/drawing/2014/main" id="{C6B45954-0FA3-4FEA-B475-F97D895F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244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case selector and entry</a:t>
            </a:r>
          </a:p>
        </p:txBody>
      </p:sp>
      <p:sp>
        <p:nvSpPr>
          <p:cNvPr id="25" name="control-metrics-value-1">
            <a:extLst xmlns:a="http://schemas.openxmlformats.org/drawingml/2006/main">
              <a:ext uri="{FF2B5EF4-FFF2-40B4-BE49-F238E27FC236}">
                <a16:creationId xmlns:a16="http://schemas.microsoft.com/office/drawing/2014/main" id="{ED6B3C6D-7800-4463-83F5-5C3B8319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Exact</a:t>
            </a:r>
          </a:p>
        </p:txBody>
      </p:sp>
      <p:sp>
        <p:nvSpPr>
          <p:cNvPr id="26" name="control-metrics-label-1">
            <a:extLst xmlns:a="http://schemas.openxmlformats.org/drawingml/2006/main">
              <a:ext uri="{FF2B5EF4-FFF2-40B4-BE49-F238E27FC236}">
                <a16:creationId xmlns:a16="http://schemas.microsoft.com/office/drawing/2014/main" id="{5F132E90-59F8-4149-B35E-5EEBB41C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244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request layout and offset</a:t>
            </a:r>
          </a:p>
        </p:txBody>
      </p:sp>
      <p:sp>
        <p:nvSpPr>
          <p:cNvPr id="27" name="control-metrics-value-2">
            <a:extLst xmlns:a="http://schemas.openxmlformats.org/drawingml/2006/main">
              <a:ext uri="{FF2B5EF4-FFF2-40B4-BE49-F238E27FC236}">
                <a16:creationId xmlns:a16="http://schemas.microsoft.com/office/drawing/2014/main" id="{B2D76E37-E886-4740-8522-84609785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00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Instrumented</a:t>
            </a:r>
          </a:p>
        </p:txBody>
      </p:sp>
      <p:sp>
        <p:nvSpPr>
          <p:cNvPr id="28" name="control-metrics-label-2">
            <a:extLst xmlns:a="http://schemas.openxmlformats.org/drawingml/2006/main">
              <a:ext uri="{FF2B5EF4-FFF2-40B4-BE49-F238E27FC236}">
                <a16:creationId xmlns:a16="http://schemas.microsoft.com/office/drawing/2014/main" id="{F15EEAD0-2B3B-48D4-BA91-B8E4F7BA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244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physical-memory sink</a:t>
            </a:r>
          </a:p>
        </p:txBody>
      </p:sp>
      <p:sp>
        <p:nvSpPr>
          <p:cNvPr id="29" name="control-meaning">
            <a:extLst xmlns:a="http://schemas.openxmlformats.org/drawingml/2006/main">
              <a:ext uri="{FF2B5EF4-FFF2-40B4-BE49-F238E27FC236}">
                <a16:creationId xmlns:a16="http://schemas.microsoft.com/office/drawing/2014/main" id="{5E0D4041-F033-4877-94E2-DB37E9E4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816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path is not inferred from a driver-wide import. It is tied to one handler, one selector, one case entry, one request load, and one sink callsite.</a:t>
            </a:r>
          </a:p>
        </p:txBody>
      </p:sp>
    </p:spTree>
    <p:extLst>
      <p:ext uri="{BB962C8B-B14F-4D97-AF65-F5344CB8AC3E}">
        <p14:creationId xmlns:p14="http://schemas.microsoft.com/office/powerpoint/2010/main" val="18604753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7">
            <a:extLst xmlns:a="http://schemas.openxmlformats.org/drawingml/2006/main">
              <a:ext uri="{FF2B5EF4-FFF2-40B4-BE49-F238E27FC236}">
                <a16:creationId xmlns:a16="http://schemas.microsoft.com/office/drawing/2014/main" id="{0737C203-7E32-4129-A34C-4388C963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LHA.SYS — TAINT PATH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FA2771EC-99D8-4EE7-853E-AB5C9A09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 request bytes control the physical-address operand</a:t>
            </a:r>
          </a:p>
        </p:txBody>
      </p:sp>
      <p:sp>
        <p:nvSpPr>
          <p:cNvPr id="3" name="footer-17">
            <a:extLst xmlns:a="http://schemas.openxmlformats.org/drawingml/2006/main">
              <a:ext uri="{FF2B5EF4-FFF2-40B4-BE49-F238E27FC236}">
                <a16:creationId xmlns:a16="http://schemas.microsoft.com/office/drawing/2014/main" id="{DCAD5384-3E4E-4FB0-879A-3FE11055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cxnSp>
        <p:nvCxnSpPr>
          <p:cNvPr id="32" name="taint-edge-1"/>
          <p:cNvCxnSpPr/>
          <p:nvPr/>
        </p:nvCxnSpPr>
        <p:spPr>
          <a:xfrm xmlns:a="http://schemas.openxmlformats.org/drawingml/2006/main">
            <a:off x="3295650" y="232410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3" name="taint-edge-2"/>
          <p:cNvCxnSpPr/>
          <p:nvPr/>
        </p:nvCxnSpPr>
        <p:spPr>
          <a:xfrm xmlns:a="http://schemas.openxmlformats.org/drawingml/2006/main">
            <a:off x="7372350" y="232410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4" name="taint-edge-3"/>
          <p:cNvCxnSpPr/>
          <p:nvPr/>
        </p:nvCxnSpPr>
        <p:spPr>
          <a:xfrm xmlns:a="http://schemas.openxmlformats.org/drawingml/2006/main">
            <a:off x="10163175" y="2838450"/>
            <a:ext cx="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5" name="taint-edge-4"/>
          <p:cNvCxnSpPr/>
          <p:nvPr/>
        </p:nvCxnSpPr>
        <p:spPr>
          <a:xfrm xmlns:a="http://schemas.openxmlformats.org/drawingml/2006/main">
            <a:off x="7372350" y="451485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6" name="taint-edge-5"/>
          <p:cNvCxnSpPr/>
          <p:nvPr/>
        </p:nvCxnSpPr>
        <p:spPr>
          <a:xfrm xmlns:a="http://schemas.openxmlformats.org/drawingml/2006/main">
            <a:off x="3295650" y="451485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9" name="taint-user-panel">
            <a:extLst xmlns:a="http://schemas.openxmlformats.org/drawingml/2006/main">
              <a:ext uri="{FF2B5EF4-FFF2-40B4-BE49-F238E27FC236}">
                <a16:creationId xmlns:a16="http://schemas.microsoft.com/office/drawing/2014/main" id="{67DF9D37-B809-4647-A471-F820ED5C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int-user-title">
            <a:extLst xmlns:a="http://schemas.openxmlformats.org/drawingml/2006/main">
              <a:ext uri="{FF2B5EF4-FFF2-40B4-BE49-F238E27FC236}">
                <a16:creationId xmlns:a16="http://schemas.microsoft.com/office/drawing/2014/main" id="{5E775272-BA2E-4201-8B48-DC2AFEED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input</a:t>
            </a:r>
          </a:p>
        </p:txBody>
      </p:sp>
      <p:sp>
        <p:nvSpPr>
          <p:cNvPr id="11" name="taint-user-subtitle">
            <a:extLst xmlns:a="http://schemas.openxmlformats.org/drawingml/2006/main">
              <a:ext uri="{FF2B5EF4-FFF2-40B4-BE49-F238E27FC236}">
                <a16:creationId xmlns:a16="http://schemas.microsoft.com/office/drawing/2014/main" id="{023792F4-8B72-4251-B42F-8A68F341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4 request bytes</a:t>
            </a:r>
          </a:p>
        </p:txBody>
      </p:sp>
      <p:sp>
        <p:nvSpPr>
          <p:cNvPr id="12" name="taint-sys-panel">
            <a:extLst xmlns:a="http://schemas.openxmlformats.org/drawingml/2006/main">
              <a:ext uri="{FF2B5EF4-FFF2-40B4-BE49-F238E27FC236}">
                <a16:creationId xmlns:a16="http://schemas.microsoft.com/office/drawing/2014/main" id="{FF3EA064-6952-413E-9EF9-9625BCB6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int-sys-title">
            <a:extLst xmlns:a="http://schemas.openxmlformats.org/drawingml/2006/main">
              <a:ext uri="{FF2B5EF4-FFF2-40B4-BE49-F238E27FC236}">
                <a16:creationId xmlns:a16="http://schemas.microsoft.com/office/drawing/2014/main" id="{2E1C1772-DADF-47F1-A18C-35D55D72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812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SystemBuffer + 0</a:t>
            </a:r>
          </a:p>
        </p:txBody>
      </p:sp>
      <p:sp>
        <p:nvSpPr>
          <p:cNvPr id="14" name="taint-sys-subtitle">
            <a:extLst xmlns:a="http://schemas.openxmlformats.org/drawingml/2006/main">
              <a:ext uri="{FF2B5EF4-FFF2-40B4-BE49-F238E27FC236}">
                <a16:creationId xmlns:a16="http://schemas.microsoft.com/office/drawing/2014/main" id="{AC3A7EA4-02DF-4AEE-9E7C-E6C16E5F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request object + offset</a:t>
            </a:r>
          </a:p>
        </p:txBody>
      </p:sp>
      <p:sp>
        <p:nvSpPr>
          <p:cNvPr id="15" name="taint-load-panel">
            <a:extLst xmlns:a="http://schemas.openxmlformats.org/drawingml/2006/main">
              <a:ext uri="{FF2B5EF4-FFF2-40B4-BE49-F238E27FC236}">
                <a16:creationId xmlns:a16="http://schemas.microsoft.com/office/drawing/2014/main" id="{766EE1CB-E1C3-47FE-928B-D85C75BC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int-load-title">
            <a:extLst xmlns:a="http://schemas.openxmlformats.org/drawingml/2006/main">
              <a:ext uri="{FF2B5EF4-FFF2-40B4-BE49-F238E27FC236}">
                <a16:creationId xmlns:a16="http://schemas.microsoft.com/office/drawing/2014/main" id="{9132790B-DA27-4C5C-8D3D-27E08E0D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812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load32(…)</a:t>
            </a:r>
          </a:p>
        </p:txBody>
      </p:sp>
      <p:sp>
        <p:nvSpPr>
          <p:cNvPr id="17" name="taint-load-subtitle">
            <a:extLst xmlns:a="http://schemas.openxmlformats.org/drawingml/2006/main">
              <a:ext uri="{FF2B5EF4-FFF2-40B4-BE49-F238E27FC236}">
                <a16:creationId xmlns:a16="http://schemas.microsoft.com/office/drawing/2014/main" id="{218516E5-5D2C-4785-8024-80392E5B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width = 4 bytes</a:t>
            </a:r>
          </a:p>
        </p:txBody>
      </p:sp>
      <p:sp>
        <p:nvSpPr>
          <p:cNvPr id="18" name="taint-zext-panel">
            <a:extLst xmlns:a="http://schemas.openxmlformats.org/drawingml/2006/main">
              <a:ext uri="{FF2B5EF4-FFF2-40B4-BE49-F238E27FC236}">
                <a16:creationId xmlns:a16="http://schemas.microsoft.com/office/drawing/2014/main" id="{67A321C3-B0AA-461A-B229-11C39B3D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int-zext-title">
            <a:extLst xmlns:a="http://schemas.openxmlformats.org/drawingml/2006/main">
              <a:ext uri="{FF2B5EF4-FFF2-40B4-BE49-F238E27FC236}">
                <a16:creationId xmlns:a16="http://schemas.microsoft.com/office/drawing/2014/main" id="{B68B6A04-A362-4540-B6A0-B8AD9156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719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zext64(…)</a:t>
            </a:r>
          </a:p>
        </p:txBody>
      </p:sp>
      <p:sp>
        <p:nvSpPr>
          <p:cNvPr id="20" name="taint-zext-subtitle">
            <a:extLst xmlns:a="http://schemas.openxmlformats.org/drawingml/2006/main">
              <a:ext uri="{FF2B5EF4-FFF2-40B4-BE49-F238E27FC236}">
                <a16:creationId xmlns:a16="http://schemas.microsoft.com/office/drawing/2014/main" id="{30D9A1A1-3A56-459F-B474-0E462CD9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91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supported exact transform</a:t>
            </a:r>
          </a:p>
        </p:txBody>
      </p:sp>
      <p:sp>
        <p:nvSpPr>
          <p:cNvPr id="21" name="taint-arg-panel">
            <a:extLst xmlns:a="http://schemas.openxmlformats.org/drawingml/2006/main">
              <a:ext uri="{FF2B5EF4-FFF2-40B4-BE49-F238E27FC236}">
                <a16:creationId xmlns:a16="http://schemas.microsoft.com/office/drawing/2014/main" id="{558437A6-A751-4C9E-A39E-60A1E0B9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0050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int-arg-title">
            <a:extLst xmlns:a="http://schemas.openxmlformats.org/drawingml/2006/main">
              <a:ext uri="{FF2B5EF4-FFF2-40B4-BE49-F238E27FC236}">
                <a16:creationId xmlns:a16="http://schemas.microsoft.com/office/drawing/2014/main" id="{54E9A723-DF1C-4ED6-99EB-5F2D27FE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719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MmMapIoSpace arg0</a:t>
            </a:r>
          </a:p>
        </p:txBody>
      </p:sp>
      <p:sp>
        <p:nvSpPr>
          <p:cNvPr id="23" name="taint-arg-subtitle">
            <a:extLst xmlns:a="http://schemas.openxmlformats.org/drawingml/2006/main">
              <a:ext uri="{FF2B5EF4-FFF2-40B4-BE49-F238E27FC236}">
                <a16:creationId xmlns:a16="http://schemas.microsoft.com/office/drawing/2014/main" id="{C2B0F7FF-1F48-47E0-B8D7-4B22F1C2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91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controllable = true</a:t>
            </a:r>
          </a:p>
        </p:txBody>
      </p:sp>
      <p:sp>
        <p:nvSpPr>
          <p:cNvPr id="24" name="taint-obl-panel">
            <a:extLst xmlns:a="http://schemas.openxmlformats.org/drawingml/2006/main">
              <a:ext uri="{FF2B5EF4-FFF2-40B4-BE49-F238E27FC236}">
                <a16:creationId xmlns:a16="http://schemas.microsoft.com/office/drawing/2014/main" id="{0E9B4519-6A10-4AE5-859C-371443C4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int-obl-title">
            <a:extLst xmlns:a="http://schemas.openxmlformats.org/drawingml/2006/main">
              <a:ext uri="{FF2B5EF4-FFF2-40B4-BE49-F238E27FC236}">
                <a16:creationId xmlns:a16="http://schemas.microsoft.com/office/drawing/2014/main" id="{7D5B9DEA-FE4B-4D36-BA92-EB79221D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Address obligation</a:t>
            </a:r>
          </a:p>
        </p:txBody>
      </p:sp>
      <p:sp>
        <p:nvSpPr>
          <p:cNvPr id="26" name="taint-obl-subtitle">
            <a:extLst xmlns:a="http://schemas.openxmlformats.org/drawingml/2006/main">
              <a:ext uri="{FF2B5EF4-FFF2-40B4-BE49-F238E27FC236}">
                <a16:creationId xmlns:a16="http://schemas.microsoft.com/office/drawing/2014/main" id="{BEAB0351-7B45-47CB-96C9-75108FE3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rooted = true  •  proven = true</a:t>
            </a:r>
          </a:p>
        </p:txBody>
      </p:sp>
      <p:sp>
        <p:nvSpPr>
          <p:cNvPr id="27" name="taint-expression-bg">
            <a:extLst xmlns:a="http://schemas.openxmlformats.org/drawingml/2006/main">
              <a:ext uri="{FF2B5EF4-FFF2-40B4-BE49-F238E27FC236}">
                <a16:creationId xmlns:a16="http://schemas.microsoft.com/office/drawing/2014/main" id="{4D9CD3EB-D086-41AB-A9F9-6EC34E2C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24500"/>
            <a:ext cx="6934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1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int-expression-text">
            <a:extLst xmlns:a="http://schemas.openxmlformats.org/drawingml/2006/main">
              <a:ext uri="{FF2B5EF4-FFF2-40B4-BE49-F238E27FC236}">
                <a16:creationId xmlns:a16="http://schemas.microsoft.com/office/drawing/2014/main" id="{E7C94751-0AA9-40EA-A56B-726DC2C4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CE7F5"/>
                </a:solidFill>
                <a:latin typeface="Arial"/>
                <a:ea typeface="Arial"/>
                <a:cs typeface="Arial"/>
              </a:rPr>
              <a:t>zext64(load32(irp.AssociatedIrp.SystemBuffer))</a:t>
            </a:r>
          </a:p>
        </p:txBody>
      </p:sp>
    </p:spTree>
    <p:extLst>
      <p:ext uri="{BB962C8B-B14F-4D97-AF65-F5344CB8AC3E}">
        <p14:creationId xmlns:p14="http://schemas.microsoft.com/office/powerpoint/2010/main" val="8393853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8">
            <a:extLst xmlns:a="http://schemas.openxmlformats.org/drawingml/2006/main">
              <a:ext uri="{FF2B5EF4-FFF2-40B4-BE49-F238E27FC236}">
                <a16:creationId xmlns:a16="http://schemas.microsoft.com/office/drawing/2014/main" id="{4C59D877-6442-4DB4-991A-47D185FD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LIFE OF THE CANDIDATE — REQUEST SYNTHESIS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6283BF74-B476-4559-8686-0F3C7D19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 4 turns the witness into a concrete request</a:t>
            </a:r>
          </a:p>
        </p:txBody>
      </p:sp>
      <p:sp>
        <p:nvSpPr>
          <p:cNvPr id="3" name="footer-18">
            <a:extLst xmlns:a="http://schemas.openxmlformats.org/drawingml/2006/main">
              <a:ext uri="{FF2B5EF4-FFF2-40B4-BE49-F238E27FC236}">
                <a16:creationId xmlns:a16="http://schemas.microsoft.com/office/drawing/2014/main" id="{65751C8A-E101-43CC-A59E-AE0DEC45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cxnSp>
        <p:nvCxnSpPr>
          <p:cNvPr id="34" name="req-edge-1"/>
          <p:cNvCxnSpPr/>
          <p:nvPr/>
        </p:nvCxnSpPr>
        <p:spPr>
          <a:xfrm xmlns:a="http://schemas.openxmlformats.org/drawingml/2006/main">
            <a:off x="3048000" y="25717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5" name="req-edge-2"/>
          <p:cNvCxnSpPr/>
          <p:nvPr/>
        </p:nvCxnSpPr>
        <p:spPr>
          <a:xfrm xmlns:a="http://schemas.openxmlformats.org/drawingml/2006/main">
            <a:off x="6248400" y="25717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6" name="req-edge-3"/>
          <p:cNvCxnSpPr/>
          <p:nvPr/>
        </p:nvCxnSpPr>
        <p:spPr>
          <a:xfrm xmlns:a="http://schemas.openxmlformats.org/drawingml/2006/main">
            <a:off x="9448800" y="25717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7" name="req-provider-panel">
            <a:extLst xmlns:a="http://schemas.openxmlformats.org/drawingml/2006/main">
              <a:ext uri="{FF2B5EF4-FFF2-40B4-BE49-F238E27FC236}">
                <a16:creationId xmlns:a16="http://schemas.microsoft.com/office/drawing/2014/main" id="{D6CF858B-33D2-45DE-B89B-27E08EE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647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q-provider-title">
            <a:extLst xmlns:a="http://schemas.openxmlformats.org/drawingml/2006/main">
              <a:ext uri="{FF2B5EF4-FFF2-40B4-BE49-F238E27FC236}">
                <a16:creationId xmlns:a16="http://schemas.microsoft.com/office/drawing/2014/main" id="{8CF21E1D-25E8-417D-8E93-82BB5B88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Mapped test page</a:t>
            </a:r>
          </a:p>
        </p:txBody>
      </p:sp>
      <p:sp>
        <p:nvSpPr>
          <p:cNvPr id="9" name="req-provider-subtitle">
            <a:extLst xmlns:a="http://schemas.openxmlformats.org/drawingml/2006/main">
              <a:ext uri="{FF2B5EF4-FFF2-40B4-BE49-F238E27FC236}">
                <a16:creationId xmlns:a16="http://schemas.microsoft.com/office/drawing/2014/main" id="{40C9EDB2-A4C1-4DCC-9C7E-D4F7D2F6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4096 bytes • ks_test_pci_v1</a:t>
            </a:r>
          </a:p>
        </p:txBody>
      </p:sp>
      <p:sp>
        <p:nvSpPr>
          <p:cNvPr id="10" name="req-address-panel">
            <a:extLst xmlns:a="http://schemas.openxmlformats.org/drawingml/2006/main">
              <a:ext uri="{FF2B5EF4-FFF2-40B4-BE49-F238E27FC236}">
                <a16:creationId xmlns:a16="http://schemas.microsoft.com/office/drawing/2014/main" id="{18BF9929-C43C-4E9A-9AAB-45439DF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621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q-address-title">
            <a:extLst xmlns:a="http://schemas.openxmlformats.org/drawingml/2006/main">
              <a:ext uri="{FF2B5EF4-FFF2-40B4-BE49-F238E27FC236}">
                <a16:creationId xmlns:a16="http://schemas.microsoft.com/office/drawing/2014/main" id="{6E54FDE3-05F4-4671-A5DE-48F9542B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336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Physical address</a:t>
            </a:r>
          </a:p>
        </p:txBody>
      </p:sp>
      <p:sp>
        <p:nvSpPr>
          <p:cNvPr id="12" name="req-address-subtitle">
            <a:extLst xmlns:a="http://schemas.openxmlformats.org/drawingml/2006/main">
              <a:ext uri="{FF2B5EF4-FFF2-40B4-BE49-F238E27FC236}">
                <a16:creationId xmlns:a16="http://schemas.microsoft.com/office/drawing/2014/main" id="{6F1E8A1D-E49F-489E-B93A-F0D978B2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527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provider-backed runtime value</a:t>
            </a:r>
          </a:p>
        </p:txBody>
      </p:sp>
      <p:sp>
        <p:nvSpPr>
          <p:cNvPr id="13" name="req-fixup-panel">
            <a:extLst xmlns:a="http://schemas.openxmlformats.org/drawingml/2006/main">
              <a:ext uri="{FF2B5EF4-FFF2-40B4-BE49-F238E27FC236}">
                <a16:creationId xmlns:a16="http://schemas.microsoft.com/office/drawing/2014/main" id="{B5CEB452-EB36-41BB-B4BC-3A55ABB9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q-fixup-title">
            <a:extLst xmlns:a="http://schemas.openxmlformats.org/drawingml/2006/main">
              <a:ext uri="{FF2B5EF4-FFF2-40B4-BE49-F238E27FC236}">
                <a16:creationId xmlns:a16="http://schemas.microsoft.com/office/drawing/2014/main" id="{21043D42-8B87-48E5-B120-1BB6C975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336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Pre-call fixup</a:t>
            </a:r>
          </a:p>
        </p:txBody>
      </p:sp>
      <p:sp>
        <p:nvSpPr>
          <p:cNvPr id="15" name="req-fixup-subtitle">
            <a:extLst xmlns:a="http://schemas.openxmlformats.org/drawingml/2006/main">
              <a:ext uri="{FF2B5EF4-FFF2-40B4-BE49-F238E27FC236}">
                <a16:creationId xmlns:a16="http://schemas.microsoft.com/office/drawing/2014/main" id="{9C76C96F-1E30-4DA6-A040-A8AB0694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527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write address at offset 0</a:t>
            </a:r>
          </a:p>
        </p:txBody>
      </p:sp>
      <p:sp>
        <p:nvSpPr>
          <p:cNvPr id="16" name="req-ioctl-panel">
            <a:extLst xmlns:a="http://schemas.openxmlformats.org/drawingml/2006/main">
              <a:ext uri="{FF2B5EF4-FFF2-40B4-BE49-F238E27FC236}">
                <a16:creationId xmlns:a16="http://schemas.microsoft.com/office/drawing/2014/main" id="{DE8379AE-6BEF-4BE8-8203-2BC2BCAA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62150"/>
            <a:ext cx="1714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q-ioctl-title">
            <a:extLst xmlns:a="http://schemas.openxmlformats.org/drawingml/2006/main">
              <a:ext uri="{FF2B5EF4-FFF2-40B4-BE49-F238E27FC236}">
                <a16:creationId xmlns:a16="http://schemas.microsoft.com/office/drawing/2014/main" id="{85300D3A-4354-4893-8001-01EE6C28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336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69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DeviceIoControl</a:t>
            </a:r>
          </a:p>
        </p:txBody>
      </p:sp>
      <p:sp>
        <p:nvSpPr>
          <p:cNvPr id="18" name="req-ioctl-subtitle">
            <a:extLst xmlns:a="http://schemas.openxmlformats.org/drawingml/2006/main">
              <a:ext uri="{FF2B5EF4-FFF2-40B4-BE49-F238E27FC236}">
                <a16:creationId xmlns:a16="http://schemas.microsoft.com/office/drawing/2014/main" id="{0021B3E3-42D8-4A7C-BBB5-365AD37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527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0x9c402fa8 • 4 in / 4 out</a:t>
            </a:r>
          </a:p>
        </p:txBody>
      </p:sp>
      <p:sp>
        <p:nvSpPr>
          <p:cNvPr id="19" name="req-bytes-title">
            <a:extLst xmlns:a="http://schemas.openxmlformats.org/drawingml/2006/main">
              <a:ext uri="{FF2B5EF4-FFF2-40B4-BE49-F238E27FC236}">
                <a16:creationId xmlns:a16="http://schemas.microsoft.com/office/drawing/2014/main" id="{3BFCE5C0-3B2F-4B5B-98A2-A91D9C63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671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Variant request buffer</a:t>
            </a:r>
          </a:p>
        </p:txBody>
      </p:sp>
      <p:sp>
        <p:nvSpPr>
          <p:cNvPr id="20" name="req-byte-bg-0">
            <a:extLst xmlns:a="http://schemas.openxmlformats.org/drawingml/2006/main">
              <a:ext uri="{FF2B5EF4-FFF2-40B4-BE49-F238E27FC236}">
                <a16:creationId xmlns:a16="http://schemas.microsoft.com/office/drawing/2014/main" id="{3422B82D-9FE1-481B-B91E-0A580960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386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req-byte-0">
            <a:extLst xmlns:a="http://schemas.openxmlformats.org/drawingml/2006/main">
              <a:ext uri="{FF2B5EF4-FFF2-40B4-BE49-F238E27FC236}">
                <a16:creationId xmlns:a16="http://schemas.microsoft.com/office/drawing/2014/main" id="{F374F2F5-A0B3-4BBC-98B7-D6492323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529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22" name="req-byte-bg-1">
            <a:extLst xmlns:a="http://schemas.openxmlformats.org/drawingml/2006/main">
              <a:ext uri="{FF2B5EF4-FFF2-40B4-BE49-F238E27FC236}">
                <a16:creationId xmlns:a16="http://schemas.microsoft.com/office/drawing/2014/main" id="{0D482BC1-67FF-482E-B691-0E81AB7A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386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req-byte-1">
            <a:extLst xmlns:a="http://schemas.openxmlformats.org/drawingml/2006/main">
              <a:ext uri="{FF2B5EF4-FFF2-40B4-BE49-F238E27FC236}">
                <a16:creationId xmlns:a16="http://schemas.microsoft.com/office/drawing/2014/main" id="{12479EE4-63DE-48BE-9078-74F2CB0B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529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E0</a:t>
            </a:r>
          </a:p>
        </p:txBody>
      </p:sp>
      <p:sp>
        <p:nvSpPr>
          <p:cNvPr id="24" name="req-byte-bg-2">
            <a:extLst xmlns:a="http://schemas.openxmlformats.org/drawingml/2006/main">
              <a:ext uri="{FF2B5EF4-FFF2-40B4-BE49-F238E27FC236}">
                <a16:creationId xmlns:a16="http://schemas.microsoft.com/office/drawing/2014/main" id="{7045EF86-07BD-4FA6-ACF5-21E88F0A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386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req-byte-2">
            <a:extLst xmlns:a="http://schemas.openxmlformats.org/drawingml/2006/main">
              <a:ext uri="{FF2B5EF4-FFF2-40B4-BE49-F238E27FC236}">
                <a16:creationId xmlns:a16="http://schemas.microsoft.com/office/drawing/2014/main" id="{ADDB5F3B-2A91-46FC-B5C5-398B1B4E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529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BF</a:t>
            </a:r>
          </a:p>
        </p:txBody>
      </p:sp>
      <p:sp>
        <p:nvSpPr>
          <p:cNvPr id="26" name="req-byte-bg-3">
            <a:extLst xmlns:a="http://schemas.openxmlformats.org/drawingml/2006/main">
              <a:ext uri="{FF2B5EF4-FFF2-40B4-BE49-F238E27FC236}">
                <a16:creationId xmlns:a16="http://schemas.microsoft.com/office/drawing/2014/main" id="{12833EE0-21DC-423B-9F1F-9B72DC8C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386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req-byte-3">
            <a:extLst xmlns:a="http://schemas.openxmlformats.org/drawingml/2006/main">
              <a:ext uri="{FF2B5EF4-FFF2-40B4-BE49-F238E27FC236}">
                <a16:creationId xmlns:a16="http://schemas.microsoft.com/office/drawing/2014/main" id="{20E855DC-CFBE-4792-B336-1E39E170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</a:t>
            </a:r>
          </a:p>
        </p:txBody>
      </p:sp>
      <p:sp>
        <p:nvSpPr>
          <p:cNvPr id="28" name="req-bytes-caption">
            <a:extLst xmlns:a="http://schemas.openxmlformats.org/drawingml/2006/main">
              <a:ext uri="{FF2B5EF4-FFF2-40B4-BE49-F238E27FC236}">
                <a16:creationId xmlns:a16="http://schemas.microsoft.com/office/drawing/2014/main" id="{AF964593-B025-46BF-B143-E8481BFD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97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little-endian 0xFEBFE000</a:t>
            </a:r>
          </a:p>
        </p:txBody>
      </p:sp>
      <p:sp>
        <p:nvSpPr>
          <p:cNvPr id="29" name="req-manifest-title">
            <a:extLst xmlns:a="http://schemas.openxmlformats.org/drawingml/2006/main">
              <a:ext uri="{FF2B5EF4-FFF2-40B4-BE49-F238E27FC236}">
                <a16:creationId xmlns:a16="http://schemas.microsoft.com/office/drawing/2014/main" id="{05248EE8-5C7D-400A-A70E-59C0A13B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Manifest details</a:t>
            </a:r>
          </a:p>
        </p:txBody>
      </p:sp>
      <p:sp>
        <p:nvSpPr>
          <p:cNvPr id="30" name="req-manifest-body">
            <a:extLst xmlns:a="http://schemas.openxmlformats.org/drawingml/2006/main">
              <a:ext uri="{FF2B5EF4-FFF2-40B4-BE49-F238E27FC236}">
                <a16:creationId xmlns:a16="http://schemas.microsoft.com/office/drawing/2014/main" id="{22962F05-056A-4DBA-B6C1-EAF30CEC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allocation id: arg0_nested</a:t>
            </a:r>
          </a:p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kind: mapped_page</a:t>
            </a:r>
          </a:p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provider self-test: true</a:t>
            </a:r>
          </a:p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oracle role: physical_address</a:t>
            </a:r>
          </a:p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fixup target: SystemBuffer[0..3]</a:t>
            </a:r>
          </a:p>
        </p:txBody>
      </p:sp>
    </p:spTree>
    <p:extLst>
      <p:ext uri="{BB962C8B-B14F-4D97-AF65-F5344CB8AC3E}">
        <p14:creationId xmlns:p14="http://schemas.microsoft.com/office/powerpoint/2010/main" val="19358052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9">
            <a:extLst xmlns:a="http://schemas.openxmlformats.org/drawingml/2006/main">
              <a:ext uri="{FF2B5EF4-FFF2-40B4-BE49-F238E27FC236}">
                <a16:creationId xmlns:a16="http://schemas.microsoft.com/office/drawing/2014/main" id="{7C1EB8F3-B670-4C29-8586-69D3D806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LHA.SYS — RUNTIME PREPARATION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5035E8BB-B71D-414E-BCEF-3FD91E27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probe repairs installation and device identity</a:t>
            </a:r>
          </a:p>
        </p:txBody>
      </p:sp>
      <p:sp>
        <p:nvSpPr>
          <p:cNvPr id="3" name="footer-19">
            <a:extLst xmlns:a="http://schemas.openxmlformats.org/drawingml/2006/main">
              <a:ext uri="{FF2B5EF4-FFF2-40B4-BE49-F238E27FC236}">
                <a16:creationId xmlns:a16="http://schemas.microsoft.com/office/drawing/2014/main" id="{289319FF-3A7E-4B43-8E8E-C66F4CB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cxnSp>
        <p:nvCxnSpPr>
          <p:cNvPr id="31" name="lha-install-flow-edge-1"/>
          <p:cNvCxnSpPr/>
          <p:nvPr/>
        </p:nvCxnSpPr>
        <p:spPr>
          <a:xfrm xmlns:a="http://schemas.openxmlformats.org/drawingml/2006/main">
            <a:off x="2526030" y="2438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2" name="lha-install-flow-edge-2"/>
          <p:cNvCxnSpPr/>
          <p:nvPr/>
        </p:nvCxnSpPr>
        <p:spPr>
          <a:xfrm xmlns:a="http://schemas.openxmlformats.org/drawingml/2006/main">
            <a:off x="4842510" y="2438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3" name="lha-install-flow-edge-3"/>
          <p:cNvCxnSpPr/>
          <p:nvPr/>
        </p:nvCxnSpPr>
        <p:spPr>
          <a:xfrm xmlns:a="http://schemas.openxmlformats.org/drawingml/2006/main">
            <a:off x="7158990" y="2438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4" name="lha-install-flow-edge-4"/>
          <p:cNvCxnSpPr/>
          <p:nvPr/>
        </p:nvCxnSpPr>
        <p:spPr>
          <a:xfrm xmlns:a="http://schemas.openxmlformats.org/drawingml/2006/main">
            <a:off x="9475470" y="2438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8" name="lha-install-flow-node-1">
            <a:extLst xmlns:a="http://schemas.openxmlformats.org/drawingml/2006/main">
              <a:ext uri="{FF2B5EF4-FFF2-40B4-BE49-F238E27FC236}">
                <a16:creationId xmlns:a16="http://schemas.microsoft.com/office/drawing/2014/main" id="{E3C2C161-B403-49DF-B06E-03541CA4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ha-install-flow-node-num-1">
            <a:extLst xmlns:a="http://schemas.openxmlformats.org/drawingml/2006/main">
              <a:ext uri="{FF2B5EF4-FFF2-40B4-BE49-F238E27FC236}">
                <a16:creationId xmlns:a16="http://schemas.microsoft.com/office/drawing/2014/main" id="{F257A443-FDEE-41A3-B759-03BA62C4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10" name="lha-install-flow-node-title-1">
            <a:extLst xmlns:a="http://schemas.openxmlformats.org/drawingml/2006/main">
              <a:ext uri="{FF2B5EF4-FFF2-40B4-BE49-F238E27FC236}">
                <a16:creationId xmlns:a16="http://schemas.microsoft.com/office/drawing/2014/main" id="{EFAF904D-E713-4BCA-956A-00448867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Install mode</a:t>
            </a:r>
          </a:p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11" name="lha-install-flow-node-2">
            <a:extLst xmlns:a="http://schemas.openxmlformats.org/drawingml/2006/main">
              <a:ext uri="{FF2B5EF4-FFF2-40B4-BE49-F238E27FC236}">
                <a16:creationId xmlns:a16="http://schemas.microsoft.com/office/drawing/2014/main" id="{B53503C1-19AB-45AD-8D5F-08F61E3C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18097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ha-install-flow-node-num-2">
            <a:extLst xmlns:a="http://schemas.openxmlformats.org/drawingml/2006/main">
              <a:ext uri="{FF2B5EF4-FFF2-40B4-BE49-F238E27FC236}">
                <a16:creationId xmlns:a16="http://schemas.microsoft.com/office/drawing/2014/main" id="{0819024F-DBED-4422-B39B-33CAE227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431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PROBE</a:t>
            </a:r>
          </a:p>
        </p:txBody>
      </p:sp>
      <p:sp>
        <p:nvSpPr>
          <p:cNvPr id="13" name="lha-install-flow-node-title-2">
            <a:extLst xmlns:a="http://schemas.openxmlformats.org/drawingml/2006/main">
              <a:ext uri="{FF2B5EF4-FFF2-40B4-BE49-F238E27FC236}">
                <a16:creationId xmlns:a16="http://schemas.microsoft.com/office/drawing/2014/main" id="{C0C5390F-E665-4C0A-9948-BCDD5EA1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860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 + start</a:t>
            </a:r>
          </a:p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SCM service</a:t>
            </a:r>
          </a:p>
        </p:txBody>
      </p:sp>
      <p:sp>
        <p:nvSpPr>
          <p:cNvPr id="14" name="lha-install-flow-node-3">
            <a:extLst xmlns:a="http://schemas.openxmlformats.org/drawingml/2006/main">
              <a:ext uri="{FF2B5EF4-FFF2-40B4-BE49-F238E27FC236}">
                <a16:creationId xmlns:a16="http://schemas.microsoft.com/office/drawing/2014/main" id="{6F6CD8E6-09B2-4778-8249-D367C5E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18097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ha-install-flow-node-num-3">
            <a:extLst xmlns:a="http://schemas.openxmlformats.org/drawingml/2006/main">
              <a:ext uri="{FF2B5EF4-FFF2-40B4-BE49-F238E27FC236}">
                <a16:creationId xmlns:a16="http://schemas.microsoft.com/office/drawing/2014/main" id="{AFF82A3C-C90E-4A73-A412-2C3EF0A3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19431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16" name="lha-install-flow-node-title-3">
            <a:extLst xmlns:a="http://schemas.openxmlformats.org/drawingml/2006/main">
              <a:ext uri="{FF2B5EF4-FFF2-40B4-BE49-F238E27FC236}">
                <a16:creationId xmlns:a16="http://schemas.microsoft.com/office/drawing/2014/main" id="{F8DF476B-68E0-42C0-96BB-C2750180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2860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Module loaded</a:t>
            </a:r>
          </a:p>
        </p:txBody>
      </p:sp>
      <p:sp>
        <p:nvSpPr>
          <p:cNvPr id="17" name="lha-install-flow-node-4">
            <a:extLst xmlns:a="http://schemas.openxmlformats.org/drawingml/2006/main">
              <a:ext uri="{FF2B5EF4-FFF2-40B4-BE49-F238E27FC236}">
                <a16:creationId xmlns:a16="http://schemas.microsoft.com/office/drawing/2014/main" id="{5C30009A-EFBC-41DA-81E3-C9C77C55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097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ha-install-flow-node-num-4">
            <a:extLst xmlns:a="http://schemas.openxmlformats.org/drawingml/2006/main">
              <a:ext uri="{FF2B5EF4-FFF2-40B4-BE49-F238E27FC236}">
                <a16:creationId xmlns:a16="http://schemas.microsoft.com/office/drawing/2014/main" id="{C4843AE6-8745-4B68-8213-9B8B100A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19431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19" name="lha-install-flow-node-title-4">
            <a:extLst xmlns:a="http://schemas.openxmlformats.org/drawingml/2006/main">
              <a:ext uri="{FF2B5EF4-FFF2-40B4-BE49-F238E27FC236}">
                <a16:creationId xmlns:a16="http://schemas.microsoft.com/office/drawing/2014/main" id="{61057640-9A61-407E-AF8A-351FA8B8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22860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 path</a:t>
            </a:r>
          </a:p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confirmed</a:t>
            </a:r>
          </a:p>
        </p:txBody>
      </p:sp>
      <p:sp>
        <p:nvSpPr>
          <p:cNvPr id="20" name="lha-install-flow-node-5">
            <a:extLst xmlns:a="http://schemas.openxmlformats.org/drawingml/2006/main">
              <a:ext uri="{FF2B5EF4-FFF2-40B4-BE49-F238E27FC236}">
                <a16:creationId xmlns:a16="http://schemas.microsoft.com/office/drawing/2014/main" id="{8065A647-9C44-423A-869E-228201F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180975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ha-install-flow-node-num-5">
            <a:extLst xmlns:a="http://schemas.openxmlformats.org/drawingml/2006/main">
              <a:ext uri="{FF2B5EF4-FFF2-40B4-BE49-F238E27FC236}">
                <a16:creationId xmlns:a16="http://schemas.microsoft.com/office/drawing/2014/main" id="{BA29BA38-F23E-4750-81E9-FBF0DEC2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194310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REBIND</a:t>
            </a:r>
          </a:p>
        </p:txBody>
      </p:sp>
      <p:sp>
        <p:nvSpPr>
          <p:cNvPr id="22" name="lha-install-flow-node-title-5">
            <a:extLst xmlns:a="http://schemas.openxmlformats.org/drawingml/2006/main">
              <a:ext uri="{FF2B5EF4-FFF2-40B4-BE49-F238E27FC236}">
                <a16:creationId xmlns:a16="http://schemas.microsoft.com/office/drawing/2014/main" id="{0043FFD0-35E7-4E6D-A654-4BF2FB79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22860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 all</a:t>
            </a:r>
          </a:p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LHA cases</a:t>
            </a:r>
          </a:p>
        </p:txBody>
      </p:sp>
      <p:sp>
        <p:nvSpPr>
          <p:cNvPr id="23" name="lha-install-details-left-title">
            <a:extLst xmlns:a="http://schemas.openxmlformats.org/drawingml/2006/main">
              <a:ext uri="{FF2B5EF4-FFF2-40B4-BE49-F238E27FC236}">
                <a16:creationId xmlns:a16="http://schemas.microsoft.com/office/drawing/2014/main" id="{BF144EDF-3C93-40C5-AFD9-0FB4E8BB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Resolved service identity</a:t>
            </a:r>
          </a:p>
        </p:txBody>
      </p:sp>
      <p:sp>
        <p:nvSpPr>
          <p:cNvPr id="24" name="lha-install-details-left-body">
            <a:extLst xmlns:a="http://schemas.openxmlformats.org/drawingml/2006/main">
              <a:ext uri="{FF2B5EF4-FFF2-40B4-BE49-F238E27FC236}">
                <a16:creationId xmlns:a16="http://schemas.microsoft.com/office/drawing/2014/main" id="{D4219798-366B-4814-BCC7-64D9DFD8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552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KsDut_e75714f8e0ff4560</a:t>
            </a:r>
          </a:p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Runtime image: KsDut_e75714f8e0ff4560.sys</a:t>
            </a:r>
          </a:p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Status: loaded_device_opened</a:t>
            </a:r>
          </a:p>
        </p:txBody>
      </p:sp>
      <p:sp>
        <p:nvSpPr>
          <p:cNvPr id="25" name="lha-install-details-right-title">
            <a:extLst xmlns:a="http://schemas.openxmlformats.org/drawingml/2006/main">
              <a:ext uri="{FF2B5EF4-FFF2-40B4-BE49-F238E27FC236}">
                <a16:creationId xmlns:a16="http://schemas.microsoft.com/office/drawing/2014/main" id="{5E025A12-2BF7-4BFA-84B6-DF6FA220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Confirmed device path</a:t>
            </a:r>
          </a:p>
        </p:txBody>
      </p:sp>
      <p:sp>
        <p:nvSpPr>
          <p:cNvPr id="26" name="lha-install-details-right-body">
            <a:extLst xmlns:a="http://schemas.openxmlformats.org/drawingml/2006/main">
              <a:ext uri="{FF2B5EF4-FFF2-40B4-BE49-F238E27FC236}">
                <a16:creationId xmlns:a16="http://schemas.microsoft.com/office/drawing/2014/main" id="{0E68EAC6-AF90-44EF-A811-72D2AA09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552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\\.\{E8F2FF20-6AF7-4914-9398-CE2132FE170F}</a:t>
            </a:r>
          </a:p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usable path is runtime evidence—not a static guess.</a:t>
            </a:r>
          </a:p>
        </p:txBody>
      </p:sp>
      <p:sp>
        <p:nvSpPr>
          <p:cNvPr id="27" name="lha-install-meaning">
            <a:extLst xmlns:a="http://schemas.openxmlformats.org/drawingml/2006/main">
              <a:ext uri="{FF2B5EF4-FFF2-40B4-BE49-F238E27FC236}">
                <a16:creationId xmlns:a16="http://schemas.microsoft.com/office/drawing/2014/main" id="{019C0379-574E-4474-8A4E-3624C63B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39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Installation probing repairs setup uncertainty. It does not count as sink execution or behavior confirmation.</a:t>
            </a:r>
          </a:p>
        </p:txBody>
      </p:sp>
    </p:spTree>
    <p:extLst>
      <p:ext uri="{BB962C8B-B14F-4D97-AF65-F5344CB8AC3E}">
        <p14:creationId xmlns:p14="http://schemas.microsoft.com/office/powerpoint/2010/main" val="6551113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0">
            <a:extLst xmlns:a="http://schemas.openxmlformats.org/drawingml/2006/main">
              <a:ext uri="{FF2B5EF4-FFF2-40B4-BE49-F238E27FC236}">
                <a16:creationId xmlns:a16="http://schemas.microsoft.com/office/drawing/2014/main" id="{BF632143-1D64-4ED3-8317-520951D1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LHA.SYS — CONTROLLED EXECUTION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A0B3147D-6DC5-4894-99C8-E859DEB8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runner changes one input across three clean runs</a:t>
            </a:r>
          </a:p>
        </p:txBody>
      </p:sp>
      <p:sp>
        <p:nvSpPr>
          <p:cNvPr id="3" name="footer-20">
            <a:extLst xmlns:a="http://schemas.openxmlformats.org/drawingml/2006/main">
              <a:ext uri="{FF2B5EF4-FFF2-40B4-BE49-F238E27FC236}">
                <a16:creationId xmlns:a16="http://schemas.microsoft.com/office/drawing/2014/main" id="{BE7E9452-7071-45A3-988F-8895B406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cxnSp>
        <p:nvCxnSpPr>
          <p:cNvPr id="22" name="lha-bvb-timeline-rule"/>
          <p:cNvCxnSpPr/>
          <p:nvPr/>
        </p:nvCxnSpPr>
        <p:spPr>
          <a:xfrm xmlns:a="http://schemas.openxmlformats.org/drawingml/2006/main">
            <a:off x="400050" y="2857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</a:ln>
        </p:spPr>
      </p:cxnSp>
      <p:sp>
        <p:nvSpPr>
          <p:cNvPr id="5" name="lha-bvb-dot-1">
            <a:extLst xmlns:a="http://schemas.openxmlformats.org/drawingml/2006/main">
              <a:ext uri="{FF2B5EF4-FFF2-40B4-BE49-F238E27FC236}">
                <a16:creationId xmlns:a16="http://schemas.microsoft.com/office/drawing/2014/main" id="{BFAC1CA1-F1E9-4136-8CF8-6DE0E5EF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ha-bvb-dot-2">
            <a:extLst xmlns:a="http://schemas.openxmlformats.org/drawingml/2006/main">
              <a:ext uri="{FF2B5EF4-FFF2-40B4-BE49-F238E27FC236}">
                <a16:creationId xmlns:a16="http://schemas.microsoft.com/office/drawing/2014/main" id="{8B94BA24-86F0-4881-8D4F-DB1078D0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ha-bvb-dot-3">
            <a:extLst xmlns:a="http://schemas.openxmlformats.org/drawingml/2006/main">
              <a:ext uri="{FF2B5EF4-FFF2-40B4-BE49-F238E27FC236}">
                <a16:creationId xmlns:a16="http://schemas.microsoft.com/office/drawing/2014/main" id="{E711DDC2-796A-4AA3-B59A-10446C2E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ha-bvb-label-1">
            <a:extLst xmlns:a="http://schemas.openxmlformats.org/drawingml/2006/main">
              <a:ext uri="{FF2B5EF4-FFF2-40B4-BE49-F238E27FC236}">
                <a16:creationId xmlns:a16="http://schemas.microsoft.com/office/drawing/2014/main" id="{52765231-18D5-4921-B8F4-AF573D0E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BASELINE 1</a:t>
            </a:r>
          </a:p>
        </p:txBody>
      </p:sp>
      <p:sp>
        <p:nvSpPr>
          <p:cNvPr id="9" name="lha-bvb-heading-1">
            <a:extLst xmlns:a="http://schemas.openxmlformats.org/drawingml/2006/main">
              <a:ext uri="{FF2B5EF4-FFF2-40B4-BE49-F238E27FC236}">
                <a16:creationId xmlns:a16="http://schemas.microsoft.com/office/drawing/2014/main" id="{795C668F-6570-4FE1-9902-BF67E4D7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00 00 00 00</a:t>
            </a:r>
          </a:p>
        </p:txBody>
      </p:sp>
      <p:sp>
        <p:nvSpPr>
          <p:cNvPr id="10" name="lha-bvb-body-1">
            <a:extLst xmlns:a="http://schemas.openxmlformats.org/drawingml/2006/main">
              <a:ext uri="{FF2B5EF4-FFF2-40B4-BE49-F238E27FC236}">
                <a16:creationId xmlns:a16="http://schemas.microsoft.com/office/drawing/2014/main" id="{4563FF95-F7C3-4959-BE9B-885C1A9A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Same modeled IOCTL without the provider physical-address fixup. Establish the control path and ambient signal.</a:t>
            </a:r>
          </a:p>
        </p:txBody>
      </p:sp>
      <p:sp>
        <p:nvSpPr>
          <p:cNvPr id="11" name="lha-bvb-label-2">
            <a:extLst xmlns:a="http://schemas.openxmlformats.org/drawingml/2006/main">
              <a:ext uri="{FF2B5EF4-FFF2-40B4-BE49-F238E27FC236}">
                <a16:creationId xmlns:a16="http://schemas.microsoft.com/office/drawing/2014/main" id="{BBDEE58E-3480-4CF7-9B01-4E423ACA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VARIANT</a:t>
            </a:r>
          </a:p>
        </p:txBody>
      </p:sp>
      <p:sp>
        <p:nvSpPr>
          <p:cNvPr id="12" name="lha-bvb-heading-2">
            <a:extLst xmlns:a="http://schemas.openxmlformats.org/drawingml/2006/main">
              <a:ext uri="{FF2B5EF4-FFF2-40B4-BE49-F238E27FC236}">
                <a16:creationId xmlns:a16="http://schemas.microsoft.com/office/drawing/2014/main" id="{32A342D7-1D06-4E2F-B2ED-75C1527C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00 E0 BF FE</a:t>
            </a:r>
          </a:p>
        </p:txBody>
      </p:sp>
      <p:sp>
        <p:nvSpPr>
          <p:cNvPr id="13" name="lha-bvb-body-2">
            <a:extLst xmlns:a="http://schemas.openxmlformats.org/drawingml/2006/main">
              <a:ext uri="{FF2B5EF4-FFF2-40B4-BE49-F238E27FC236}">
                <a16:creationId xmlns:a16="http://schemas.microsoft.com/office/drawing/2014/main" id="{B38FED58-1B1E-4EC4-A91D-8A701047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Patch 0xFEBFE000 into SystemBuffer[0..3], submit the request, and observe the provider-backed region.</a:t>
            </a:r>
          </a:p>
        </p:txBody>
      </p:sp>
      <p:sp>
        <p:nvSpPr>
          <p:cNvPr id="14" name="lha-bvb-label-3">
            <a:extLst xmlns:a="http://schemas.openxmlformats.org/drawingml/2006/main">
              <a:ext uri="{FF2B5EF4-FFF2-40B4-BE49-F238E27FC236}">
                <a16:creationId xmlns:a16="http://schemas.microsoft.com/office/drawing/2014/main" id="{F6F92834-2FB9-454F-A9B7-AC4F9BE1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BASELINE 2</a:t>
            </a:r>
          </a:p>
        </p:txBody>
      </p:sp>
      <p:sp>
        <p:nvSpPr>
          <p:cNvPr id="15" name="lha-bvb-heading-3">
            <a:extLst xmlns:a="http://schemas.openxmlformats.org/drawingml/2006/main">
              <a:ext uri="{FF2B5EF4-FFF2-40B4-BE49-F238E27FC236}">
                <a16:creationId xmlns:a16="http://schemas.microsoft.com/office/drawing/2014/main" id="{726EAAB6-F062-4389-98AD-B838A466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00 00 00 00</a:t>
            </a:r>
          </a:p>
        </p:txBody>
      </p:sp>
      <p:sp>
        <p:nvSpPr>
          <p:cNvPr id="16" name="lha-bvb-body-3">
            <a:extLst xmlns:a="http://schemas.openxmlformats.org/drawingml/2006/main">
              <a:ext uri="{FF2B5EF4-FFF2-40B4-BE49-F238E27FC236}">
                <a16:creationId xmlns:a16="http://schemas.microsoft.com/office/drawing/2014/main" id="{A2FFAE45-FCD4-4BE7-9231-322560C5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Return to the control value and verify that any candidate-specific signal does not persist.</a:t>
            </a:r>
          </a:p>
        </p:txBody>
      </p:sp>
      <p:sp>
        <p:nvSpPr>
          <p:cNvPr id="17" name="lha-bvb-lane">
            <a:extLst xmlns:a="http://schemas.openxmlformats.org/drawingml/2006/main">
              <a:ext uri="{FF2B5EF4-FFF2-40B4-BE49-F238E27FC236}">
                <a16:creationId xmlns:a16="http://schemas.microsoft.com/office/drawing/2014/main" id="{08CB6716-34CF-4FAD-AF15-0C8A9051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Selected lane: tcg_test_device  •  Backend: qemu_tcg  •  Oracle: mm_map_observer</a:t>
            </a:r>
          </a:p>
        </p:txBody>
      </p:sp>
      <p:sp>
        <p:nvSpPr>
          <p:cNvPr id="18" name="lha-bvb-why">
            <a:extLst xmlns:a="http://schemas.openxmlformats.org/drawingml/2006/main">
              <a:ext uri="{FF2B5EF4-FFF2-40B4-BE49-F238E27FC236}">
                <a16:creationId xmlns:a16="http://schemas.microsoft.com/office/drawing/2014/main" id="{100A3C49-F8AF-413E-BAB3-9AC4AF35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055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test varies one provenance-predicted value while keeping the IOCTL, driver, path, and request shape constant.</a:t>
            </a:r>
          </a:p>
        </p:txBody>
      </p:sp>
    </p:spTree>
    <p:extLst>
      <p:ext uri="{BB962C8B-B14F-4D97-AF65-F5344CB8AC3E}">
        <p14:creationId xmlns:p14="http://schemas.microsoft.com/office/powerpoint/2010/main" val="10419885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1">
            <a:extLst xmlns:a="http://schemas.openxmlformats.org/drawingml/2006/main">
              <a:ext uri="{FF2B5EF4-FFF2-40B4-BE49-F238E27FC236}">
                <a16:creationId xmlns:a16="http://schemas.microsoft.com/office/drawing/2014/main" id="{A503B045-A5E3-4B7E-ADC2-641362AA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LHA.SYS — EVIDENCE AND VERDICT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497BA6F5-B3B3-4596-9725-67914084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correlated MMIO event lifts the result to E4</a:t>
            </a:r>
          </a:p>
        </p:txBody>
      </p:sp>
      <p:sp>
        <p:nvSpPr>
          <p:cNvPr id="3" name="footer-21">
            <a:extLst xmlns:a="http://schemas.openxmlformats.org/drawingml/2006/main">
              <a:ext uri="{FF2B5EF4-FFF2-40B4-BE49-F238E27FC236}">
                <a16:creationId xmlns:a16="http://schemas.microsoft.com/office/drawing/2014/main" id="{D40914A7-1A32-486D-8E64-8CEB0DF2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cxnSp>
        <p:nvCxnSpPr>
          <p:cNvPr id="61" name="lha-evidence-flow-edge-1"/>
          <p:cNvCxnSpPr/>
          <p:nvPr/>
        </p:nvCxnSpPr>
        <p:spPr>
          <a:xfrm xmlns:a="http://schemas.openxmlformats.org/drawingml/2006/main">
            <a:off x="2526030" y="23050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2" name="lha-evidence-flow-edge-2"/>
          <p:cNvCxnSpPr/>
          <p:nvPr/>
        </p:nvCxnSpPr>
        <p:spPr>
          <a:xfrm xmlns:a="http://schemas.openxmlformats.org/drawingml/2006/main">
            <a:off x="4842510" y="23050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3" name="lha-evidence-flow-edge-3"/>
          <p:cNvCxnSpPr/>
          <p:nvPr/>
        </p:nvCxnSpPr>
        <p:spPr>
          <a:xfrm xmlns:a="http://schemas.openxmlformats.org/drawingml/2006/main">
            <a:off x="7158990" y="23050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4" name="lha-evidence-flow-edge-4"/>
          <p:cNvCxnSpPr/>
          <p:nvPr/>
        </p:nvCxnSpPr>
        <p:spPr>
          <a:xfrm xmlns:a="http://schemas.openxmlformats.org/drawingml/2006/main">
            <a:off x="9475470" y="23050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8" name="lha-evidence-flow-node-1">
            <a:extLst xmlns:a="http://schemas.openxmlformats.org/drawingml/2006/main">
              <a:ext uri="{FF2B5EF4-FFF2-40B4-BE49-F238E27FC236}">
                <a16:creationId xmlns:a16="http://schemas.microsoft.com/office/drawing/2014/main" id="{43D70E26-9C6F-492F-A72F-C2C84813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ha-evidence-flow-node-num-1">
            <a:extLst xmlns:a="http://schemas.openxmlformats.org/drawingml/2006/main">
              <a:ext uri="{FF2B5EF4-FFF2-40B4-BE49-F238E27FC236}">
                <a16:creationId xmlns:a16="http://schemas.microsoft.com/office/drawing/2014/main" id="{703B4AE7-8454-43A5-8DC5-F2909474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0" name="lha-evidence-flow-node-title-1">
            <a:extLst xmlns:a="http://schemas.openxmlformats.org/drawingml/2006/main">
              <a:ext uri="{FF2B5EF4-FFF2-40B4-BE49-F238E27FC236}">
                <a16:creationId xmlns:a16="http://schemas.microsoft.com/office/drawing/2014/main" id="{46C54A0C-62C1-498F-A48B-288C76ED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0xFEBFE000</a:t>
            </a:r>
          </a:p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request</a:t>
            </a:r>
          </a:p>
        </p:txBody>
      </p:sp>
      <p:sp>
        <p:nvSpPr>
          <p:cNvPr id="11" name="lha-evidence-flow-node-2">
            <a:extLst xmlns:a="http://schemas.openxmlformats.org/drawingml/2006/main">
              <a:ext uri="{FF2B5EF4-FFF2-40B4-BE49-F238E27FC236}">
                <a16:creationId xmlns:a16="http://schemas.microsoft.com/office/drawing/2014/main" id="{487F2565-6586-4150-AB61-C2D89506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167640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ha-evidence-flow-node-num-2">
            <a:extLst xmlns:a="http://schemas.openxmlformats.org/drawingml/2006/main">
              <a:ext uri="{FF2B5EF4-FFF2-40B4-BE49-F238E27FC236}">
                <a16:creationId xmlns:a16="http://schemas.microsoft.com/office/drawing/2014/main" id="{C46003BC-0B45-4334-9AAB-CA769624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0975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DRIVER</a:t>
            </a:r>
          </a:p>
        </p:txBody>
      </p:sp>
      <p:sp>
        <p:nvSpPr>
          <p:cNvPr id="13" name="lha-evidence-flow-node-title-2">
            <a:extLst xmlns:a="http://schemas.openxmlformats.org/drawingml/2006/main">
              <a:ext uri="{FF2B5EF4-FFF2-40B4-BE49-F238E27FC236}">
                <a16:creationId xmlns:a16="http://schemas.microsoft.com/office/drawing/2014/main" id="{46BC131E-A8B6-4530-BC6A-54BE047D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526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0x9c402fa8</a:t>
            </a:r>
          </a:p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 executes</a:t>
            </a:r>
          </a:p>
        </p:txBody>
      </p:sp>
      <p:sp>
        <p:nvSpPr>
          <p:cNvPr id="14" name="lha-evidence-flow-node-3">
            <a:extLst xmlns:a="http://schemas.openxmlformats.org/drawingml/2006/main">
              <a:ext uri="{FF2B5EF4-FFF2-40B4-BE49-F238E27FC236}">
                <a16:creationId xmlns:a16="http://schemas.microsoft.com/office/drawing/2014/main" id="{7527AD53-F3F5-4DA6-B39A-C66B9E1C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167640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ha-evidence-flow-node-num-3">
            <a:extLst xmlns:a="http://schemas.openxmlformats.org/drawingml/2006/main">
              <a:ext uri="{FF2B5EF4-FFF2-40B4-BE49-F238E27FC236}">
                <a16:creationId xmlns:a16="http://schemas.microsoft.com/office/drawing/2014/main" id="{ECC4D046-DD33-46B5-9318-68AB1E32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180975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SINK</a:t>
            </a:r>
          </a:p>
        </p:txBody>
      </p:sp>
      <p:sp>
        <p:nvSpPr>
          <p:cNvPr id="16" name="lha-evidence-flow-node-title-3">
            <a:extLst xmlns:a="http://schemas.openxmlformats.org/drawingml/2006/main">
              <a:ext uri="{FF2B5EF4-FFF2-40B4-BE49-F238E27FC236}">
                <a16:creationId xmlns:a16="http://schemas.microsoft.com/office/drawing/2014/main" id="{1B0333ED-7A0D-465E-948D-2170EA28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1526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MmMapIoSpace</a:t>
            </a:r>
          </a:p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arg0 controlled</a:t>
            </a:r>
          </a:p>
        </p:txBody>
      </p:sp>
      <p:sp>
        <p:nvSpPr>
          <p:cNvPr id="17" name="lha-evidence-flow-node-4">
            <a:extLst xmlns:a="http://schemas.openxmlformats.org/drawingml/2006/main">
              <a:ext uri="{FF2B5EF4-FFF2-40B4-BE49-F238E27FC236}">
                <a16:creationId xmlns:a16="http://schemas.microsoft.com/office/drawing/2014/main" id="{AFCCE750-9A5B-46F5-814E-678BC5B4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67640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ha-evidence-flow-node-num-4">
            <a:extLst xmlns:a="http://schemas.openxmlformats.org/drawingml/2006/main">
              <a:ext uri="{FF2B5EF4-FFF2-40B4-BE49-F238E27FC236}">
                <a16:creationId xmlns:a16="http://schemas.microsoft.com/office/drawing/2014/main" id="{BF4C8A14-C03B-480B-A9B6-8229BEB2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180975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HOST EVENT</a:t>
            </a:r>
          </a:p>
        </p:txBody>
      </p:sp>
      <p:sp>
        <p:nvSpPr>
          <p:cNvPr id="19" name="lha-evidence-flow-node-title-4">
            <a:extLst xmlns:a="http://schemas.openxmlformats.org/drawingml/2006/main">
              <a:ext uri="{FF2B5EF4-FFF2-40B4-BE49-F238E27FC236}">
                <a16:creationId xmlns:a16="http://schemas.microsoft.com/office/drawing/2014/main" id="{09580D4D-E18C-4ADA-8ED1-7C87E194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21526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MMIO read</a:t>
            </a:r>
          </a:p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0xFEBFE000</a:t>
            </a:r>
          </a:p>
        </p:txBody>
      </p:sp>
      <p:sp>
        <p:nvSpPr>
          <p:cNvPr id="20" name="lha-evidence-flow-node-5">
            <a:extLst xmlns:a="http://schemas.openxmlformats.org/drawingml/2006/main">
              <a:ext uri="{FF2B5EF4-FFF2-40B4-BE49-F238E27FC236}">
                <a16:creationId xmlns:a16="http://schemas.microsoft.com/office/drawing/2014/main" id="{C345C866-9F77-4378-9C25-289BF2D8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1676400"/>
            <a:ext cx="212598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ha-evidence-flow-node-num-5">
            <a:extLst xmlns:a="http://schemas.openxmlformats.org/drawingml/2006/main">
              <a:ext uri="{FF2B5EF4-FFF2-40B4-BE49-F238E27FC236}">
                <a16:creationId xmlns:a16="http://schemas.microsoft.com/office/drawing/2014/main" id="{12B02545-FFBB-4BF1-B014-36845050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1809750"/>
            <a:ext cx="17830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CORRELATE</a:t>
            </a:r>
          </a:p>
        </p:txBody>
      </p:sp>
      <p:sp>
        <p:nvSpPr>
          <p:cNvPr id="22" name="lha-evidence-flow-node-title-5">
            <a:extLst xmlns:a="http://schemas.openxmlformats.org/drawingml/2006/main">
              <a:ext uri="{FF2B5EF4-FFF2-40B4-BE49-F238E27FC236}">
                <a16:creationId xmlns:a16="http://schemas.microsoft.com/office/drawing/2014/main" id="{F9BDB1FC-C117-430F-86C2-6D4EE60A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21526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PC …1942</a:t>
            </a:r>
          </a:p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match</a:t>
            </a:r>
          </a:p>
        </p:txBody>
      </p:sp>
      <p:sp>
        <p:nvSpPr>
          <p:cNvPr id="23" name="lha-evidence-table-header-bg-0">
            <a:extLst xmlns:a="http://schemas.openxmlformats.org/drawingml/2006/main">
              <a:ext uri="{FF2B5EF4-FFF2-40B4-BE49-F238E27FC236}">
                <a16:creationId xmlns:a16="http://schemas.microsoft.com/office/drawing/2014/main" id="{12F0D508-1D59-4983-98F9-505A29AB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24765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ha-evidence-table-header-0">
            <a:extLst xmlns:a="http://schemas.openxmlformats.org/drawingml/2006/main">
              <a:ext uri="{FF2B5EF4-FFF2-40B4-BE49-F238E27FC236}">
                <a16:creationId xmlns:a16="http://schemas.microsoft.com/office/drawing/2014/main" id="{08DD24EB-99AE-4AE2-9C87-F730CBF1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90925"/>
            <a:ext cx="22479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field</a:t>
            </a:r>
          </a:p>
        </p:txBody>
      </p:sp>
      <p:sp>
        <p:nvSpPr>
          <p:cNvPr id="25" name="lha-evidence-table-header-bg-1">
            <a:extLst xmlns:a="http://schemas.openxmlformats.org/drawingml/2006/main">
              <a:ext uri="{FF2B5EF4-FFF2-40B4-BE49-F238E27FC236}">
                <a16:creationId xmlns:a16="http://schemas.microsoft.com/office/drawing/2014/main" id="{E697AF62-F32A-4166-8220-FBF2BCF8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22860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ha-evidence-table-header-1">
            <a:extLst xmlns:a="http://schemas.openxmlformats.org/drawingml/2006/main">
              <a:ext uri="{FF2B5EF4-FFF2-40B4-BE49-F238E27FC236}">
                <a16:creationId xmlns:a16="http://schemas.microsoft.com/office/drawing/2014/main" id="{4D181F90-2882-439B-B635-C308729F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90925"/>
            <a:ext cx="2057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27" name="lha-evidence-table-header-bg-2">
            <a:extLst xmlns:a="http://schemas.openxmlformats.org/drawingml/2006/main">
              <a:ext uri="{FF2B5EF4-FFF2-40B4-BE49-F238E27FC236}">
                <a16:creationId xmlns:a16="http://schemas.microsoft.com/office/drawing/2014/main" id="{1639D333-ABF4-4A5B-97A6-CB74B885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62350"/>
            <a:ext cx="34290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ha-evidence-table-header-2">
            <a:extLst xmlns:a="http://schemas.openxmlformats.org/drawingml/2006/main">
              <a:ext uri="{FF2B5EF4-FFF2-40B4-BE49-F238E27FC236}">
                <a16:creationId xmlns:a16="http://schemas.microsoft.com/office/drawing/2014/main" id="{2428D9A3-34A6-4EF2-8475-A1654B76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90925"/>
            <a:ext cx="3200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29" name="lha-evidence-table-cell-bg-0-0">
            <a:extLst xmlns:a="http://schemas.openxmlformats.org/drawingml/2006/main">
              <a:ext uri="{FF2B5EF4-FFF2-40B4-BE49-F238E27FC236}">
                <a16:creationId xmlns:a16="http://schemas.microsoft.com/office/drawing/2014/main" id="{36F89495-3CC8-402F-84B8-7DB07307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4310"/>
            <a:ext cx="24765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0" name="lha-evidence-table-cell-0-0">
            <a:extLst xmlns:a="http://schemas.openxmlformats.org/drawingml/2006/main">
              <a:ext uri="{FF2B5EF4-FFF2-40B4-BE49-F238E27FC236}">
                <a16:creationId xmlns:a16="http://schemas.microsoft.com/office/drawing/2014/main" id="{21319B7A-E9A2-4301-8B75-33C1AE30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2885"/>
            <a:ext cx="22479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target_reached</a:t>
            </a:r>
          </a:p>
        </p:txBody>
      </p:sp>
      <p:sp>
        <p:nvSpPr>
          <p:cNvPr id="31" name="lha-evidence-table-cell-bg-0-1">
            <a:extLst xmlns:a="http://schemas.openxmlformats.org/drawingml/2006/main">
              <a:ext uri="{FF2B5EF4-FFF2-40B4-BE49-F238E27FC236}">
                <a16:creationId xmlns:a16="http://schemas.microsoft.com/office/drawing/2014/main" id="{B855C803-7D07-4CFF-807A-0D61C568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04310"/>
            <a:ext cx="22860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2" name="lha-evidence-table-cell-0-1">
            <a:extLst xmlns:a="http://schemas.openxmlformats.org/drawingml/2006/main">
              <a:ext uri="{FF2B5EF4-FFF2-40B4-BE49-F238E27FC236}">
                <a16:creationId xmlns:a16="http://schemas.microsoft.com/office/drawing/2014/main" id="{AD117A32-6F9E-49EB-9464-2CC96D8E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32885"/>
            <a:ext cx="2057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33" name="lha-evidence-table-cell-bg-0-2">
            <a:extLst xmlns:a="http://schemas.openxmlformats.org/drawingml/2006/main">
              <a:ext uri="{FF2B5EF4-FFF2-40B4-BE49-F238E27FC236}">
                <a16:creationId xmlns:a16="http://schemas.microsoft.com/office/drawing/2014/main" id="{144D4D7C-CFD0-4B63-9D5F-4777E892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04310"/>
            <a:ext cx="34290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4" name="lha-evidence-table-cell-0-2">
            <a:extLst xmlns:a="http://schemas.openxmlformats.org/drawingml/2006/main">
              <a:ext uri="{FF2B5EF4-FFF2-40B4-BE49-F238E27FC236}">
                <a16:creationId xmlns:a16="http://schemas.microsoft.com/office/drawing/2014/main" id="{4A3BAE55-7CCB-46E7-A7FF-C63BF5B0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32885"/>
            <a:ext cx="3200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provider-backed test page touched</a:t>
            </a:r>
          </a:p>
        </p:txBody>
      </p:sp>
      <p:sp>
        <p:nvSpPr>
          <p:cNvPr id="35" name="lha-evidence-table-cell-bg-1-0">
            <a:extLst xmlns:a="http://schemas.openxmlformats.org/drawingml/2006/main">
              <a:ext uri="{FF2B5EF4-FFF2-40B4-BE49-F238E27FC236}">
                <a16:creationId xmlns:a16="http://schemas.microsoft.com/office/drawing/2014/main" id="{9B846F7E-41F8-4D57-95C8-D66E9FE7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6270"/>
            <a:ext cx="24765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6" name="lha-evidence-table-cell-1-0">
            <a:extLst xmlns:a="http://schemas.openxmlformats.org/drawingml/2006/main">
              <a:ext uri="{FF2B5EF4-FFF2-40B4-BE49-F238E27FC236}">
                <a16:creationId xmlns:a16="http://schemas.microsoft.com/office/drawing/2014/main" id="{9FDBB7E7-745E-46BD-9077-3E2A10B8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4845"/>
            <a:ext cx="22479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candidate_correlated</a:t>
            </a:r>
          </a:p>
        </p:txBody>
      </p:sp>
      <p:sp>
        <p:nvSpPr>
          <p:cNvPr id="37" name="lha-evidence-table-cell-bg-1-1">
            <a:extLst xmlns:a="http://schemas.openxmlformats.org/drawingml/2006/main">
              <a:ext uri="{FF2B5EF4-FFF2-40B4-BE49-F238E27FC236}">
                <a16:creationId xmlns:a16="http://schemas.microsoft.com/office/drawing/2014/main" id="{B7CC1236-575C-4651-933C-E8318D99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46270"/>
            <a:ext cx="22860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8" name="lha-evidence-table-cell-1-1">
            <a:extLst xmlns:a="http://schemas.openxmlformats.org/drawingml/2006/main">
              <a:ext uri="{FF2B5EF4-FFF2-40B4-BE49-F238E27FC236}">
                <a16:creationId xmlns:a16="http://schemas.microsoft.com/office/drawing/2014/main" id="{32F42FFF-ACD6-48E6-9D45-8C23D6AD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4845"/>
            <a:ext cx="2057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39" name="lha-evidence-table-cell-bg-1-2">
            <a:extLst xmlns:a="http://schemas.openxmlformats.org/drawingml/2006/main">
              <a:ext uri="{FF2B5EF4-FFF2-40B4-BE49-F238E27FC236}">
                <a16:creationId xmlns:a16="http://schemas.microsoft.com/office/drawing/2014/main" id="{0381701E-F9B6-420C-A128-7E16B6F2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46270"/>
            <a:ext cx="34290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0" name="lha-evidence-table-cell-1-2">
            <a:extLst xmlns:a="http://schemas.openxmlformats.org/drawingml/2006/main">
              <a:ext uri="{FF2B5EF4-FFF2-40B4-BE49-F238E27FC236}">
                <a16:creationId xmlns:a16="http://schemas.microsoft.com/office/drawing/2014/main" id="{A2651DE7-75A1-4DA9-85E9-BD6D8473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74845"/>
            <a:ext cx="3200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event matched the selected candidate path</a:t>
            </a:r>
          </a:p>
        </p:txBody>
      </p:sp>
      <p:sp>
        <p:nvSpPr>
          <p:cNvPr id="41" name="lha-evidence-table-cell-bg-2-0">
            <a:extLst xmlns:a="http://schemas.openxmlformats.org/drawingml/2006/main">
              <a:ext uri="{FF2B5EF4-FFF2-40B4-BE49-F238E27FC236}">
                <a16:creationId xmlns:a16="http://schemas.microsoft.com/office/drawing/2014/main" id="{1BFE68C9-078A-4A18-8FB5-A6A2417C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88230"/>
            <a:ext cx="24765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2" name="lha-evidence-table-cell-2-0">
            <a:extLst xmlns:a="http://schemas.openxmlformats.org/drawingml/2006/main">
              <a:ext uri="{FF2B5EF4-FFF2-40B4-BE49-F238E27FC236}">
                <a16:creationId xmlns:a16="http://schemas.microsoft.com/office/drawing/2014/main" id="{BA5841C8-4FC2-47D2-97DA-74D7AF94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6805"/>
            <a:ext cx="22479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controlled_values</a:t>
            </a:r>
          </a:p>
        </p:txBody>
      </p:sp>
      <p:sp>
        <p:nvSpPr>
          <p:cNvPr id="43" name="lha-evidence-table-cell-bg-2-1">
            <a:extLst xmlns:a="http://schemas.openxmlformats.org/drawingml/2006/main">
              <a:ext uri="{FF2B5EF4-FFF2-40B4-BE49-F238E27FC236}">
                <a16:creationId xmlns:a16="http://schemas.microsoft.com/office/drawing/2014/main" id="{943E37D5-8EC7-4005-95A4-06D7ABB5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88230"/>
            <a:ext cx="22860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4" name="lha-evidence-table-cell-2-1">
            <a:extLst xmlns:a="http://schemas.openxmlformats.org/drawingml/2006/main">
              <a:ext uri="{FF2B5EF4-FFF2-40B4-BE49-F238E27FC236}">
                <a16:creationId xmlns:a16="http://schemas.microsoft.com/office/drawing/2014/main" id="{DEBC4623-06E6-46AB-94D1-C2EE6515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16805"/>
            <a:ext cx="2057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45" name="lha-evidence-table-cell-bg-2-2">
            <a:extLst xmlns:a="http://schemas.openxmlformats.org/drawingml/2006/main">
              <a:ext uri="{FF2B5EF4-FFF2-40B4-BE49-F238E27FC236}">
                <a16:creationId xmlns:a16="http://schemas.microsoft.com/office/drawing/2014/main" id="{69EB33DF-D3DD-4F23-96EF-59D90E8F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88230"/>
            <a:ext cx="34290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6" name="lha-evidence-table-cell-2-2">
            <a:extLst xmlns:a="http://schemas.openxmlformats.org/drawingml/2006/main">
              <a:ext uri="{FF2B5EF4-FFF2-40B4-BE49-F238E27FC236}">
                <a16:creationId xmlns:a16="http://schemas.microsoft.com/office/drawing/2014/main" id="{9DCE0FCB-6050-402E-8B07-921CB50A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16805"/>
            <a:ext cx="3200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address matched the request value</a:t>
            </a:r>
          </a:p>
        </p:txBody>
      </p:sp>
      <p:sp>
        <p:nvSpPr>
          <p:cNvPr id="47" name="lha-evidence-table-cell-bg-3-0">
            <a:extLst xmlns:a="http://schemas.openxmlformats.org/drawingml/2006/main">
              <a:ext uri="{FF2B5EF4-FFF2-40B4-BE49-F238E27FC236}">
                <a16:creationId xmlns:a16="http://schemas.microsoft.com/office/drawing/2014/main" id="{A8D21AC8-EAC5-458B-B20E-A598EB03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0190"/>
            <a:ext cx="24765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8" name="lha-evidence-table-cell-3-0">
            <a:extLst xmlns:a="http://schemas.openxmlformats.org/drawingml/2006/main">
              <a:ext uri="{FF2B5EF4-FFF2-40B4-BE49-F238E27FC236}">
                <a16:creationId xmlns:a16="http://schemas.microsoft.com/office/drawing/2014/main" id="{5EEFA16C-FE95-4C5F-A01E-A58B6EC6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8765"/>
            <a:ext cx="22479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matched event</a:t>
            </a:r>
          </a:p>
        </p:txBody>
      </p:sp>
      <p:sp>
        <p:nvSpPr>
          <p:cNvPr id="49" name="lha-evidence-table-cell-bg-3-1">
            <a:extLst xmlns:a="http://schemas.openxmlformats.org/drawingml/2006/main">
              <a:ext uri="{FF2B5EF4-FFF2-40B4-BE49-F238E27FC236}">
                <a16:creationId xmlns:a16="http://schemas.microsoft.com/office/drawing/2014/main" id="{478AB712-E5EF-4162-9F7C-947062EB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30190"/>
            <a:ext cx="22860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0" name="lha-evidence-table-cell-3-1">
            <a:extLst xmlns:a="http://schemas.openxmlformats.org/drawingml/2006/main">
              <a:ext uri="{FF2B5EF4-FFF2-40B4-BE49-F238E27FC236}">
                <a16:creationId xmlns:a16="http://schemas.microsoft.com/office/drawing/2014/main" id="{9E94A7D1-75F3-4653-8452-42EE6663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58765"/>
            <a:ext cx="2057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mmio_read @ 0xfebfe000</a:t>
            </a:r>
          </a:p>
        </p:txBody>
      </p:sp>
      <p:sp>
        <p:nvSpPr>
          <p:cNvPr id="51" name="lha-evidence-table-cell-bg-3-2">
            <a:extLst xmlns:a="http://schemas.openxmlformats.org/drawingml/2006/main">
              <a:ext uri="{FF2B5EF4-FFF2-40B4-BE49-F238E27FC236}">
                <a16:creationId xmlns:a16="http://schemas.microsoft.com/office/drawing/2014/main" id="{2F45579E-76BC-4DF3-97F1-869D13E5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330190"/>
            <a:ext cx="342900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2" name="lha-evidence-table-cell-3-2">
            <a:extLst xmlns:a="http://schemas.openxmlformats.org/drawingml/2006/main">
              <a:ext uri="{FF2B5EF4-FFF2-40B4-BE49-F238E27FC236}">
                <a16:creationId xmlns:a16="http://schemas.microsoft.com/office/drawing/2014/main" id="{7547FBE8-38C0-42F4-9D9C-1BC8CBF1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358765"/>
            <a:ext cx="3200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pci-testdev-mmio; PC …21942</a:t>
            </a:r>
          </a:p>
        </p:txBody>
      </p:sp>
      <p:sp>
        <p:nvSpPr>
          <p:cNvPr id="53" name="lha-verdict-panel">
            <a:extLst xmlns:a="http://schemas.openxmlformats.org/drawingml/2006/main">
              <a:ext uri="{FF2B5EF4-FFF2-40B4-BE49-F238E27FC236}">
                <a16:creationId xmlns:a16="http://schemas.microsoft.com/office/drawing/2014/main" id="{2E4B90CD-A858-4B7D-BFD1-0B5F6B5D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28384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lha-verdict-label">
            <a:extLst xmlns:a="http://schemas.openxmlformats.org/drawingml/2006/main">
              <a:ext uri="{FF2B5EF4-FFF2-40B4-BE49-F238E27FC236}">
                <a16:creationId xmlns:a16="http://schemas.microsoft.com/office/drawing/2014/main" id="{C6E8CC86-ACF9-4A3A-B112-65224968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FINAL VERDICT</a:t>
            </a:r>
          </a:p>
        </p:txBody>
      </p:sp>
      <p:sp>
        <p:nvSpPr>
          <p:cNvPr id="55" name="lha-verdict-e">
            <a:extLst xmlns:a="http://schemas.openxmlformats.org/drawingml/2006/main">
              <a:ext uri="{FF2B5EF4-FFF2-40B4-BE49-F238E27FC236}">
                <a16:creationId xmlns:a16="http://schemas.microsoft.com/office/drawing/2014/main" id="{A577F2D0-066D-4784-9843-BC83D534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1005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E4</a:t>
            </a:r>
          </a:p>
        </p:txBody>
      </p:sp>
      <p:sp>
        <p:nvSpPr>
          <p:cNvPr id="56" name="lha-verdict-body">
            <a:extLst xmlns:a="http://schemas.openxmlformats.org/drawingml/2006/main">
              <a:ext uri="{FF2B5EF4-FFF2-40B4-BE49-F238E27FC236}">
                <a16:creationId xmlns:a16="http://schemas.microsoft.com/office/drawing/2014/main" id="{58B82A96-5450-4131-B475-E1069401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confirmed</a:t>
            </a:r>
          </a:p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behavior_confirmed</a:t>
            </a:r>
          </a:p>
        </p:txBody>
      </p:sp>
      <p:sp>
        <p:nvSpPr>
          <p:cNvPr id="57" name="lha-evidence-boundary">
            <a:extLst xmlns:a="http://schemas.openxmlformats.org/drawingml/2006/main">
              <a:ext uri="{FF2B5EF4-FFF2-40B4-BE49-F238E27FC236}">
                <a16:creationId xmlns:a16="http://schemas.microsoft.com/office/drawing/2014/main" id="{EDB5BB14-2BDB-4FA0-AA0A-18C0522C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DeviceIoControl success was not the proof; the request-matched, candidate-correlated host event was.</a:t>
            </a:r>
          </a:p>
        </p:txBody>
      </p:sp>
    </p:spTree>
    <p:extLst>
      <p:ext uri="{BB962C8B-B14F-4D97-AF65-F5344CB8AC3E}">
        <p14:creationId xmlns:p14="http://schemas.microsoft.com/office/powerpoint/2010/main" val="13276927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2">
            <a:extLst xmlns:a="http://schemas.openxmlformats.org/drawingml/2006/main">
              <a:ext uri="{FF2B5EF4-FFF2-40B4-BE49-F238E27FC236}">
                <a16:creationId xmlns:a16="http://schemas.microsoft.com/office/drawing/2014/main" id="{634798F9-D876-426F-8115-8534982D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THE LHA.SYS RUN TEACHES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4EDCCDA0-2B34-43B1-8E8F-379B3174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Static exactness is necessary, but runtime evidence decides</a:t>
            </a:r>
          </a:p>
        </p:txBody>
      </p:sp>
      <p:sp>
        <p:nvSpPr>
          <p:cNvPr id="3" name="footer-22">
            <a:extLst xmlns:a="http://schemas.openxmlformats.org/drawingml/2006/main">
              <a:ext uri="{FF2B5EF4-FFF2-40B4-BE49-F238E27FC236}">
                <a16:creationId xmlns:a16="http://schemas.microsoft.com/office/drawing/2014/main" id="{B0676B41-4574-441C-81C2-B280E514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lha-compare-header-bg-0">
            <a:extLst xmlns:a="http://schemas.openxmlformats.org/drawingml/2006/main">
              <a:ext uri="{FF2B5EF4-FFF2-40B4-BE49-F238E27FC236}">
                <a16:creationId xmlns:a16="http://schemas.microsoft.com/office/drawing/2014/main" id="{A1F1D18D-93C9-4EFD-90B5-0DD7579F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238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ha-compare-header-0">
            <a:extLst xmlns:a="http://schemas.openxmlformats.org/drawingml/2006/main">
              <a:ext uri="{FF2B5EF4-FFF2-40B4-BE49-F238E27FC236}">
                <a16:creationId xmlns:a16="http://schemas.microsoft.com/office/drawing/2014/main" id="{0C4DA528-75D9-42EC-9ADA-C14C4D36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2009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6" name="lha-compare-header-bg-1">
            <a:extLst xmlns:a="http://schemas.openxmlformats.org/drawingml/2006/main">
              <a:ext uri="{FF2B5EF4-FFF2-40B4-BE49-F238E27FC236}">
                <a16:creationId xmlns:a16="http://schemas.microsoft.com/office/drawing/2014/main" id="{6F219F75-0313-43CB-AFA6-64652943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657350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ha-compare-header-1">
            <a:extLst xmlns:a="http://schemas.openxmlformats.org/drawingml/2006/main">
              <a:ext uri="{FF2B5EF4-FFF2-40B4-BE49-F238E27FC236}">
                <a16:creationId xmlns:a16="http://schemas.microsoft.com/office/drawing/2014/main" id="{81C4691A-C8E1-4C5B-8DD1-272AEA2F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733550"/>
            <a:ext cx="2628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 state</a:t>
            </a:r>
          </a:p>
        </p:txBody>
      </p:sp>
      <p:sp>
        <p:nvSpPr>
          <p:cNvPr id="8" name="lha-compare-header-bg-2">
            <a:extLst xmlns:a="http://schemas.openxmlformats.org/drawingml/2006/main">
              <a:ext uri="{FF2B5EF4-FFF2-40B4-BE49-F238E27FC236}">
                <a16:creationId xmlns:a16="http://schemas.microsoft.com/office/drawing/2014/main" id="{2AF6A08E-DB08-45CF-997A-71546815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657350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ha-compare-header-2">
            <a:extLst xmlns:a="http://schemas.openxmlformats.org/drawingml/2006/main">
              <a:ext uri="{FF2B5EF4-FFF2-40B4-BE49-F238E27FC236}">
                <a16:creationId xmlns:a16="http://schemas.microsoft.com/office/drawing/2014/main" id="{0B2F0B7E-41F1-462C-8BA5-DDF12559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733550"/>
            <a:ext cx="3914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Runtime evidence</a:t>
            </a:r>
          </a:p>
        </p:txBody>
      </p:sp>
      <p:sp>
        <p:nvSpPr>
          <p:cNvPr id="10" name="lha-compare-header-bg-3">
            <a:extLst xmlns:a="http://schemas.openxmlformats.org/drawingml/2006/main">
              <a:ext uri="{FF2B5EF4-FFF2-40B4-BE49-F238E27FC236}">
                <a16:creationId xmlns:a16="http://schemas.microsoft.com/office/drawing/2014/main" id="{2151E80E-FA99-468A-8B43-03DE30B3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57350"/>
            <a:ext cx="2152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ha-compare-header-3">
            <a:extLst xmlns:a="http://schemas.openxmlformats.org/drawingml/2006/main">
              <a:ext uri="{FF2B5EF4-FFF2-40B4-BE49-F238E27FC236}">
                <a16:creationId xmlns:a16="http://schemas.microsoft.com/office/drawing/2014/main" id="{C2CE9F97-011C-4090-A16A-5DDFF657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33550"/>
            <a:ext cx="1924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12" name="lha-compare-cell-bg-0-0">
            <a:extLst xmlns:a="http://schemas.openxmlformats.org/drawingml/2006/main">
              <a:ext uri="{FF2B5EF4-FFF2-40B4-BE49-F238E27FC236}">
                <a16:creationId xmlns:a16="http://schemas.microsoft.com/office/drawing/2014/main" id="{EEDE3B27-4FC4-4658-BE18-4CC31214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76475"/>
            <a:ext cx="2238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3" name="lha-compare-cell-0-0">
            <a:extLst xmlns:a="http://schemas.openxmlformats.org/drawingml/2006/main">
              <a:ext uri="{FF2B5EF4-FFF2-40B4-BE49-F238E27FC236}">
                <a16:creationId xmlns:a16="http://schemas.microsoft.com/office/drawing/2014/main" id="{E3189E62-361E-464C-B575-D613CA5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52675"/>
            <a:ext cx="2009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0x9c402fa8</a:t>
            </a:r>
          </a:p>
        </p:txBody>
      </p:sp>
      <p:sp>
        <p:nvSpPr>
          <p:cNvPr id="14" name="lha-compare-cell-bg-0-1">
            <a:extLst xmlns:a="http://schemas.openxmlformats.org/drawingml/2006/main">
              <a:ext uri="{FF2B5EF4-FFF2-40B4-BE49-F238E27FC236}">
                <a16:creationId xmlns:a16="http://schemas.microsoft.com/office/drawing/2014/main" id="{ED29B89C-995D-4228-B7AD-06FECF23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7647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5" name="lha-compare-cell-0-1">
            <a:extLst xmlns:a="http://schemas.openxmlformats.org/drawingml/2006/main">
              <a:ext uri="{FF2B5EF4-FFF2-40B4-BE49-F238E27FC236}">
                <a16:creationId xmlns:a16="http://schemas.microsoft.com/office/drawing/2014/main" id="{CADEC14C-85B5-475E-8308-83D7AAEE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352675"/>
            <a:ext cx="2628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local_exact; ready</a:t>
            </a:r>
          </a:p>
        </p:txBody>
      </p:sp>
      <p:sp>
        <p:nvSpPr>
          <p:cNvPr id="16" name="lha-compare-cell-bg-0-2">
            <a:extLst xmlns:a="http://schemas.openxmlformats.org/drawingml/2006/main">
              <a:ext uri="{FF2B5EF4-FFF2-40B4-BE49-F238E27FC236}">
                <a16:creationId xmlns:a16="http://schemas.microsoft.com/office/drawing/2014/main" id="{7E335B9B-ECFF-49BE-81F7-C7E529F3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276475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7" name="lha-compare-cell-0-2">
            <a:extLst xmlns:a="http://schemas.openxmlformats.org/drawingml/2006/main">
              <a:ext uri="{FF2B5EF4-FFF2-40B4-BE49-F238E27FC236}">
                <a16:creationId xmlns:a16="http://schemas.microsoft.com/office/drawing/2014/main" id="{98DF8894-FED5-43E8-BC3F-F49FF177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352675"/>
            <a:ext cx="3914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controlled value + candidate PC + provider MMIO</a:t>
            </a:r>
          </a:p>
        </p:txBody>
      </p:sp>
      <p:sp>
        <p:nvSpPr>
          <p:cNvPr id="18" name="lha-compare-cell-bg-0-3">
            <a:extLst xmlns:a="http://schemas.openxmlformats.org/drawingml/2006/main">
              <a:ext uri="{FF2B5EF4-FFF2-40B4-BE49-F238E27FC236}">
                <a16:creationId xmlns:a16="http://schemas.microsoft.com/office/drawing/2014/main" id="{9AB33694-424F-4664-9A89-4CFD9BEF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76475"/>
            <a:ext cx="2152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9" name="lha-compare-cell-0-3">
            <a:extLst xmlns:a="http://schemas.openxmlformats.org/drawingml/2006/main">
              <a:ext uri="{FF2B5EF4-FFF2-40B4-BE49-F238E27FC236}">
                <a16:creationId xmlns:a16="http://schemas.microsoft.com/office/drawing/2014/main" id="{98AEB94F-1DBC-4576-BA4A-A4E90BC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52675"/>
            <a:ext cx="1924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confirmed / E4</a:t>
            </a:r>
          </a:p>
        </p:txBody>
      </p:sp>
      <p:sp>
        <p:nvSpPr>
          <p:cNvPr id="20" name="lha-compare-cell-bg-1-0">
            <a:extLst xmlns:a="http://schemas.openxmlformats.org/drawingml/2006/main">
              <a:ext uri="{FF2B5EF4-FFF2-40B4-BE49-F238E27FC236}">
                <a16:creationId xmlns:a16="http://schemas.microsoft.com/office/drawing/2014/main" id="{E61250BD-AC36-49DF-A392-47FCDC10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238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1" name="lha-compare-cell-1-0">
            <a:extLst xmlns:a="http://schemas.openxmlformats.org/drawingml/2006/main">
              <a:ext uri="{FF2B5EF4-FFF2-40B4-BE49-F238E27FC236}">
                <a16:creationId xmlns:a16="http://schemas.microsoft.com/office/drawing/2014/main" id="{9B1F6CC0-6F09-4C2B-8DDE-1B90BF09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2009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0x9c4036b0</a:t>
            </a:r>
          </a:p>
        </p:txBody>
      </p:sp>
      <p:sp>
        <p:nvSpPr>
          <p:cNvPr id="22" name="lha-compare-cell-bg-1-1">
            <a:extLst xmlns:a="http://schemas.openxmlformats.org/drawingml/2006/main">
              <a:ext uri="{FF2B5EF4-FFF2-40B4-BE49-F238E27FC236}">
                <a16:creationId xmlns:a16="http://schemas.microsoft.com/office/drawing/2014/main" id="{02982C6D-FBC4-4EC8-9120-7EAAA7F3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895600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3" name="lha-compare-cell-1-1">
            <a:extLst xmlns:a="http://schemas.openxmlformats.org/drawingml/2006/main">
              <a:ext uri="{FF2B5EF4-FFF2-40B4-BE49-F238E27FC236}">
                <a16:creationId xmlns:a16="http://schemas.microsoft.com/office/drawing/2014/main" id="{F737400F-D750-41AB-8B3F-6A69E42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971800"/>
            <a:ext cx="2628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still exact; still ready</a:t>
            </a:r>
          </a:p>
        </p:txBody>
      </p:sp>
      <p:sp>
        <p:nvSpPr>
          <p:cNvPr id="24" name="lha-compare-cell-bg-1-2">
            <a:extLst xmlns:a="http://schemas.openxmlformats.org/drawingml/2006/main">
              <a:ext uri="{FF2B5EF4-FFF2-40B4-BE49-F238E27FC236}">
                <a16:creationId xmlns:a16="http://schemas.microsoft.com/office/drawing/2014/main" id="{4E204976-84E6-4E1D-AA21-C26AA2F8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95600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5" name="lha-compare-cell-1-2">
            <a:extLst xmlns:a="http://schemas.openxmlformats.org/drawingml/2006/main">
              <a:ext uri="{FF2B5EF4-FFF2-40B4-BE49-F238E27FC236}">
                <a16:creationId xmlns:a16="http://schemas.microsoft.com/office/drawing/2014/main" id="{1FA49CD3-BDBF-4C25-A514-2A3B93D1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971800"/>
            <a:ext cx="3914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observer saw MMIO, but correlation was not equally strong</a:t>
            </a:r>
          </a:p>
        </p:txBody>
      </p:sp>
      <p:sp>
        <p:nvSpPr>
          <p:cNvPr id="26" name="lha-compare-cell-bg-1-3">
            <a:extLst xmlns:a="http://schemas.openxmlformats.org/drawingml/2006/main">
              <a:ext uri="{FF2B5EF4-FFF2-40B4-BE49-F238E27FC236}">
                <a16:creationId xmlns:a16="http://schemas.microsoft.com/office/drawing/2014/main" id="{2A7844F9-1696-46F6-A8E6-FB4D6DA9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95600"/>
            <a:ext cx="2152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7" name="lha-compare-cell-1-3">
            <a:extLst xmlns:a="http://schemas.openxmlformats.org/drawingml/2006/main">
              <a:ext uri="{FF2B5EF4-FFF2-40B4-BE49-F238E27FC236}">
                <a16:creationId xmlns:a16="http://schemas.microsoft.com/office/drawing/2014/main" id="{639A4F6F-FDDE-42E4-B4E0-F43DA9AE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71800"/>
            <a:ext cx="1924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inconclusive / E3</a:t>
            </a:r>
          </a:p>
        </p:txBody>
      </p:sp>
      <p:sp>
        <p:nvSpPr>
          <p:cNvPr id="28" name="lha-compare-cell-bg-2-0">
            <a:extLst xmlns:a="http://schemas.openxmlformats.org/drawingml/2006/main">
              <a:ext uri="{FF2B5EF4-FFF2-40B4-BE49-F238E27FC236}">
                <a16:creationId xmlns:a16="http://schemas.microsoft.com/office/drawing/2014/main" id="{0F5BBB60-C43C-47D3-94C0-D63B95FA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2238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9" name="lha-compare-cell-2-0">
            <a:extLst xmlns:a="http://schemas.openxmlformats.org/drawingml/2006/main">
              <a:ext uri="{FF2B5EF4-FFF2-40B4-BE49-F238E27FC236}">
                <a16:creationId xmlns:a16="http://schemas.microsoft.com/office/drawing/2014/main" id="{79A250BA-995C-4C3D-8D26-82C93AAD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90925"/>
            <a:ext cx="2009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Port-I/O cases</a:t>
            </a:r>
          </a:p>
        </p:txBody>
      </p:sp>
      <p:sp>
        <p:nvSpPr>
          <p:cNvPr id="30" name="lha-compare-cell-bg-2-1">
            <a:extLst xmlns:a="http://schemas.openxmlformats.org/drawingml/2006/main">
              <a:ext uri="{FF2B5EF4-FFF2-40B4-BE49-F238E27FC236}">
                <a16:creationId xmlns:a16="http://schemas.microsoft.com/office/drawing/2014/main" id="{5DD51FFE-207C-4B3C-A393-650D6711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5147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1" name="lha-compare-cell-2-1">
            <a:extLst xmlns:a="http://schemas.openxmlformats.org/drawingml/2006/main">
              <a:ext uri="{FF2B5EF4-FFF2-40B4-BE49-F238E27FC236}">
                <a16:creationId xmlns:a16="http://schemas.microsoft.com/office/drawing/2014/main" id="{A8244DB4-AEC7-4116-A0F3-62554BD4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90925"/>
            <a:ext cx="2628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many records; some proven</a:t>
            </a:r>
          </a:p>
        </p:txBody>
      </p:sp>
      <p:sp>
        <p:nvSpPr>
          <p:cNvPr id="32" name="lha-compare-cell-bg-2-2">
            <a:extLst xmlns:a="http://schemas.openxmlformats.org/drawingml/2006/main">
              <a:ext uri="{FF2B5EF4-FFF2-40B4-BE49-F238E27FC236}">
                <a16:creationId xmlns:a16="http://schemas.microsoft.com/office/drawing/2014/main" id="{EC1AF3B7-B6C1-42AF-A10D-41D2D56F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514725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3" name="lha-compare-cell-2-2">
            <a:extLst xmlns:a="http://schemas.openxmlformats.org/drawingml/2006/main">
              <a:ext uri="{FF2B5EF4-FFF2-40B4-BE49-F238E27FC236}">
                <a16:creationId xmlns:a16="http://schemas.microsoft.com/office/drawing/2014/main" id="{4DF9F4DD-4790-4FDA-BF57-F375640B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590925"/>
            <a:ext cx="3914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mostly no reproduction; some harness-visible uncertainty</a:t>
            </a:r>
          </a:p>
        </p:txBody>
      </p:sp>
      <p:sp>
        <p:nvSpPr>
          <p:cNvPr id="34" name="lha-compare-cell-bg-2-3">
            <a:extLst xmlns:a="http://schemas.openxmlformats.org/drawingml/2006/main">
              <a:ext uri="{FF2B5EF4-FFF2-40B4-BE49-F238E27FC236}">
                <a16:creationId xmlns:a16="http://schemas.microsoft.com/office/drawing/2014/main" id="{89052714-B6BE-49B4-A7BA-4025930F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14725"/>
            <a:ext cx="2152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5" name="lha-compare-cell-2-3">
            <a:extLst xmlns:a="http://schemas.openxmlformats.org/drawingml/2006/main">
              <a:ext uri="{FF2B5EF4-FFF2-40B4-BE49-F238E27FC236}">
                <a16:creationId xmlns:a16="http://schemas.microsoft.com/office/drawing/2014/main" id="{108ABC95-F375-4A7D-8F27-12363FAA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90925"/>
            <a:ext cx="1924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not promoted</a:t>
            </a:r>
          </a:p>
        </p:txBody>
      </p:sp>
      <p:sp>
        <p:nvSpPr>
          <p:cNvPr id="36" name="lha-lessons-heading-1">
            <a:extLst xmlns:a="http://schemas.openxmlformats.org/drawingml/2006/main">
              <a:ext uri="{FF2B5EF4-FFF2-40B4-BE49-F238E27FC236}">
                <a16:creationId xmlns:a16="http://schemas.microsoft.com/office/drawing/2014/main" id="{04664CF6-EB3F-4F5E-A8BF-7747D7F7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Recovery worked</a:t>
            </a:r>
          </a:p>
        </p:txBody>
      </p:sp>
      <p:sp>
        <p:nvSpPr>
          <p:cNvPr id="37" name="lha-lessons-body-1">
            <a:extLst xmlns:a="http://schemas.openxmlformats.org/drawingml/2006/main">
              <a:ext uri="{FF2B5EF4-FFF2-40B4-BE49-F238E27FC236}">
                <a16:creationId xmlns:a16="http://schemas.microsoft.com/office/drawing/2014/main" id="{0D786BEF-DFB3-4905-89AC-7FFD872A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3568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WDM wiring, exact IOCTL cases, request offsets, and the sink path survived every static stage.</a:t>
            </a:r>
          </a:p>
        </p:txBody>
      </p:sp>
      <p:sp>
        <p:nvSpPr>
          <p:cNvPr id="38" name="lha-lessons-heading-2">
            <a:extLst xmlns:a="http://schemas.openxmlformats.org/drawingml/2006/main">
              <a:ext uri="{FF2B5EF4-FFF2-40B4-BE49-F238E27FC236}">
                <a16:creationId xmlns:a16="http://schemas.microsoft.com/office/drawing/2014/main" id="{060D6575-7E04-4A28-904A-9A4B81BB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5529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Preparation worked</a:t>
            </a:r>
          </a:p>
        </p:txBody>
      </p:sp>
      <p:sp>
        <p:nvSpPr>
          <p:cNvPr id="39" name="lha-lessons-body-2">
            <a:extLst xmlns:a="http://schemas.openxmlformats.org/drawingml/2006/main">
              <a:ext uri="{FF2B5EF4-FFF2-40B4-BE49-F238E27FC236}">
                <a16:creationId xmlns:a16="http://schemas.microsoft.com/office/drawing/2014/main" id="{95F0D506-F5B5-4753-B6B8-73890C80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5181600"/>
            <a:ext cx="3568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runner repaired an unknown install mode, loaded the service, confirmed a device path, and rebound the case.</a:t>
            </a:r>
          </a:p>
        </p:txBody>
      </p:sp>
      <p:sp>
        <p:nvSpPr>
          <p:cNvPr id="40" name="lha-lessons-heading-3">
            <a:extLst xmlns:a="http://schemas.openxmlformats.org/drawingml/2006/main">
              <a:ext uri="{FF2B5EF4-FFF2-40B4-BE49-F238E27FC236}">
                <a16:creationId xmlns:a16="http://schemas.microsoft.com/office/drawing/2014/main" id="{40F4E161-0E18-4BA6-8BC4-8C984F45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45529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Grading stayed honest</a:t>
            </a:r>
          </a:p>
        </p:txBody>
      </p:sp>
      <p:sp>
        <p:nvSpPr>
          <p:cNvPr id="41" name="lha-lessons-body-3">
            <a:extLst xmlns:a="http://schemas.openxmlformats.org/drawingml/2006/main">
              <a:ext uri="{FF2B5EF4-FFF2-40B4-BE49-F238E27FC236}">
                <a16:creationId xmlns:a16="http://schemas.microsoft.com/office/drawing/2014/main" id="{B41FFB28-F852-4C66-A81B-C6792209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5181600"/>
            <a:ext cx="3568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Two physical cases confirmed; one stayed inconclusive; port-I/O cases were not upgraded by static suspicion alone.</a:t>
            </a:r>
          </a:p>
        </p:txBody>
      </p:sp>
    </p:spTree>
    <p:extLst>
      <p:ext uri="{BB962C8B-B14F-4D97-AF65-F5344CB8AC3E}">
        <p14:creationId xmlns:p14="http://schemas.microsoft.com/office/powerpoint/2010/main" val="17168415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kicker-v2">
            <a:extLst xmlns:a="http://schemas.openxmlformats.org/drawingml/2006/main">
              <a:ext uri="{FF2B5EF4-FFF2-40B4-BE49-F238E27FC236}">
                <a16:creationId xmlns:a16="http://schemas.microsoft.com/office/drawing/2014/main" id="{DC12A066-7110-405F-B44F-9235288A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KERNEL SIEVE</a:t>
            </a:r>
          </a:p>
        </p:txBody>
      </p:sp>
      <p:sp>
        <p:nvSpPr>
          <p:cNvPr id="2" name="close-title-v2">
            <a:extLst xmlns:a="http://schemas.openxmlformats.org/drawingml/2006/main">
              <a:ext uri="{FF2B5EF4-FFF2-40B4-BE49-F238E27FC236}">
                <a16:creationId xmlns:a16="http://schemas.microsoft.com/office/drawing/2014/main" id="{D0B5ECBB-A267-49EC-9592-A9D196CF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defensible finding is</a:t>
            </a:r>
          </a:p>
          <a:p xmlns:a="http://schemas.openxmlformats.org/drawingml/2006/main">
            <a:pPr algn="l">
              <a:defRPr sz="4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chain of evidence—not</a:t>
            </a:r>
          </a:p>
          <a:p xmlns:a="http://schemas.openxmlformats.org/drawingml/2006/main">
            <a:pPr algn="l">
              <a:defRPr sz="4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suspicious API call</a:t>
            </a:r>
          </a:p>
        </p:txBody>
      </p:sp>
      <p:sp>
        <p:nvSpPr>
          <p:cNvPr id="3" name="close-points-v2">
            <a:extLst xmlns:a="http://schemas.openxmlformats.org/drawingml/2006/main">
              <a:ext uri="{FF2B5EF4-FFF2-40B4-BE49-F238E27FC236}">
                <a16:creationId xmlns:a16="http://schemas.microsoft.com/office/drawing/2014/main" id="{E97C9E72-59FC-4351-86B1-0EA93546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619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1. Recover the exact invocation surface</a:t>
            </a:r>
          </a:p>
          <a:p xmlns:a="http://schemas.openxmlformats.org/drawingml/2006/main">
            <a:pPr algn="l">
              <a:defRPr sz="16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2. Prove which request value controls which required operand</a:t>
            </a:r>
          </a:p>
          <a:p xmlns:a="http://schemas.openxmlformats.org/drawingml/2006/main">
            <a:pPr algn="l">
              <a:defRPr sz="16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3. Run one experiment and grade only what it observes</a:t>
            </a:r>
          </a:p>
        </p:txBody>
      </p:sp>
      <p:sp>
        <p:nvSpPr>
          <p:cNvPr id="4" name="close-lha-v2">
            <a:extLst xmlns:a="http://schemas.openxmlformats.org/drawingml/2006/main">
              <a:ext uri="{FF2B5EF4-FFF2-40B4-BE49-F238E27FC236}">
                <a16:creationId xmlns:a16="http://schemas.microsoft.com/office/drawing/2014/main" id="{0A3ACAD8-17EB-4383-8863-3AE9983D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19700"/>
            <a:ext cx="4667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LHA.sys demonstrates the complete path: 0x9c402fa8 → SystemBuffer[0..3] → MmMapIoSpace → correlated MMIO → E4.</a:t>
            </a:r>
          </a:p>
        </p:txBody>
      </p:sp>
    </p:spTree>
    <p:extLst>
      <p:ext uri="{BB962C8B-B14F-4D97-AF65-F5344CB8AC3E}">
        <p14:creationId xmlns:p14="http://schemas.microsoft.com/office/powerpoint/2010/main" val="196475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2026-08-04T03:02:07.1100000Z</dcterms:created>
  <dcterms:modified xsi:type="dcterms:W3CDTF">2026-08-04T03:02:07.1100000Z</dcterms:modified>
</coreProperties>
</file>