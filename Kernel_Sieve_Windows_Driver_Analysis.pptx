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1b3f3f8e0b4da6" /><Relationship Type="http://schemas.openxmlformats.org/officeDocument/2006/relationships/extended-properties" Target="/docProps/app.xml" Id="Re12829783d1446d1" /><Relationship Type="http://schemas.openxmlformats.org/officeDocument/2006/relationships/officeDocument" Target="/ppt/presentation.xml" Id="Rb71a10532f1543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dc1c05226f4a5c"/>
  </p:sldMasterIdLst>
  <p:notesMasterIdLst>
    <p:notesMasterId xmlns:r="http://schemas.openxmlformats.org/officeDocument/2006/relationships" r:id="Rd79083ea20354d63"/>
  </p:notesMasterIdLst>
  <p:sldIdLst>
    <p:sldId xmlns:r="http://schemas.openxmlformats.org/officeDocument/2006/relationships" id="256" r:id="R44aadbda184d4902"/>
    <p:sldId xmlns:r="http://schemas.openxmlformats.org/officeDocument/2006/relationships" id="257" r:id="R393e9af1bdc948dd"/>
    <p:sldId xmlns:r="http://schemas.openxmlformats.org/officeDocument/2006/relationships" id="258" r:id="R6c601e3985e2429e"/>
    <p:sldId xmlns:r="http://schemas.openxmlformats.org/officeDocument/2006/relationships" id="259" r:id="R5ca8b6ff36704316"/>
    <p:sldId xmlns:r="http://schemas.openxmlformats.org/officeDocument/2006/relationships" id="260" r:id="R18ced07db12d42df"/>
    <p:sldId xmlns:r="http://schemas.openxmlformats.org/officeDocument/2006/relationships" id="261" r:id="R1522bd40b821420e"/>
    <p:sldId xmlns:r="http://schemas.openxmlformats.org/officeDocument/2006/relationships" id="262" r:id="R1c824ee936e7418a"/>
    <p:sldId xmlns:r="http://schemas.openxmlformats.org/officeDocument/2006/relationships" id="263" r:id="R6b9a5bec2892471f"/>
    <p:sldId xmlns:r="http://schemas.openxmlformats.org/officeDocument/2006/relationships" id="264" r:id="R6c298f139e054f1b"/>
    <p:sldId xmlns:r="http://schemas.openxmlformats.org/officeDocument/2006/relationships" id="265" r:id="Rfd239c839e4143f0"/>
    <p:sldId xmlns:r="http://schemas.openxmlformats.org/officeDocument/2006/relationships" id="266" r:id="R1a3a36dfa25943e0"/>
    <p:sldId xmlns:r="http://schemas.openxmlformats.org/officeDocument/2006/relationships" id="267" r:id="R185da7265c924591"/>
    <p:sldId xmlns:r="http://schemas.openxmlformats.org/officeDocument/2006/relationships" id="268" r:id="Rfa61cd63989a438e"/>
    <p:sldId xmlns:r="http://schemas.openxmlformats.org/officeDocument/2006/relationships" id="269" r:id="R6bdafb924f8046bc"/>
    <p:sldId xmlns:r="http://schemas.openxmlformats.org/officeDocument/2006/relationships" id="270" r:id="R96e510d6fadb4b75"/>
    <p:sldId xmlns:r="http://schemas.openxmlformats.org/officeDocument/2006/relationships" id="271" r:id="R7c25596336284e72"/>
    <p:sldId xmlns:r="http://schemas.openxmlformats.org/officeDocument/2006/relationships" id="272" r:id="R708963e2afcf4e35"/>
    <p:sldId xmlns:r="http://schemas.openxmlformats.org/officeDocument/2006/relationships" id="273" r:id="R060a1a5a852e413b"/>
    <p:sldId xmlns:r="http://schemas.openxmlformats.org/officeDocument/2006/relationships" id="274" r:id="Rb2422aee35f24dc4"/>
    <p:sldId xmlns:r="http://schemas.openxmlformats.org/officeDocument/2006/relationships" id="275" r:id="R040b8865f2824e84"/>
    <p:sldId xmlns:r="http://schemas.openxmlformats.org/officeDocument/2006/relationships" id="276" r:id="R3b50b310f4fb4150"/>
    <p:sldId xmlns:r="http://schemas.openxmlformats.org/officeDocument/2006/relationships" id="277" r:id="Rbc0c9b1a342c42d7"/>
    <p:sldId xmlns:r="http://schemas.openxmlformats.org/officeDocument/2006/relationships" id="278" r:id="R788bc353c19e495b"/>
    <p:sldId xmlns:r="http://schemas.openxmlformats.org/officeDocument/2006/relationships" id="279" r:id="R215df553f8c44966"/>
    <p:sldId xmlns:r="http://schemas.openxmlformats.org/officeDocument/2006/relationships" id="280" r:id="R4d9ac1f342d547e3"/>
    <p:sldId xmlns:r="http://schemas.openxmlformats.org/officeDocument/2006/relationships" id="281" r:id="Rd26b4d0de0ca49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b974bcd4b24af1" /><Relationship Type="http://schemas.openxmlformats.org/officeDocument/2006/relationships/slideMaster" Target="/ppt/slideMasters/slideMaster1.xml" Id="R5ddc1c05226f4a5c" /><Relationship Type="http://schemas.openxmlformats.org/officeDocument/2006/relationships/notesMaster" Target="/ppt/notesMasters/notesMaster1.xml" Id="Rd79083ea20354d63" /><Relationship Type="http://schemas.openxmlformats.org/officeDocument/2006/relationships/presProps" Target="/ppt/presProps.xml" Id="Ra179a005dfc1439d" /><Relationship Type="http://schemas.openxmlformats.org/officeDocument/2006/relationships/tableStyles" Target="/ppt/tableStyles.xml" Id="R82e03722981f48f8" /><Relationship Type="http://schemas.openxmlformats.org/officeDocument/2006/relationships/slide" Target="/ppt/slides/slide1.xml" Id="R44aadbda184d4902" /><Relationship Type="http://schemas.openxmlformats.org/officeDocument/2006/relationships/slide" Target="/ppt/slides/slide2.xml" Id="R393e9af1bdc948dd" /><Relationship Type="http://schemas.openxmlformats.org/officeDocument/2006/relationships/slide" Target="/ppt/slides/slide3.xml" Id="R6c601e3985e2429e" /><Relationship Type="http://schemas.openxmlformats.org/officeDocument/2006/relationships/slide" Target="/ppt/slides/slide4.xml" Id="R5ca8b6ff36704316" /><Relationship Type="http://schemas.openxmlformats.org/officeDocument/2006/relationships/slide" Target="/ppt/slides/slide5.xml" Id="R18ced07db12d42df" /><Relationship Type="http://schemas.openxmlformats.org/officeDocument/2006/relationships/slide" Target="/ppt/slides/slide6.xml" Id="R1522bd40b821420e" /><Relationship Type="http://schemas.openxmlformats.org/officeDocument/2006/relationships/slide" Target="/ppt/slides/slide7.xml" Id="R1c824ee936e7418a" /><Relationship Type="http://schemas.openxmlformats.org/officeDocument/2006/relationships/slide" Target="/ppt/slides/slide8.xml" Id="R6b9a5bec2892471f" /><Relationship Type="http://schemas.openxmlformats.org/officeDocument/2006/relationships/slide" Target="/ppt/slides/slide9.xml" Id="R6c298f139e054f1b" /><Relationship Type="http://schemas.openxmlformats.org/officeDocument/2006/relationships/slide" Target="/ppt/slides/slide10.xml" Id="Rfd239c839e4143f0" /><Relationship Type="http://schemas.openxmlformats.org/officeDocument/2006/relationships/slide" Target="/ppt/slides/slide11.xml" Id="R1a3a36dfa25943e0" /><Relationship Type="http://schemas.openxmlformats.org/officeDocument/2006/relationships/slide" Target="/ppt/slides/slide12.xml" Id="R185da7265c924591" /><Relationship Type="http://schemas.openxmlformats.org/officeDocument/2006/relationships/slide" Target="/ppt/slides/slide13.xml" Id="Rfa61cd63989a438e" /><Relationship Type="http://schemas.openxmlformats.org/officeDocument/2006/relationships/slide" Target="/ppt/slides/slide14.xml" Id="R6bdafb924f8046bc" /><Relationship Type="http://schemas.openxmlformats.org/officeDocument/2006/relationships/slide" Target="/ppt/slides/slide15.xml" Id="R96e510d6fadb4b75" /><Relationship Type="http://schemas.openxmlformats.org/officeDocument/2006/relationships/slide" Target="/ppt/slides/slide16.xml" Id="R7c25596336284e72" /><Relationship Type="http://schemas.openxmlformats.org/officeDocument/2006/relationships/slide" Target="/ppt/slides/slide17.xml" Id="R708963e2afcf4e35" /><Relationship Type="http://schemas.openxmlformats.org/officeDocument/2006/relationships/slide" Target="/ppt/slides/slide18.xml" Id="R060a1a5a852e413b" /><Relationship Type="http://schemas.openxmlformats.org/officeDocument/2006/relationships/slide" Target="/ppt/slides/slide19.xml" Id="Rb2422aee35f24dc4" /><Relationship Type="http://schemas.openxmlformats.org/officeDocument/2006/relationships/slide" Target="/ppt/slides/slide20.xml" Id="R040b8865f2824e84" /><Relationship Type="http://schemas.openxmlformats.org/officeDocument/2006/relationships/slide" Target="/ppt/slides/slide21.xml" Id="R3b50b310f4fb4150" /><Relationship Type="http://schemas.openxmlformats.org/officeDocument/2006/relationships/slide" Target="/ppt/slides/slide22.xml" Id="Rbc0c9b1a342c42d7" /><Relationship Type="http://schemas.openxmlformats.org/officeDocument/2006/relationships/slide" Target="/ppt/slides/slide23.xml" Id="R788bc353c19e495b" /><Relationship Type="http://schemas.openxmlformats.org/officeDocument/2006/relationships/slide" Target="/ppt/slides/slide24.xml" Id="R215df553f8c44966" /><Relationship Type="http://schemas.openxmlformats.org/officeDocument/2006/relationships/slide" Target="/ppt/slides/slide25.xml" Id="R4d9ac1f342d547e3" /><Relationship Type="http://schemas.openxmlformats.org/officeDocument/2006/relationships/slide" Target="/ppt/slides/slide26.xml" Id="Rd26b4d0de0ca49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8590a5f2a84b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90e8529173465c" /><Relationship Type="http://schemas.openxmlformats.org/officeDocument/2006/relationships/notesMaster" Target="/ppt/notesMasters/notesMaster1.xml" Id="Rd89489fe24604a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94d75c431b48d4" /><Relationship Type="http://schemas.openxmlformats.org/officeDocument/2006/relationships/notesMaster" Target="/ppt/notesMasters/notesMaster1.xml" Id="R1e758ef4308641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b5284380304213" /><Relationship Type="http://schemas.openxmlformats.org/officeDocument/2006/relationships/notesMaster" Target="/ppt/notesMasters/notesMaster1.xml" Id="Rf72e34db7fc340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ed035a3de94ddf" /><Relationship Type="http://schemas.openxmlformats.org/officeDocument/2006/relationships/notesMaster" Target="/ppt/notesMasters/notesMaster1.xml" Id="R335b2cc8a3a0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9abebd955343af" /><Relationship Type="http://schemas.openxmlformats.org/officeDocument/2006/relationships/notesMaster" Target="/ppt/notesMasters/notesMaster1.xml" Id="Rae36c6cdb16a48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67ee36fc064384" /><Relationship Type="http://schemas.openxmlformats.org/officeDocument/2006/relationships/notesMaster" Target="/ppt/notesMasters/notesMaster1.xml" Id="Rf3ba9b3b336d4f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0bf2406eb2413d" /><Relationship Type="http://schemas.openxmlformats.org/officeDocument/2006/relationships/notesMaster" Target="/ppt/notesMasters/notesMaster1.xml" Id="Ra10613b8c13c45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7d304f89654445" /><Relationship Type="http://schemas.openxmlformats.org/officeDocument/2006/relationships/notesMaster" Target="/ppt/notesMasters/notesMaster1.xml" Id="R0373c41a2a5b43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34ac88cc1e4bc7" /><Relationship Type="http://schemas.openxmlformats.org/officeDocument/2006/relationships/notesMaster" Target="/ppt/notesMasters/notesMaster1.xml" Id="R3854858463b54c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600cbd07cd4eb5" /><Relationship Type="http://schemas.openxmlformats.org/officeDocument/2006/relationships/notesMaster" Target="/ppt/notesMasters/notesMaster1.xml" Id="Rb67a8034f3034c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08cf7de28c4564" /><Relationship Type="http://schemas.openxmlformats.org/officeDocument/2006/relationships/notesMaster" Target="/ppt/notesMasters/notesMaster1.xml" Id="Raa87d6a8f53843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77e3276cfc4746" /><Relationship Type="http://schemas.openxmlformats.org/officeDocument/2006/relationships/notesMaster" Target="/ppt/notesMasters/notesMaster1.xml" Id="Re08f2046eb874e5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ce0de56c494546" /><Relationship Type="http://schemas.openxmlformats.org/officeDocument/2006/relationships/notesMaster" Target="/ppt/notesMasters/notesMaster1.xml" Id="R6f63b388aae444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a3f0bd1bb542f7" /><Relationship Type="http://schemas.openxmlformats.org/officeDocument/2006/relationships/notesMaster" Target="/ppt/notesMasters/notesMaster1.xml" Id="R87cb81b043374f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3e156eb6054769" /><Relationship Type="http://schemas.openxmlformats.org/officeDocument/2006/relationships/notesMaster" Target="/ppt/notesMasters/notesMaster1.xml" Id="R57fe6d1622e348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ae392032174675" /><Relationship Type="http://schemas.openxmlformats.org/officeDocument/2006/relationships/notesMaster" Target="/ppt/notesMasters/notesMaster1.xml" Id="R44e485ef098c40a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493b03bf90466b" /><Relationship Type="http://schemas.openxmlformats.org/officeDocument/2006/relationships/notesMaster" Target="/ppt/notesMasters/notesMaster1.xml" Id="Ra605bc01e3f943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fd7d82be554940" /><Relationship Type="http://schemas.openxmlformats.org/officeDocument/2006/relationships/notesMaster" Target="/ppt/notesMasters/notesMaster1.xml" Id="R632565bd13dc484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014c2f30324256" /><Relationship Type="http://schemas.openxmlformats.org/officeDocument/2006/relationships/notesMaster" Target="/ppt/notesMasters/notesMaster1.xml" Id="Rba89f5d9505b499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e60bd35fd3b48a0" /><Relationship Type="http://schemas.openxmlformats.org/officeDocument/2006/relationships/notesMaster" Target="/ppt/notesMasters/notesMaster1.xml" Id="R238d1cf7644043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1654f5260645f8" /><Relationship Type="http://schemas.openxmlformats.org/officeDocument/2006/relationships/notesMaster" Target="/ppt/notesMasters/notesMaster1.xml" Id="R8d68e8527a864b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1e674a16f9245f3" /><Relationship Type="http://schemas.openxmlformats.org/officeDocument/2006/relationships/notesMaster" Target="/ppt/notesMasters/notesMaster1.xml" Id="R17db09edcd194a6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c01d6c3b5c44bc0" /><Relationship Type="http://schemas.openxmlformats.org/officeDocument/2006/relationships/notesMaster" Target="/ppt/notesMasters/notesMaster1.xml" Id="Rb2a3a0d9f5fd43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f45ae186b14e6c" /><Relationship Type="http://schemas.openxmlformats.org/officeDocument/2006/relationships/notesMaster" Target="/ppt/notesMasters/notesMaster1.xml" Id="R283ac44b777b44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fe43fb7467e4b03" /><Relationship Type="http://schemas.openxmlformats.org/officeDocument/2006/relationships/notesMaster" Target="/ppt/notesMasters/notesMaster1.xml" Id="R0654bd3d629f498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041900aae024e5c" /><Relationship Type="http://schemas.openxmlformats.org/officeDocument/2006/relationships/notesMaster" Target="/ppt/notesMasters/notesMaster1.xml" Id="Ra15f80a5786c47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stage1.md</a:t>
            </a:r>
          </a:p>
          <a:p xmlns:a="http://schemas.openxmlformats.org/drawingml/2006/main">
            <a:r>
              <a:t>- stage2.md</a:t>
            </a:r>
          </a:p>
          <a:p xmlns:a="http://schemas.openxmlformats.org/drawingml/2006/main">
            <a:r>
              <a:t>- stage3.md</a:t>
            </a:r>
          </a:p>
          <a:p xmlns:a="http://schemas.openxmlformats.org/drawingml/2006/main">
            <a:r>
              <a:t>- stage4.md</a:t>
            </a:r>
          </a:p>
          <a:p xmlns:a="http://schemas.openxmlformats.org/drawingml/2006/main">
            <a:r>
              <a:t>- stage5.md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stage1.md</a:t>
            </a:r>
          </a:p>
          <a:p xmlns:a="http://schemas.openxmlformats.org/drawingml/2006/main">
            <a:r>
              <a:t>- stage2.md</a:t>
            </a:r>
          </a:p>
          <a:p xmlns:a="http://schemas.openxmlformats.org/drawingml/2006/main">
            <a:r>
              <a:t>- stage3.md</a:t>
            </a:r>
          </a:p>
          <a:p xmlns:a="http://schemas.openxmlformats.org/drawingml/2006/main">
            <a:r>
              <a:t>- stage4.md</a:t>
            </a:r>
          </a:p>
          <a:p xmlns:a="http://schemas.openxmlformats.org/drawingml/2006/main">
            <a:r>
              <a:t>- stage5.md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stage2.md — WDM dispatch background and IOCTL format</a:t>
            </a:r>
          </a:p>
          <a:p xmlns:a="http://schemas.openxmlformats.org/drawingml/2006/main">
            <a:r>
              <a:t>- stage3.md — method-aware request sources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graph: a funnel or Sankey using real corpus counts. Do not infer counts from the stage documentation.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stage1.md</a:t>
            </a:r>
          </a:p>
          <a:p xmlns:a="http://schemas.openxmlformats.org/drawingml/2006/main">
            <a:r>
              <a:t>- stage2.md</a:t>
            </a:r>
          </a:p>
          <a:p xmlns:a="http://schemas.openxmlformats.org/drawingml/2006/main">
            <a:r>
              <a:t>- stage3.md</a:t>
            </a:r>
          </a:p>
          <a:p xmlns:a="http://schemas.openxmlformats.org/drawingml/2006/main">
            <a:r>
              <a:t>- stage4.md</a:t>
            </a:r>
          </a:p>
          <a:p xmlns:a="http://schemas.openxmlformats.org/drawingml/2006/main">
            <a:r>
              <a:t>- stage5.md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stage1.md — processing flow, PE validation, SHA-256 identity, XAIR loading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stage1.md — outputs, guarantees, non-guarantees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graph: grouped bars or a slope chart from cfg_status.json and cfg.json across the corpus.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stage2.md — CFG construction, two-pass rationale, manual roots, final pass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stage2.md — dispatch-assignment scanning, device and front-door recovery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stage2.md — IOCTL format, direct equality, switch tables, fallback order, exactness definition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stage2.md — outputs, exactness, non-guarantees, practical interpretation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stage3.md — request model construction and method-aware request sources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stage3.md — provenance expressions, taint and exactness, stack/pointer aliases, CFG-aware propagation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stage3.md — broad sink families, native instruction sinks, sink contracts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stage3.md — attribution modes, production admission, inventory-only suppression, provisional behavior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stage3.md — example: physical-memory mapping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stage4.md — local symbolic proof, rooted versus proven, SAT, fallback eligibility and effects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stage4.md — argument witnesses, concrete values, request writes, allocations, fixups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stage4.md — dynamic class, static execution class, manifest completeness, dynamic_ready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stage4.md — candidate identity, execution-recipe identity, deduplication, handoff packaging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stage5.md — handoff validation, normalization, support classification, recipe planning, preflight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stage5.md — installation probe, canonical identity, SCM/PnP installers, device discovery, prepared installation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stage5.md — per-case VM isolation, supervisor/worker design, baseline and variant semantics, timeout containment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stage5.md — guest-side oracles, observer role, host instrumentation, KD/crash attribution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graph: stacked bars by E-level, with A-level and instrumentation match strategy shown as facets.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stage5.md — crash attribution levels, instrumentation caveat, verdict dimensions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stage5.md — verdict dimensions, crash verdicts, instrumentation verdicts, negative results, current E5 limitation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stage1.md</a:t>
            </a:r>
          </a:p>
          <a:p xmlns:a="http://schemas.openxmlformats.org/drawingml/2006/main">
            <a:r>
              <a:t>- stage2.md</a:t>
            </a:r>
          </a:p>
          <a:p xmlns:a="http://schemas.openxmlformats.org/drawingml/2006/main">
            <a:r>
              <a:t>- stage3.md</a:t>
            </a:r>
          </a:p>
          <a:p xmlns:a="http://schemas.openxmlformats.org/drawingml/2006/main">
            <a:r>
              <a:t>- stage4.md</a:t>
            </a:r>
          </a:p>
          <a:p xmlns:a="http://schemas.openxmlformats.org/drawingml/2006/main">
            <a:r>
              <a:t>- stage5.md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ffc5aec1c47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28160d935d4e8b" /><Relationship Type="http://schemas.openxmlformats.org/officeDocument/2006/relationships/slideLayout" Target="/ppt/slideLayouts/slideLayout1.xml" Id="R51cfb19ee89a43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cfb19ee89a43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c26743ca4428e" /><Relationship Type="http://schemas.openxmlformats.org/officeDocument/2006/relationships/notesSlide" Target="/ppt/notesSlides/notesSlide1.xml" Id="R7fe67a4de1cc47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ca87d82854461" /><Relationship Type="http://schemas.openxmlformats.org/officeDocument/2006/relationships/notesSlide" Target="/ppt/notesSlides/notesSlide2.xml" Id="Rbd4150ae712544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0c4d42e744ba0" /><Relationship Type="http://schemas.openxmlformats.org/officeDocument/2006/relationships/notesSlide" Target="/ppt/notesSlides/notesSlide3.xml" Id="R47cb2164daa84e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3aa4e84904054" /><Relationship Type="http://schemas.openxmlformats.org/officeDocument/2006/relationships/notesSlide" Target="/ppt/notesSlides/notesSlide4.xml" Id="Ra330468e620741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7d17c84014c43" /><Relationship Type="http://schemas.openxmlformats.org/officeDocument/2006/relationships/notesSlide" Target="/ppt/notesSlides/notesSlide5.xml" Id="Ra3085452211346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945b72bbc4ad1" /><Relationship Type="http://schemas.openxmlformats.org/officeDocument/2006/relationships/notesSlide" Target="/ppt/notesSlides/notesSlide6.xml" Id="Rd5754aeb6d8c42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bbeada78042e4" /><Relationship Type="http://schemas.openxmlformats.org/officeDocument/2006/relationships/notesSlide" Target="/ppt/notesSlides/notesSlide7.xml" Id="R74c3fea0c82742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465fccb0d4101" /><Relationship Type="http://schemas.openxmlformats.org/officeDocument/2006/relationships/notesSlide" Target="/ppt/notesSlides/notesSlide8.xml" Id="Rc69cd6062c124f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172f779b54897" /><Relationship Type="http://schemas.openxmlformats.org/officeDocument/2006/relationships/notesSlide" Target="/ppt/notesSlides/notesSlide9.xml" Id="R057567764b5540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a37bd06154021" /><Relationship Type="http://schemas.openxmlformats.org/officeDocument/2006/relationships/notesSlide" Target="/ppt/notesSlides/notesSlide10.xml" Id="R93dc940d0afb4a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5ec3c5fea4528" /><Relationship Type="http://schemas.openxmlformats.org/officeDocument/2006/relationships/notesSlide" Target="/ppt/notesSlides/notesSlide11.xml" Id="R30f9e6b8d3184a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47358e4f048a2" /><Relationship Type="http://schemas.openxmlformats.org/officeDocument/2006/relationships/notesSlide" Target="/ppt/notesSlides/notesSlide12.xml" Id="R321da7a036ba48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80490f38b46ea" /><Relationship Type="http://schemas.openxmlformats.org/officeDocument/2006/relationships/notesSlide" Target="/ppt/notesSlides/notesSlide13.xml" Id="Rd6ae7978ec424d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0cbd6a5ab4f4d" /><Relationship Type="http://schemas.openxmlformats.org/officeDocument/2006/relationships/notesSlide" Target="/ppt/notesSlides/notesSlide14.xml" Id="R7d688f60c66c4a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cef32af354997" /><Relationship Type="http://schemas.openxmlformats.org/officeDocument/2006/relationships/notesSlide" Target="/ppt/notesSlides/notesSlide15.xml" Id="Rd361fae341b246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ea3162a914fd7" /><Relationship Type="http://schemas.openxmlformats.org/officeDocument/2006/relationships/notesSlide" Target="/ppt/notesSlides/notesSlide16.xml" Id="R03315f024bb444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1dad6ddb444a8" /><Relationship Type="http://schemas.openxmlformats.org/officeDocument/2006/relationships/notesSlide" Target="/ppt/notesSlides/notesSlide17.xml" Id="R4f62cb7c73b34f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c3cd033b940bb" /><Relationship Type="http://schemas.openxmlformats.org/officeDocument/2006/relationships/notesSlide" Target="/ppt/notesSlides/notesSlide18.xml" Id="R49ad7bccf44f43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e24192bd14d4e" /><Relationship Type="http://schemas.openxmlformats.org/officeDocument/2006/relationships/notesSlide" Target="/ppt/notesSlides/notesSlide19.xml" Id="R10a4f7d65b184a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c3c87edb349f0" /><Relationship Type="http://schemas.openxmlformats.org/officeDocument/2006/relationships/notesSlide" Target="/ppt/notesSlides/notesSlide20.xml" Id="R0339c04252a14fd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e292ff4a64ef4" /><Relationship Type="http://schemas.openxmlformats.org/officeDocument/2006/relationships/notesSlide" Target="/ppt/notesSlides/notesSlide21.xml" Id="R204d6891278243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96b877f834ea3" /><Relationship Type="http://schemas.openxmlformats.org/officeDocument/2006/relationships/notesSlide" Target="/ppt/notesSlides/notesSlide22.xml" Id="R8672804f741e402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a4dfb6fb04c9f" /><Relationship Type="http://schemas.openxmlformats.org/officeDocument/2006/relationships/notesSlide" Target="/ppt/notesSlides/notesSlide23.xml" Id="R29cf0f042cb447a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95911cc484517" /><Relationship Type="http://schemas.openxmlformats.org/officeDocument/2006/relationships/notesSlide" Target="/ppt/notesSlides/notesSlide24.xml" Id="R0d73bdfee5bb48f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4524ddfd04e47" /><Relationship Type="http://schemas.openxmlformats.org/officeDocument/2006/relationships/notesSlide" Target="/ppt/notesSlides/notesSlide25.xml" Id="R9e64ec68f27948e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68f2946ab4ea4" /><Relationship Type="http://schemas.openxmlformats.org/officeDocument/2006/relationships/notesSlide" Target="/ppt/notesSlides/notesSlide26.xml" Id="R481f20b5deab43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-left">
            <a:extLst xmlns:a="http://schemas.openxmlformats.org/drawingml/2006/main">
              <a:ext uri="{FF2B5EF4-FFF2-40B4-BE49-F238E27FC236}">
                <a16:creationId xmlns:a16="http://schemas.microsoft.com/office/drawing/2014/main" id="{0226A1F9-36E0-4CFA-9B88-AE2823E1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EXPLAINER</a:t>
            </a:r>
          </a:p>
        </p:txBody>
      </p:sp>
      <p:sp>
        <p:nvSpPr>
          <p:cNvPr id="2" name="cover-eyebrow-right">
            <a:extLst xmlns:a="http://schemas.openxmlformats.org/drawingml/2006/main">
              <a:ext uri="{FF2B5EF4-FFF2-40B4-BE49-F238E27FC236}">
                <a16:creationId xmlns:a16="http://schemas.microsoft.com/office/drawing/2014/main" id="{85314DAA-B9BC-45BA-A601-7DE699F8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"/>
            <a:ext cx="483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WINDOWS KERNEL DRIVER ANALYSIS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2E8E7F0-4C1B-445A-A8AA-BA39BA9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5100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How Kernel Sieve</a:t>
            </a:r>
          </a:p>
          <a:p xmlns:a="http://schemas.openxmlformats.org/drawingml/2006/main">
            <a:pPr algn="l">
              <a:defRPr sz="5100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5100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turns a driver into</a:t>
            </a:r>
          </a:p>
          <a:p xmlns:a="http://schemas.openxmlformats.org/drawingml/2006/main">
            <a:pPr algn="l">
              <a:defRPr sz="5100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5100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 defensible experiment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7E838DB-0CD2-411E-9F88-18ACD737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Static recovery, request provenance, proof synthesis, isolated execution, and evidence-aware verdicts</a:t>
            </a:r>
          </a:p>
        </p:txBody>
      </p:sp>
    </p:spTree>
    <p:extLst>
      <p:ext uri="{BB962C8B-B14F-4D97-AF65-F5344CB8AC3E}">
        <p14:creationId xmlns:p14="http://schemas.microsoft.com/office/powerpoint/2010/main" val="875379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C22E5FA4-83AA-42FD-8015-96BF2926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 MENTAL MODEL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7264585-32AB-4C65-AFE7-4D9F11DC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The tool advances claims through five evidence gates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F546041F-A860-49F6-B0AC-142FE23E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cxnSp>
        <p:nvCxnSpPr>
          <p:cNvPr id="27" name="gates-edge-1"/>
          <p:cNvCxnSpPr/>
          <p:nvPr/>
        </p:nvCxnSpPr>
        <p:spPr>
          <a:xfrm xmlns:a="http://schemas.openxmlformats.org/drawingml/2006/main">
            <a:off x="2526030" y="2762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28" name="gates-edge-2"/>
          <p:cNvCxnSpPr/>
          <p:nvPr/>
        </p:nvCxnSpPr>
        <p:spPr>
          <a:xfrm xmlns:a="http://schemas.openxmlformats.org/drawingml/2006/main">
            <a:off x="4842510" y="2762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29" name="gates-edge-3"/>
          <p:cNvCxnSpPr/>
          <p:nvPr/>
        </p:nvCxnSpPr>
        <p:spPr>
          <a:xfrm xmlns:a="http://schemas.openxmlformats.org/drawingml/2006/main">
            <a:off x="7158990" y="2762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0" name="gates-edge-4"/>
          <p:cNvCxnSpPr/>
          <p:nvPr/>
        </p:nvCxnSpPr>
        <p:spPr>
          <a:xfrm xmlns:a="http://schemas.openxmlformats.org/drawingml/2006/main">
            <a:off x="9475470" y="27622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gates-node-1">
            <a:extLst xmlns:a="http://schemas.openxmlformats.org/drawingml/2006/main">
              <a:ext uri="{FF2B5EF4-FFF2-40B4-BE49-F238E27FC236}">
                <a16:creationId xmlns:a16="http://schemas.microsoft.com/office/drawing/2014/main" id="{5E65A549-245C-4141-AD52-433B74DF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ates-node-num-1">
            <a:extLst xmlns:a="http://schemas.openxmlformats.org/drawingml/2006/main">
              <a:ext uri="{FF2B5EF4-FFF2-40B4-BE49-F238E27FC236}">
                <a16:creationId xmlns:a16="http://schemas.microsoft.com/office/drawing/2014/main" id="{E79EC4D3-ABBA-4DFE-83CD-42433757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10" name="gates-node-title-1">
            <a:extLst xmlns:a="http://schemas.openxmlformats.org/drawingml/2006/main">
              <a:ext uri="{FF2B5EF4-FFF2-40B4-BE49-F238E27FC236}">
                <a16:creationId xmlns:a16="http://schemas.microsoft.com/office/drawing/2014/main" id="{798D29D5-A52C-4F18-82B4-24B85FAB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Presence</a:t>
            </a:r>
          </a:p>
        </p:txBody>
      </p:sp>
      <p:sp>
        <p:nvSpPr>
          <p:cNvPr id="11" name="gates-node-2">
            <a:extLst xmlns:a="http://schemas.openxmlformats.org/drawingml/2006/main">
              <a:ext uri="{FF2B5EF4-FFF2-40B4-BE49-F238E27FC236}">
                <a16:creationId xmlns:a16="http://schemas.microsoft.com/office/drawing/2014/main" id="{ADCADF5A-9463-46D1-A013-36151DFD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213360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ates-node-num-2">
            <a:extLst xmlns:a="http://schemas.openxmlformats.org/drawingml/2006/main">
              <a:ext uri="{FF2B5EF4-FFF2-40B4-BE49-F238E27FC236}">
                <a16:creationId xmlns:a16="http://schemas.microsoft.com/office/drawing/2014/main" id="{64F259A9-9960-4BDF-BF3F-9EE345C3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0505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13" name="gates-node-title-2">
            <a:extLst xmlns:a="http://schemas.openxmlformats.org/drawingml/2006/main">
              <a:ext uri="{FF2B5EF4-FFF2-40B4-BE49-F238E27FC236}">
                <a16:creationId xmlns:a16="http://schemas.microsoft.com/office/drawing/2014/main" id="{932B29F2-AE70-4565-9EDD-EA4A259B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6098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Invocation</a:t>
            </a:r>
          </a:p>
        </p:txBody>
      </p:sp>
      <p:sp>
        <p:nvSpPr>
          <p:cNvPr id="14" name="gates-node-3">
            <a:extLst xmlns:a="http://schemas.openxmlformats.org/drawingml/2006/main">
              <a:ext uri="{FF2B5EF4-FFF2-40B4-BE49-F238E27FC236}">
                <a16:creationId xmlns:a16="http://schemas.microsoft.com/office/drawing/2014/main" id="{1A13C87E-CDDC-4135-8767-00EA0291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213360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ates-node-num-3">
            <a:extLst xmlns:a="http://schemas.openxmlformats.org/drawingml/2006/main">
              <a:ext uri="{FF2B5EF4-FFF2-40B4-BE49-F238E27FC236}">
                <a16:creationId xmlns:a16="http://schemas.microsoft.com/office/drawing/2014/main" id="{1E7D1C2D-809E-4464-BEC9-E25A53A7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30505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3</a:t>
            </a:r>
          </a:p>
        </p:txBody>
      </p:sp>
      <p:sp>
        <p:nvSpPr>
          <p:cNvPr id="16" name="gates-node-title-3">
            <a:extLst xmlns:a="http://schemas.openxmlformats.org/drawingml/2006/main">
              <a:ext uri="{FF2B5EF4-FFF2-40B4-BE49-F238E27FC236}">
                <a16:creationId xmlns:a16="http://schemas.microsoft.com/office/drawing/2014/main" id="{7472305D-10D0-4059-934D-3878C0EF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6098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7" name="gates-node-4">
            <a:extLst xmlns:a="http://schemas.openxmlformats.org/drawingml/2006/main">
              <a:ext uri="{FF2B5EF4-FFF2-40B4-BE49-F238E27FC236}">
                <a16:creationId xmlns:a16="http://schemas.microsoft.com/office/drawing/2014/main" id="{AB3B391A-3422-4F55-9623-B8390FE4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213360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ates-node-num-4">
            <a:extLst xmlns:a="http://schemas.openxmlformats.org/drawingml/2006/main">
              <a:ext uri="{FF2B5EF4-FFF2-40B4-BE49-F238E27FC236}">
                <a16:creationId xmlns:a16="http://schemas.microsoft.com/office/drawing/2014/main" id="{DA9E7FA9-D4AA-4B3A-A807-402551C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30505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4</a:t>
            </a:r>
          </a:p>
        </p:txBody>
      </p:sp>
      <p:sp>
        <p:nvSpPr>
          <p:cNvPr id="19" name="gates-node-title-4">
            <a:extLst xmlns:a="http://schemas.openxmlformats.org/drawingml/2006/main">
              <a:ext uri="{FF2B5EF4-FFF2-40B4-BE49-F238E27FC236}">
                <a16:creationId xmlns:a16="http://schemas.microsoft.com/office/drawing/2014/main" id="{BD78E23A-1508-4444-9371-5B06462C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6098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20" name="gates-node-5">
            <a:extLst xmlns:a="http://schemas.openxmlformats.org/drawingml/2006/main">
              <a:ext uri="{FF2B5EF4-FFF2-40B4-BE49-F238E27FC236}">
                <a16:creationId xmlns:a16="http://schemas.microsoft.com/office/drawing/2014/main" id="{7B028212-A347-4C4C-9451-1B11C625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213360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ates-node-num-5">
            <a:extLst xmlns:a="http://schemas.openxmlformats.org/drawingml/2006/main">
              <a:ext uri="{FF2B5EF4-FFF2-40B4-BE49-F238E27FC236}">
                <a16:creationId xmlns:a16="http://schemas.microsoft.com/office/drawing/2014/main" id="{D9A9BFF0-E18B-4D4C-88EE-063F2EB1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30505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5</a:t>
            </a:r>
          </a:p>
        </p:txBody>
      </p:sp>
      <p:sp>
        <p:nvSpPr>
          <p:cNvPr id="22" name="gates-node-title-5">
            <a:extLst xmlns:a="http://schemas.openxmlformats.org/drawingml/2006/main">
              <a:ext uri="{FF2B5EF4-FFF2-40B4-BE49-F238E27FC236}">
                <a16:creationId xmlns:a16="http://schemas.microsoft.com/office/drawing/2014/main" id="{378BFA16-A947-4A90-B14A-64C2605C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60985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Behavior</a:t>
            </a:r>
          </a:p>
        </p:txBody>
      </p:sp>
      <p:sp>
        <p:nvSpPr>
          <p:cNvPr id="23" name="gates-claim">
            <a:extLst xmlns:a="http://schemas.openxmlformats.org/drawingml/2006/main">
              <a:ext uri="{FF2B5EF4-FFF2-40B4-BE49-F238E27FC236}">
                <a16:creationId xmlns:a16="http://schemas.microsoft.com/office/drawing/2014/main" id="{5575D5C2-1511-4B31-8930-2AF87300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98679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No stage is allowed to quietly upgrade “interesting” into “vulnerable.” Each gate records what it knows—and what it still does not know.</a:t>
            </a:r>
          </a:p>
        </p:txBody>
      </p:sp>
    </p:spTree>
    <p:extLst>
      <p:ext uri="{BB962C8B-B14F-4D97-AF65-F5344CB8AC3E}">
        <p14:creationId xmlns:p14="http://schemas.microsoft.com/office/powerpoint/2010/main" val="2019242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57BCA0B6-660A-4FD1-9BC7-D93F7B6E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FOUNDATIONS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15A15A7-1090-482D-9159-F344D60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Four Windows concepts explain the request path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D675BCA6-C548-4902-BE02-A0E3B851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foundations-intro">
            <a:extLst xmlns:a="http://schemas.openxmlformats.org/drawingml/2006/main">
              <a:ext uri="{FF2B5EF4-FFF2-40B4-BE49-F238E27FC236}">
                <a16:creationId xmlns:a16="http://schemas.microsoft.com/office/drawing/2014/main" id="{9525767E-1BFF-4CDE-821E-0B7ACCE8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user-mode program reaches a WDM driver through a named device and an I/O request packet (IRP). The control code and transfer method determine how request data is exposed in kernel memory.</a:t>
            </a:r>
          </a:p>
        </p:txBody>
      </p:sp>
      <p:sp>
        <p:nvSpPr>
          <p:cNvPr id="5" name="foundations-item-1-panel">
            <a:extLst xmlns:a="http://schemas.openxmlformats.org/drawingml/2006/main">
              <a:ext uri="{FF2B5EF4-FFF2-40B4-BE49-F238E27FC236}">
                <a16:creationId xmlns:a16="http://schemas.microsoft.com/office/drawing/2014/main" id="{D312F8EF-56EF-44B3-AC98-5FAA087B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undations-item-1-heading">
            <a:extLst xmlns:a="http://schemas.openxmlformats.org/drawingml/2006/main">
              <a:ext uri="{FF2B5EF4-FFF2-40B4-BE49-F238E27FC236}">
                <a16:creationId xmlns:a16="http://schemas.microsoft.com/office/drawing/2014/main" id="{EA59E04F-5D83-4D98-BE44-77F812D1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Device path</a:t>
            </a:r>
          </a:p>
        </p:txBody>
      </p:sp>
      <p:sp>
        <p:nvSpPr>
          <p:cNvPr id="7" name="foundations-item-1-body">
            <a:extLst xmlns:a="http://schemas.openxmlformats.org/drawingml/2006/main">
              <a:ext uri="{FF2B5EF4-FFF2-40B4-BE49-F238E27FC236}">
                <a16:creationId xmlns:a16="http://schemas.microsoft.com/office/drawing/2014/main" id="{F2681CE4-F176-400B-8E36-8F8B1270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Win32 name such as \\.\Example lets CreateFile open the driver’s device object.</a:t>
            </a:r>
          </a:p>
        </p:txBody>
      </p:sp>
      <p:sp>
        <p:nvSpPr>
          <p:cNvPr id="8" name="foundations-item-2-panel">
            <a:extLst xmlns:a="http://schemas.openxmlformats.org/drawingml/2006/main">
              <a:ext uri="{FF2B5EF4-FFF2-40B4-BE49-F238E27FC236}">
                <a16:creationId xmlns:a16="http://schemas.microsoft.com/office/drawing/2014/main" id="{240A3D92-9B59-4D2D-BE83-C84AF10E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288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undations-item-2-heading">
            <a:extLst xmlns:a="http://schemas.openxmlformats.org/drawingml/2006/main">
              <a:ext uri="{FF2B5EF4-FFF2-40B4-BE49-F238E27FC236}">
                <a16:creationId xmlns:a16="http://schemas.microsoft.com/office/drawing/2014/main" id="{C0BE562E-BC3A-42D1-9634-6E772303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574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IRP</a:t>
            </a:r>
          </a:p>
        </p:txBody>
      </p:sp>
      <p:sp>
        <p:nvSpPr>
          <p:cNvPr id="10" name="foundations-item-2-body">
            <a:extLst xmlns:a="http://schemas.openxmlformats.org/drawingml/2006/main">
              <a:ext uri="{FF2B5EF4-FFF2-40B4-BE49-F238E27FC236}">
                <a16:creationId xmlns:a16="http://schemas.microsoft.com/office/drawing/2014/main" id="{4AB9635D-EEF0-4EBD-93EF-F2C6A5B2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527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kernel request object. It carries the current stack location, buffers, lengths, and mode metadata.</a:t>
            </a:r>
          </a:p>
        </p:txBody>
      </p:sp>
      <p:sp>
        <p:nvSpPr>
          <p:cNvPr id="11" name="foundations-item-3-panel">
            <a:extLst xmlns:a="http://schemas.openxmlformats.org/drawingml/2006/main">
              <a:ext uri="{FF2B5EF4-FFF2-40B4-BE49-F238E27FC236}">
                <a16:creationId xmlns:a16="http://schemas.microsoft.com/office/drawing/2014/main" id="{6D844B24-9604-4F64-89FC-B43642C6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undations-item-3-heading">
            <a:extLst xmlns:a="http://schemas.openxmlformats.org/drawingml/2006/main">
              <a:ext uri="{FF2B5EF4-FFF2-40B4-BE49-F238E27FC236}">
                <a16:creationId xmlns:a16="http://schemas.microsoft.com/office/drawing/2014/main" id="{A2829A3A-F1B0-402E-AF13-CF4893C6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IOCTL</a:t>
            </a:r>
          </a:p>
        </p:txBody>
      </p:sp>
      <p:sp>
        <p:nvSpPr>
          <p:cNvPr id="13" name="foundations-item-3-body">
            <a:extLst xmlns:a="http://schemas.openxmlformats.org/drawingml/2006/main">
              <a:ext uri="{FF2B5EF4-FFF2-40B4-BE49-F238E27FC236}">
                <a16:creationId xmlns:a16="http://schemas.microsoft.com/office/drawing/2014/main" id="{3BAA1B30-C575-4835-92A6-FBF72A31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32-bit selector: DeviceType, Access, Function, and Method choose a driver operation.</a:t>
            </a:r>
          </a:p>
        </p:txBody>
      </p:sp>
      <p:sp>
        <p:nvSpPr>
          <p:cNvPr id="14" name="foundations-item-4-panel">
            <a:extLst xmlns:a="http://schemas.openxmlformats.org/drawingml/2006/main">
              <a:ext uri="{FF2B5EF4-FFF2-40B4-BE49-F238E27FC236}">
                <a16:creationId xmlns:a16="http://schemas.microsoft.com/office/drawing/2014/main" id="{FAF4D5A7-74A5-4483-9962-C7124606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100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undations-item-4-heading">
            <a:extLst xmlns:a="http://schemas.openxmlformats.org/drawingml/2006/main">
              <a:ext uri="{FF2B5EF4-FFF2-40B4-BE49-F238E27FC236}">
                <a16:creationId xmlns:a16="http://schemas.microsoft.com/office/drawing/2014/main" id="{8B1FC5B3-AEBB-4A81-9B16-5A6A812B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386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Transfer method</a:t>
            </a:r>
          </a:p>
        </p:txBody>
      </p:sp>
      <p:sp>
        <p:nvSpPr>
          <p:cNvPr id="16" name="foundations-item-4-body">
            <a:extLst xmlns:a="http://schemas.openxmlformats.org/drawingml/2006/main">
              <a:ext uri="{FF2B5EF4-FFF2-40B4-BE49-F238E27FC236}">
                <a16:creationId xmlns:a16="http://schemas.microsoft.com/office/drawing/2014/main" id="{F7C4D2B9-7C1B-4365-BE41-266C81B8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339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BUFFERED, DIRECT, or NEITHER determines which pointers and buffers may contain caller-controlled data.</a:t>
            </a:r>
          </a:p>
        </p:txBody>
      </p:sp>
    </p:spTree>
    <p:extLst>
      <p:ext uri="{BB962C8B-B14F-4D97-AF65-F5344CB8AC3E}">
        <p14:creationId xmlns:p14="http://schemas.microsoft.com/office/powerpoint/2010/main" val="12785717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F4E314DD-820D-4342-B96D-96F6B8DC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SYSTEM OVERVIEW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0DBF724-97C8-4436-A474-24FEF4F9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89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The end-to-end workflow narrows a corpus into auditable experiments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49FBD499-F0CA-4FAC-947F-546CE018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30" name="overview-flow-edge-1"/>
          <p:cNvCxnSpPr/>
          <p:nvPr/>
        </p:nvCxnSpPr>
        <p:spPr>
          <a:xfrm xmlns:a="http://schemas.openxmlformats.org/drawingml/2006/main">
            <a:off x="2526030" y="23622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1" name="overview-flow-edge-2"/>
          <p:cNvCxnSpPr/>
          <p:nvPr/>
        </p:nvCxnSpPr>
        <p:spPr>
          <a:xfrm xmlns:a="http://schemas.openxmlformats.org/drawingml/2006/main">
            <a:off x="4842510" y="23622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2" name="overview-flow-edge-3"/>
          <p:cNvCxnSpPr/>
          <p:nvPr/>
        </p:nvCxnSpPr>
        <p:spPr>
          <a:xfrm xmlns:a="http://schemas.openxmlformats.org/drawingml/2006/main">
            <a:off x="7158990" y="23622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3" name="overview-flow-edge-4"/>
          <p:cNvCxnSpPr/>
          <p:nvPr/>
        </p:nvCxnSpPr>
        <p:spPr>
          <a:xfrm xmlns:a="http://schemas.openxmlformats.org/drawingml/2006/main">
            <a:off x="9475470" y="23622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overview-flow-node-1">
            <a:extLst xmlns:a="http://schemas.openxmlformats.org/drawingml/2006/main">
              <a:ext uri="{FF2B5EF4-FFF2-40B4-BE49-F238E27FC236}">
                <a16:creationId xmlns:a16="http://schemas.microsoft.com/office/drawing/2014/main" id="{88FFBFF2-4146-488F-B22F-6860CB1E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verview-flow-node-num-1">
            <a:extLst xmlns:a="http://schemas.openxmlformats.org/drawingml/2006/main">
              <a:ext uri="{FF2B5EF4-FFF2-40B4-BE49-F238E27FC236}">
                <a16:creationId xmlns:a16="http://schemas.microsoft.com/office/drawing/2014/main" id="{8509DCD9-EF2C-463C-9212-397EE34F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overview-flow-node-title-1">
            <a:extLst xmlns:a="http://schemas.openxmlformats.org/drawingml/2006/main">
              <a:ext uri="{FF2B5EF4-FFF2-40B4-BE49-F238E27FC236}">
                <a16:creationId xmlns:a16="http://schemas.microsoft.com/office/drawing/2014/main" id="{1A02FD1C-393B-4FFB-82A4-FB571BAC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Validate + fingerprint</a:t>
            </a:r>
          </a:p>
        </p:txBody>
      </p:sp>
      <p:sp>
        <p:nvSpPr>
          <p:cNvPr id="11" name="overview-flow-node-2">
            <a:extLst xmlns:a="http://schemas.openxmlformats.org/drawingml/2006/main">
              <a:ext uri="{FF2B5EF4-FFF2-40B4-BE49-F238E27FC236}">
                <a16:creationId xmlns:a16="http://schemas.microsoft.com/office/drawing/2014/main" id="{82BD6A93-E1A4-4B02-9B5A-E0D1FE2A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73355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verview-flow-node-num-2">
            <a:extLst xmlns:a="http://schemas.openxmlformats.org/drawingml/2006/main">
              <a:ext uri="{FF2B5EF4-FFF2-40B4-BE49-F238E27FC236}">
                <a16:creationId xmlns:a16="http://schemas.microsoft.com/office/drawing/2014/main" id="{020816D3-4112-426F-9C82-5F32AE7C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0500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overview-flow-node-title-2">
            <a:extLst xmlns:a="http://schemas.openxmlformats.org/drawingml/2006/main">
              <a:ext uri="{FF2B5EF4-FFF2-40B4-BE49-F238E27FC236}">
                <a16:creationId xmlns:a16="http://schemas.microsoft.com/office/drawing/2014/main" id="{EB02CA1C-D32D-4CB2-9FC6-4BF8462F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098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Recover request surface</a:t>
            </a:r>
          </a:p>
        </p:txBody>
      </p:sp>
      <p:sp>
        <p:nvSpPr>
          <p:cNvPr id="14" name="overview-flow-node-3">
            <a:extLst xmlns:a="http://schemas.openxmlformats.org/drawingml/2006/main">
              <a:ext uri="{FF2B5EF4-FFF2-40B4-BE49-F238E27FC236}">
                <a16:creationId xmlns:a16="http://schemas.microsoft.com/office/drawing/2014/main" id="{73736B82-0BF0-40B8-B807-D6CB3692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73355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verview-flow-node-num-3">
            <a:extLst xmlns:a="http://schemas.openxmlformats.org/drawingml/2006/main">
              <a:ext uri="{FF2B5EF4-FFF2-40B4-BE49-F238E27FC236}">
                <a16:creationId xmlns:a16="http://schemas.microsoft.com/office/drawing/2014/main" id="{D2388B68-EF81-44DF-8830-0110E5D2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190500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overview-flow-node-title-3">
            <a:extLst xmlns:a="http://schemas.openxmlformats.org/drawingml/2006/main">
              <a:ext uri="{FF2B5EF4-FFF2-40B4-BE49-F238E27FC236}">
                <a16:creationId xmlns:a16="http://schemas.microsoft.com/office/drawing/2014/main" id="{2C667B20-AA52-41E9-A911-8B4CF8DE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2098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Trace request to sink</a:t>
            </a:r>
          </a:p>
        </p:txBody>
      </p:sp>
      <p:sp>
        <p:nvSpPr>
          <p:cNvPr id="17" name="overview-flow-node-4">
            <a:extLst xmlns:a="http://schemas.openxmlformats.org/drawingml/2006/main">
              <a:ext uri="{FF2B5EF4-FFF2-40B4-BE49-F238E27FC236}">
                <a16:creationId xmlns:a16="http://schemas.microsoft.com/office/drawing/2014/main" id="{335F7604-B29B-4113-A352-3FC8FE2A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3355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verview-flow-node-num-4">
            <a:extLst xmlns:a="http://schemas.openxmlformats.org/drawingml/2006/main">
              <a:ext uri="{FF2B5EF4-FFF2-40B4-BE49-F238E27FC236}">
                <a16:creationId xmlns:a16="http://schemas.microsoft.com/office/drawing/2014/main" id="{C7D8A0D5-0008-49E0-9E3B-D609839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190500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overview-flow-node-title-4">
            <a:extLst xmlns:a="http://schemas.openxmlformats.org/drawingml/2006/main">
              <a:ext uri="{FF2B5EF4-FFF2-40B4-BE49-F238E27FC236}">
                <a16:creationId xmlns:a16="http://schemas.microsoft.com/office/drawing/2014/main" id="{0F028555-C7A0-4CF3-B6B2-D085933D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2098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Prove + package</a:t>
            </a:r>
          </a:p>
        </p:txBody>
      </p:sp>
      <p:sp>
        <p:nvSpPr>
          <p:cNvPr id="20" name="overview-flow-node-5">
            <a:extLst xmlns:a="http://schemas.openxmlformats.org/drawingml/2006/main">
              <a:ext uri="{FF2B5EF4-FFF2-40B4-BE49-F238E27FC236}">
                <a16:creationId xmlns:a16="http://schemas.microsoft.com/office/drawing/2014/main" id="{AD0A4824-B5EE-4606-9122-7882856F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173355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verview-flow-node-num-5">
            <a:extLst xmlns:a="http://schemas.openxmlformats.org/drawingml/2006/main">
              <a:ext uri="{FF2B5EF4-FFF2-40B4-BE49-F238E27FC236}">
                <a16:creationId xmlns:a16="http://schemas.microsoft.com/office/drawing/2014/main" id="{C62272D7-2A31-49B7-A5B6-5A3F05C4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190500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overview-flow-node-title-5">
            <a:extLst xmlns:a="http://schemas.openxmlformats.org/drawingml/2006/main">
              <a:ext uri="{FF2B5EF4-FFF2-40B4-BE49-F238E27FC236}">
                <a16:creationId xmlns:a16="http://schemas.microsoft.com/office/drawing/2014/main" id="{A0A0889D-159D-4D64-9BF7-90D1C9B3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2098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3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Execute + score</a:t>
            </a:r>
          </a:p>
        </p:txBody>
      </p:sp>
      <p:sp>
        <p:nvSpPr>
          <p:cNvPr id="23" name="overview-funnel-graph-panel">
            <a:extLst xmlns:a="http://schemas.openxmlformats.org/drawingml/2006/main">
              <a:ext uri="{FF2B5EF4-FFF2-40B4-BE49-F238E27FC236}">
                <a16:creationId xmlns:a16="http://schemas.microsoft.com/office/drawing/2014/main" id="{259E52CE-C951-4980-8265-56DD311B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62350"/>
            <a:ext cx="90678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overview-funnel-graph-kicker">
            <a:extLst xmlns:a="http://schemas.openxmlformats.org/drawingml/2006/main">
              <a:ext uri="{FF2B5EF4-FFF2-40B4-BE49-F238E27FC236}">
                <a16:creationId xmlns:a16="http://schemas.microsoft.com/office/drawing/2014/main" id="{5AB8A58D-6888-4630-8128-BD8A3072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1000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EVIDENCE</a:t>
            </a:r>
          </a:p>
        </p:txBody>
      </p:sp>
      <p:sp>
        <p:nvSpPr>
          <p:cNvPr id="25" name="overview-funnel-graph-title">
            <a:extLst xmlns:a="http://schemas.openxmlformats.org/drawingml/2006/main">
              <a:ext uri="{FF2B5EF4-FFF2-40B4-BE49-F238E27FC236}">
                <a16:creationId xmlns:a16="http://schemas.microsoft.com/office/drawing/2014/main" id="{F44A9ECF-CA95-4D1B-98B1-6887A99B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71950"/>
            <a:ext cx="8496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Stage attrition funnel</a:t>
            </a:r>
          </a:p>
        </p:txBody>
      </p:sp>
      <p:sp>
        <p:nvSpPr>
          <p:cNvPr id="26" name="overview-funnel-graph-desc">
            <a:extLst xmlns:a="http://schemas.openxmlformats.org/drawingml/2006/main">
              <a:ext uri="{FF2B5EF4-FFF2-40B4-BE49-F238E27FC236}">
                <a16:creationId xmlns:a16="http://schemas.microsoft.com/office/drawing/2014/main" id="{AF341A30-978B-4887-ABC2-ADDEACD7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19650"/>
            <a:ext cx="8496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Populate with corpus counts: accepted drivers → recovered IOCTL surfaces → production flows → unique recipes → executed recipes → confirmed outcomes.</a:t>
            </a:r>
          </a:p>
        </p:txBody>
      </p:sp>
    </p:spTree>
    <p:extLst>
      <p:ext uri="{BB962C8B-B14F-4D97-AF65-F5344CB8AC3E}">
        <p14:creationId xmlns:p14="http://schemas.microsoft.com/office/powerpoint/2010/main" val="455423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7D47EC01-6929-493B-9933-06C035CC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1 — INTAKE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E0ACB6C1-217F-41F0-827E-7ACFBBCC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24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Stage 1 creates a trustworthy binary identity before analysis begins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2FD22639-40F6-40A0-892E-C44C2903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20" name="stage1-flow-timeline-rule"/>
          <p:cNvCxnSpPr/>
          <p:nvPr/>
        </p:nvCxnSpPr>
        <p:spPr>
          <a:xfrm xmlns:a="http://schemas.openxmlformats.org/drawingml/2006/main">
            <a:off x="400050" y="3143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C10"/>
            </a:solidFill>
            <a:prstDash val="solid"/>
          </a:ln>
        </p:spPr>
      </p:cxnSp>
      <p:sp>
        <p:nvSpPr>
          <p:cNvPr id="5" name="stage1-flow-dot-1">
            <a:extLst xmlns:a="http://schemas.openxmlformats.org/drawingml/2006/main">
              <a:ext uri="{FF2B5EF4-FFF2-40B4-BE49-F238E27FC236}">
                <a16:creationId xmlns:a16="http://schemas.microsoft.com/office/drawing/2014/main" id="{8B4BD9DC-A18D-41C5-B99F-3CBDE01C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1-flow-dot-2">
            <a:extLst xmlns:a="http://schemas.openxmlformats.org/drawingml/2006/main">
              <a:ext uri="{FF2B5EF4-FFF2-40B4-BE49-F238E27FC236}">
                <a16:creationId xmlns:a16="http://schemas.microsoft.com/office/drawing/2014/main" id="{362CB304-C431-4B9A-B3F7-A53179B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1-flow-dot-3">
            <a:extLst xmlns:a="http://schemas.openxmlformats.org/drawingml/2006/main">
              <a:ext uri="{FF2B5EF4-FFF2-40B4-BE49-F238E27FC236}">
                <a16:creationId xmlns:a16="http://schemas.microsoft.com/office/drawing/2014/main" id="{48501CF7-6350-42DA-9839-CBEBE51B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1-flow-label-1">
            <a:extLst xmlns:a="http://schemas.openxmlformats.org/drawingml/2006/main">
              <a:ext uri="{FF2B5EF4-FFF2-40B4-BE49-F238E27FC236}">
                <a16:creationId xmlns:a16="http://schemas.microsoft.com/office/drawing/2014/main" id="{CFB7CF68-95D4-4CA4-8C61-ACF822F1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9" name="stage1-flow-heading-1">
            <a:extLst xmlns:a="http://schemas.openxmlformats.org/drawingml/2006/main">
              <a:ext uri="{FF2B5EF4-FFF2-40B4-BE49-F238E27FC236}">
                <a16:creationId xmlns:a16="http://schemas.microsoft.com/office/drawing/2014/main" id="{27B70128-C399-4E64-8765-2F3DDBE7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Validate the file</a:t>
            </a:r>
          </a:p>
        </p:txBody>
      </p:sp>
      <p:sp>
        <p:nvSpPr>
          <p:cNvPr id="10" name="stage1-flow-body-1">
            <a:extLst xmlns:a="http://schemas.openxmlformats.org/drawingml/2006/main">
              <a:ext uri="{FF2B5EF4-FFF2-40B4-BE49-F238E27FC236}">
                <a16:creationId xmlns:a16="http://schemas.microsoft.com/office/drawing/2014/main" id="{6A4C2B65-1869-473D-9AE9-39417AAD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Read the complete .sys; bounds-check DOS, PE, section, and optional headers; require x64 PE32+ and a driver-shaped image.</a:t>
            </a:r>
          </a:p>
        </p:txBody>
      </p:sp>
      <p:sp>
        <p:nvSpPr>
          <p:cNvPr id="11" name="stage1-flow-label-2">
            <a:extLst xmlns:a="http://schemas.openxmlformats.org/drawingml/2006/main">
              <a:ext uri="{FF2B5EF4-FFF2-40B4-BE49-F238E27FC236}">
                <a16:creationId xmlns:a16="http://schemas.microsoft.com/office/drawing/2014/main" id="{DAE520CF-064B-4BEE-A127-13870863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12" name="stage1-flow-heading-2">
            <a:extLst xmlns:a="http://schemas.openxmlformats.org/drawingml/2006/main">
              <a:ext uri="{FF2B5EF4-FFF2-40B4-BE49-F238E27FC236}">
                <a16:creationId xmlns:a16="http://schemas.microsoft.com/office/drawing/2014/main" id="{13BD671F-3518-4AA0-8680-6B2818E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5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Hash every byte</a:t>
            </a:r>
          </a:p>
        </p:txBody>
      </p:sp>
      <p:sp>
        <p:nvSpPr>
          <p:cNvPr id="13" name="stage1-flow-body-2">
            <a:extLst xmlns:a="http://schemas.openxmlformats.org/drawingml/2006/main">
              <a:ext uri="{FF2B5EF4-FFF2-40B4-BE49-F238E27FC236}">
                <a16:creationId xmlns:a16="http://schemas.microsoft.com/office/drawing/2014/main" id="{4B8FD871-F2CA-48DA-A939-CAF9A0D9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SHA-256 becomes the canonical driver identity for artifacts, deduplication, handoff validation, and resumability.</a:t>
            </a:r>
          </a:p>
        </p:txBody>
      </p:sp>
      <p:sp>
        <p:nvSpPr>
          <p:cNvPr id="14" name="stage1-flow-label-3">
            <a:extLst xmlns:a="http://schemas.openxmlformats.org/drawingml/2006/main">
              <a:ext uri="{FF2B5EF4-FFF2-40B4-BE49-F238E27FC236}">
                <a16:creationId xmlns:a16="http://schemas.microsoft.com/office/drawing/2014/main" id="{2EF4A6C6-4E91-4DA5-B283-79B50688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5" name="stage1-flow-heading-3">
            <a:extLst xmlns:a="http://schemas.openxmlformats.org/drawingml/2006/main">
              <a:ext uri="{FF2B5EF4-FFF2-40B4-BE49-F238E27FC236}">
                <a16:creationId xmlns:a16="http://schemas.microsoft.com/office/drawing/2014/main" id="{B2FE248E-4BC2-4D0F-9BFA-59D22994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Record what exists</a:t>
            </a:r>
          </a:p>
        </p:txBody>
      </p:sp>
      <p:sp>
        <p:nvSpPr>
          <p:cNvPr id="16" name="stage1-flow-body-3">
            <a:extLst xmlns:a="http://schemas.openxmlformats.org/drawingml/2006/main">
              <a:ext uri="{FF2B5EF4-FFF2-40B4-BE49-F238E27FC236}">
                <a16:creationId xmlns:a16="http://schemas.microsoft.com/office/drawing/2014/main" id="{922590F3-17BD-43AE-BB4F-C6101A65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Load through XAIR; inventory segments, imports, exports, unwind roots, strings, API families, and opcode patterns.</a:t>
            </a:r>
          </a:p>
        </p:txBody>
      </p:sp>
    </p:spTree>
    <p:extLst>
      <p:ext uri="{BB962C8B-B14F-4D97-AF65-F5344CB8AC3E}">
        <p14:creationId xmlns:p14="http://schemas.microsoft.com/office/powerpoint/2010/main" val="5720826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6BE02829-D57B-4E4B-ABA1-8A7B44D8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1 — ARTIFACTS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219ABA5-7C81-4536-ACE9-F706EB1A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Stage 1 separates identity from coarse triage signals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6C35B0D8-5460-4FFF-B6BB-7E76AF0B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stage1-artifacts-panel-1">
            <a:extLst xmlns:a="http://schemas.openxmlformats.org/drawingml/2006/main">
              <a:ext uri="{FF2B5EF4-FFF2-40B4-BE49-F238E27FC236}">
                <a16:creationId xmlns:a16="http://schemas.microsoft.com/office/drawing/2014/main" id="{DB458BE8-433F-4918-AD52-22518F58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568700" cy="367665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1-artifacts-heading-1">
            <a:extLst xmlns:a="http://schemas.openxmlformats.org/drawingml/2006/main">
              <a:ext uri="{FF2B5EF4-FFF2-40B4-BE49-F238E27FC236}">
                <a16:creationId xmlns:a16="http://schemas.microsoft.com/office/drawing/2014/main" id="{030D4A0C-4A5A-4B04-9D32-5B69411F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image.json</a:t>
            </a:r>
          </a:p>
        </p:txBody>
      </p:sp>
      <p:sp>
        <p:nvSpPr>
          <p:cNvPr id="6" name="stage1-artifacts-body-1">
            <a:extLst xmlns:a="http://schemas.openxmlformats.org/drawingml/2006/main">
              <a:ext uri="{FF2B5EF4-FFF2-40B4-BE49-F238E27FC236}">
                <a16:creationId xmlns:a16="http://schemas.microsoft.com/office/drawing/2014/main" id="{DCC4E5E1-DDFC-4BA4-9626-1099471F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0734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Authoritative file and loader 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SHA-256 and PE metadata</a:t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image base and entry</a:t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segments and permissions</a:t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imports, exports, unwind roots</a:t>
            </a:r>
          </a:p>
        </p:txBody>
      </p:sp>
      <p:sp>
        <p:nvSpPr>
          <p:cNvPr id="7" name="stage1-artifacts-panel-2">
            <a:extLst xmlns:a="http://schemas.openxmlformats.org/drawingml/2006/main">
              <a:ext uri="{FF2B5EF4-FFF2-40B4-BE49-F238E27FC236}">
                <a16:creationId xmlns:a16="http://schemas.microsoft.com/office/drawing/2014/main" id="{6B6C8F52-5A65-4DA5-87BE-8A6D0579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057400"/>
            <a:ext cx="3568700" cy="367665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1-artifacts-heading-2">
            <a:extLst xmlns:a="http://schemas.openxmlformats.org/drawingml/2006/main">
              <a:ext uri="{FF2B5EF4-FFF2-40B4-BE49-F238E27FC236}">
                <a16:creationId xmlns:a16="http://schemas.microsoft.com/office/drawing/2014/main" id="{7CD3196C-7D40-4DE4-8A62-FA7AB6C5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28600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fingerprint.json</a:t>
            </a:r>
          </a:p>
        </p:txBody>
      </p:sp>
      <p:sp>
        <p:nvSpPr>
          <p:cNvPr id="9" name="stage1-artifacts-body-2">
            <a:extLst xmlns:a="http://schemas.openxmlformats.org/drawingml/2006/main">
              <a:ext uri="{FF2B5EF4-FFF2-40B4-BE49-F238E27FC236}">
                <a16:creationId xmlns:a16="http://schemas.microsoft.com/office/drawing/2014/main" id="{287DE796-EEC3-4F0F-A275-FECB5778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895600"/>
            <a:ext cx="30734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Fast corpus-level clues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structural FNV-1a hash</a:t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API-family bits</a:t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privileged-opcode counts</a:t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symbol and string counts</a:t>
            </a:r>
          </a:p>
        </p:txBody>
      </p:sp>
      <p:sp>
        <p:nvSpPr>
          <p:cNvPr id="10" name="stage1-artifacts-panel-3">
            <a:extLst xmlns:a="http://schemas.openxmlformats.org/drawingml/2006/main">
              <a:ext uri="{FF2B5EF4-FFF2-40B4-BE49-F238E27FC236}">
                <a16:creationId xmlns:a16="http://schemas.microsoft.com/office/drawing/2014/main" id="{9A23329C-BF8A-422D-94F8-16F1C3CE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057400"/>
            <a:ext cx="3568700" cy="367665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1-artifacts-heading-3">
            <a:extLst xmlns:a="http://schemas.openxmlformats.org/drawingml/2006/main">
              <a:ext uri="{FF2B5EF4-FFF2-40B4-BE49-F238E27FC236}">
                <a16:creationId xmlns:a16="http://schemas.microsoft.com/office/drawing/2014/main" id="{B0CBABB8-2B76-4BA0-8812-C9F6B884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228600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strings.json</a:t>
            </a:r>
          </a:p>
        </p:txBody>
      </p:sp>
      <p:sp>
        <p:nvSpPr>
          <p:cNvPr id="12" name="stage1-artifacts-body-3">
            <a:extLst xmlns:a="http://schemas.openxmlformats.org/drawingml/2006/main">
              <a:ext uri="{FF2B5EF4-FFF2-40B4-BE49-F238E27FC236}">
                <a16:creationId xmlns:a16="http://schemas.microsoft.com/office/drawing/2014/main" id="{E41E9AD9-1CDB-4F73-A0D7-2F7ECA25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2895600"/>
            <a:ext cx="30734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Retained textual leads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device and symbolic-link names</a:t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SDDL or ACL text</a:t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registry and driver paths</a:t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raw file offsets</a:t>
            </a:r>
          </a:p>
        </p:txBody>
      </p:sp>
      <p:sp>
        <p:nvSpPr>
          <p:cNvPr id="13" name="stage1-warning">
            <a:extLst xmlns:a="http://schemas.openxmlformats.org/drawingml/2006/main">
              <a:ext uri="{FF2B5EF4-FFF2-40B4-BE49-F238E27FC236}">
                <a16:creationId xmlns:a16="http://schemas.microsoft.com/office/drawing/2014/main" id="{DD45F3BF-33E7-4F9D-905F-CDFB6F5E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245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66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These artifacts prove presence—not reachability, controllability, loadability, or vulnerability.</a:t>
            </a:r>
          </a:p>
        </p:txBody>
      </p:sp>
    </p:spTree>
    <p:extLst>
      <p:ext uri="{BB962C8B-B14F-4D97-AF65-F5344CB8AC3E}">
        <p14:creationId xmlns:p14="http://schemas.microsoft.com/office/powerpoint/2010/main" val="12749076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277D43D3-EA17-4CAE-A71B-759373FA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2 — CONTROL FLOW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E728721-4F93-404E-A40A-E7ED8F4E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Stage 2 rebuilds the CFG with recovered WDM roots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9840808F-297D-42D2-9A96-0602DEB5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cxnSp>
        <p:nvCxnSpPr>
          <p:cNvPr id="24" name="cfg-timeline-timeline-rule"/>
          <p:cNvCxnSpPr/>
          <p:nvPr/>
        </p:nvCxnSpPr>
        <p:spPr>
          <a:xfrm xmlns:a="http://schemas.openxmlformats.org/drawingml/2006/main">
            <a:off x="400050" y="2286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C10"/>
            </a:solidFill>
            <a:prstDash val="solid"/>
          </a:ln>
        </p:spPr>
      </p:cxnSp>
      <p:sp>
        <p:nvSpPr>
          <p:cNvPr id="5" name="cfg-timeline-dot-1">
            <a:extLst xmlns:a="http://schemas.openxmlformats.org/drawingml/2006/main">
              <a:ext uri="{FF2B5EF4-FFF2-40B4-BE49-F238E27FC236}">
                <a16:creationId xmlns:a16="http://schemas.microsoft.com/office/drawing/2014/main" id="{BE3D756B-4D7F-42BC-A76C-FC766D6E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fg-timeline-dot-2">
            <a:extLst xmlns:a="http://schemas.openxmlformats.org/drawingml/2006/main">
              <a:ext uri="{FF2B5EF4-FFF2-40B4-BE49-F238E27FC236}">
                <a16:creationId xmlns:a16="http://schemas.microsoft.com/office/drawing/2014/main" id="{04E2BCE5-1487-4793-9FAD-A224BF00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2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fg-timeline-dot-3">
            <a:extLst xmlns:a="http://schemas.openxmlformats.org/drawingml/2006/main">
              <a:ext uri="{FF2B5EF4-FFF2-40B4-BE49-F238E27FC236}">
                <a16:creationId xmlns:a16="http://schemas.microsoft.com/office/drawing/2014/main" id="{B3031F43-29AF-4F93-AFEB-0F211C5A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fg-timeline-label-1">
            <a:extLst xmlns:a="http://schemas.openxmlformats.org/drawingml/2006/main">
              <a:ext uri="{FF2B5EF4-FFF2-40B4-BE49-F238E27FC236}">
                <a16:creationId xmlns:a16="http://schemas.microsoft.com/office/drawing/2014/main" id="{B20E7D82-FB84-4D5B-A46E-4C9B4A9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PASS 1</a:t>
            </a:r>
          </a:p>
        </p:txBody>
      </p:sp>
      <p:sp>
        <p:nvSpPr>
          <p:cNvPr id="9" name="cfg-timeline-heading-1">
            <a:extLst xmlns:a="http://schemas.openxmlformats.org/drawingml/2006/main">
              <a:ext uri="{FF2B5EF4-FFF2-40B4-BE49-F238E27FC236}">
                <a16:creationId xmlns:a16="http://schemas.microsoft.com/office/drawing/2014/main" id="{87BF43ED-C73D-476B-AC13-BE950F26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Automatic roots</a:t>
            </a:r>
          </a:p>
        </p:txBody>
      </p:sp>
      <p:sp>
        <p:nvSpPr>
          <p:cNvPr id="10" name="cfg-timeline-body-1">
            <a:extLst xmlns:a="http://schemas.openxmlformats.org/drawingml/2006/main">
              <a:ext uri="{FF2B5EF4-FFF2-40B4-BE49-F238E27FC236}">
                <a16:creationId xmlns:a16="http://schemas.microsoft.com/office/drawing/2014/main" id="{F35FE67E-0B7D-433A-B2BB-CC696BC0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XAIR starts from entry points, metadata, call targets, executable roots, stubs, and probable prologues.</a:t>
            </a:r>
          </a:p>
        </p:txBody>
      </p:sp>
      <p:sp>
        <p:nvSpPr>
          <p:cNvPr id="11" name="cfg-timeline-label-2">
            <a:extLst xmlns:a="http://schemas.openxmlformats.org/drawingml/2006/main">
              <a:ext uri="{FF2B5EF4-FFF2-40B4-BE49-F238E27FC236}">
                <a16:creationId xmlns:a16="http://schemas.microsoft.com/office/drawing/2014/main" id="{925EED6E-9440-42D5-B96D-1A28EEB9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WDM RECOVERY</a:t>
            </a:r>
          </a:p>
        </p:txBody>
      </p:sp>
      <p:sp>
        <p:nvSpPr>
          <p:cNvPr id="12" name="cfg-timeline-heading-2">
            <a:extLst xmlns:a="http://schemas.openxmlformats.org/drawingml/2006/main">
              <a:ext uri="{FF2B5EF4-FFF2-40B4-BE49-F238E27FC236}">
                <a16:creationId xmlns:a16="http://schemas.microsoft.com/office/drawing/2014/main" id="{CC88FC89-0C5C-4EAB-9DBB-45AACDE4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Discover hidden roots</a:t>
            </a:r>
          </a:p>
        </p:txBody>
      </p:sp>
      <p:sp>
        <p:nvSpPr>
          <p:cNvPr id="13" name="cfg-timeline-body-2">
            <a:extLst xmlns:a="http://schemas.openxmlformats.org/drawingml/2006/main">
              <a:ext uri="{FF2B5EF4-FFF2-40B4-BE49-F238E27FC236}">
                <a16:creationId xmlns:a16="http://schemas.microsoft.com/office/drawing/2014/main" id="{7FF80403-B638-4C2D-9DC5-26362D84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Recover dispatch handlers, exact IOCTL case entries, and helper entries from WDM-specific analysis.</a:t>
            </a:r>
          </a:p>
        </p:txBody>
      </p:sp>
      <p:sp>
        <p:nvSpPr>
          <p:cNvPr id="14" name="cfg-timeline-label-3">
            <a:extLst xmlns:a="http://schemas.openxmlformats.org/drawingml/2006/main">
              <a:ext uri="{FF2B5EF4-FFF2-40B4-BE49-F238E27FC236}">
                <a16:creationId xmlns:a16="http://schemas.microsoft.com/office/drawing/2014/main" id="{813DD507-7F44-41CD-8A16-A32CB1F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PASS 2</a:t>
            </a:r>
          </a:p>
        </p:txBody>
      </p:sp>
      <p:sp>
        <p:nvSpPr>
          <p:cNvPr id="15" name="cfg-timeline-heading-3">
            <a:extLst xmlns:a="http://schemas.openxmlformats.org/drawingml/2006/main">
              <a:ext uri="{FF2B5EF4-FFF2-40B4-BE49-F238E27FC236}">
                <a16:creationId xmlns:a16="http://schemas.microsoft.com/office/drawing/2014/main" id="{E4760AB5-BC80-4E24-A179-AC7C8010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Rebuild + verify</a:t>
            </a:r>
          </a:p>
        </p:txBody>
      </p:sp>
      <p:sp>
        <p:nvSpPr>
          <p:cNvPr id="16" name="cfg-timeline-body-3">
            <a:extLst xmlns:a="http://schemas.openxmlformats.org/drawingml/2006/main">
              <a:ext uri="{FF2B5EF4-FFF2-40B4-BE49-F238E27FC236}">
                <a16:creationId xmlns:a16="http://schemas.microsoft.com/office/drawing/2014/main" id="{FABF0BF0-76D1-4204-BD73-56C21199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Discard the initial graph; rebuild with automatic plus approved manual roots. Only the verified final graph is authoritative.</a:t>
            </a:r>
          </a:p>
        </p:txBody>
      </p:sp>
      <p:sp>
        <p:nvSpPr>
          <p:cNvPr id="17" name="cfg-graph-graph-panel">
            <a:extLst xmlns:a="http://schemas.openxmlformats.org/drawingml/2006/main">
              <a:ext uri="{FF2B5EF4-FFF2-40B4-BE49-F238E27FC236}">
                <a16:creationId xmlns:a16="http://schemas.microsoft.com/office/drawing/2014/main" id="{2433F8A9-91B2-4FF6-A609-3D5DFEEC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90678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cfg-graph-graph-kicker">
            <a:extLst xmlns:a="http://schemas.openxmlformats.org/drawingml/2006/main">
              <a:ext uri="{FF2B5EF4-FFF2-40B4-BE49-F238E27FC236}">
                <a16:creationId xmlns:a16="http://schemas.microsoft.com/office/drawing/2014/main" id="{70A4CB00-34A6-4240-BE0E-865FC4C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33950"/>
            <a:ext cx="849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EVIDENCE</a:t>
            </a:r>
          </a:p>
        </p:txBody>
      </p:sp>
      <p:sp>
        <p:nvSpPr>
          <p:cNvPr id="19" name="cfg-graph-graph-title">
            <a:extLst xmlns:a="http://schemas.openxmlformats.org/drawingml/2006/main">
              <a:ext uri="{FF2B5EF4-FFF2-40B4-BE49-F238E27FC236}">
                <a16:creationId xmlns:a16="http://schemas.microsoft.com/office/drawing/2014/main" id="{CF32B870-84FF-4EC1-A9CA-28AC7CF6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19700"/>
            <a:ext cx="849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CFG growth after WDM root enrichment</a:t>
            </a:r>
          </a:p>
        </p:txBody>
      </p:sp>
      <p:sp>
        <p:nvSpPr>
          <p:cNvPr id="20" name="cfg-graph-graph-desc">
            <a:extLst xmlns:a="http://schemas.openxmlformats.org/drawingml/2006/main">
              <a:ext uri="{FF2B5EF4-FFF2-40B4-BE49-F238E27FC236}">
                <a16:creationId xmlns:a16="http://schemas.microsoft.com/office/drawing/2014/main" id="{F1903F1A-7848-4DE3-BB37-9A25AC42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1975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Populate with pass-1 versus pass-2 nodes, edges, functions, indirect targets, handler roots, case roots, and helper roots.</a:t>
            </a:r>
          </a:p>
        </p:txBody>
      </p:sp>
    </p:spTree>
    <p:extLst>
      <p:ext uri="{BB962C8B-B14F-4D97-AF65-F5344CB8AC3E}">
        <p14:creationId xmlns:p14="http://schemas.microsoft.com/office/powerpoint/2010/main" val="10088011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8FE698B8-65CB-48A8-A85B-C28863B9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2 — FRONT DOOR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4828953-D252-4394-9A53-D15FF1A7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1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The WDM scan connects dispatch slots to a device that callers can open</a:t>
            </a:r>
          </a:p>
        </p:txBody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0EFB3640-984B-4707-9BF1-C11C5141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wdm-frontdoor-heading-1">
            <a:extLst xmlns:a="http://schemas.openxmlformats.org/drawingml/2006/main">
              <a:ext uri="{FF2B5EF4-FFF2-40B4-BE49-F238E27FC236}">
                <a16:creationId xmlns:a16="http://schemas.microsoft.com/office/drawing/2014/main" id="{7D74E378-FFBB-4216-8E40-0DE94D7B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Dispatch assignments</a:t>
            </a:r>
          </a:p>
        </p:txBody>
      </p:sp>
      <p:sp>
        <p:nvSpPr>
          <p:cNvPr id="5" name="wdm-frontdoor-body-1">
            <a:extLst xmlns:a="http://schemas.openxmlformats.org/drawingml/2006/main">
              <a:ext uri="{FF2B5EF4-FFF2-40B4-BE49-F238E27FC236}">
                <a16:creationId xmlns:a16="http://schemas.microsoft.com/office/drawing/2014/main" id="{AC0863BB-F043-42B7-B882-08BDEE35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5687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Lightweight x64 abstract interpretation recognizes stores into DriverObject-&gt;MajorFunction. Valid slot math and an executable target are required.</a:t>
            </a:r>
          </a:p>
        </p:txBody>
      </p:sp>
      <p:sp>
        <p:nvSpPr>
          <p:cNvPr id="6" name="wdm-frontdoor-heading-2">
            <a:extLst xmlns:a="http://schemas.openxmlformats.org/drawingml/2006/main">
              <a:ext uri="{FF2B5EF4-FFF2-40B4-BE49-F238E27FC236}">
                <a16:creationId xmlns:a16="http://schemas.microsoft.com/office/drawing/2014/main" id="{7115342C-3091-438B-8B64-B4A6CC97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431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Device surface</a:t>
            </a:r>
          </a:p>
        </p:txBody>
      </p:sp>
      <p:sp>
        <p:nvSpPr>
          <p:cNvPr id="7" name="wdm-frontdoor-body-2">
            <a:extLst xmlns:a="http://schemas.openxmlformats.org/drawingml/2006/main">
              <a:ext uri="{FF2B5EF4-FFF2-40B4-BE49-F238E27FC236}">
                <a16:creationId xmlns:a16="http://schemas.microsoft.com/office/drawing/2014/main" id="{B31FBD43-33D6-4CBD-B96A-00853A66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971800"/>
            <a:ext cx="35687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Calls to IoCreateDevice, IoCreateDeviceSecure, IoCreateSymbolicLink, and access validation reveal names, SDDL, and access hints.</a:t>
            </a:r>
          </a:p>
        </p:txBody>
      </p:sp>
      <p:sp>
        <p:nvSpPr>
          <p:cNvPr id="8" name="wdm-frontdoor-heading-3">
            <a:extLst xmlns:a="http://schemas.openxmlformats.org/drawingml/2006/main">
              <a:ext uri="{FF2B5EF4-FFF2-40B4-BE49-F238E27FC236}">
                <a16:creationId xmlns:a16="http://schemas.microsoft.com/office/drawing/2014/main" id="{6DFECEFD-C0D3-4801-9AD3-347634C0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34315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Runtime uncertainty</a:t>
            </a:r>
          </a:p>
        </p:txBody>
      </p:sp>
      <p:sp>
        <p:nvSpPr>
          <p:cNvPr id="9" name="wdm-frontdoor-body-3">
            <a:extLst xmlns:a="http://schemas.openxmlformats.org/drawingml/2006/main">
              <a:ext uri="{FF2B5EF4-FFF2-40B4-BE49-F238E27FC236}">
                <a16:creationId xmlns:a16="http://schemas.microsoft.com/office/drawing/2014/main" id="{32D6DFA1-6F1D-47E5-B8AA-258AE7F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971800"/>
            <a:ext cx="35687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String-only paths and conditional setup remain leads. Stage 5 must confirm that the driver loads, creates the path, and permits an open.</a:t>
            </a:r>
          </a:p>
        </p:txBody>
      </p:sp>
    </p:spTree>
    <p:extLst>
      <p:ext uri="{BB962C8B-B14F-4D97-AF65-F5344CB8AC3E}">
        <p14:creationId xmlns:p14="http://schemas.microsoft.com/office/powerpoint/2010/main" val="13596442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64D94EFA-C466-4C31-A4BA-8B7FA33C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2 — IOCTL MAPPING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B47D3A5-B08D-4B3F-AC68-107A392D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IOCTL recovery preserves exact cases and weaker leads</a:t>
            </a:r>
          </a:p>
        </p:txBody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C4A76CD7-86EE-4584-9138-F39879BB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ioctl-table-header-bg-0">
            <a:extLst xmlns:a="http://schemas.openxmlformats.org/drawingml/2006/main">
              <a:ext uri="{FF2B5EF4-FFF2-40B4-BE49-F238E27FC236}">
                <a16:creationId xmlns:a16="http://schemas.microsoft.com/office/drawing/2014/main" id="{DC0338B7-CB2D-428B-BE60-14ECDC54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octl-table-header-0">
            <a:extLst xmlns:a="http://schemas.openxmlformats.org/drawingml/2006/main">
              <a:ext uri="{FF2B5EF4-FFF2-40B4-BE49-F238E27FC236}">
                <a16:creationId xmlns:a16="http://schemas.microsoft.com/office/drawing/2014/main" id="{4F1F2A18-7414-4388-AB41-C8841C45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Recovery path</a:t>
            </a:r>
          </a:p>
        </p:txBody>
      </p:sp>
      <p:sp>
        <p:nvSpPr>
          <p:cNvPr id="6" name="ioctl-table-header-bg-1">
            <a:extLst xmlns:a="http://schemas.openxmlformats.org/drawingml/2006/main">
              <a:ext uri="{FF2B5EF4-FFF2-40B4-BE49-F238E27FC236}">
                <a16:creationId xmlns:a16="http://schemas.microsoft.com/office/drawing/2014/main" id="{D6F27848-131C-4B05-A750-1AA21D60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69545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octl-table-header-1">
            <a:extLst xmlns:a="http://schemas.openxmlformats.org/drawingml/2006/main">
              <a:ext uri="{FF2B5EF4-FFF2-40B4-BE49-F238E27FC236}">
                <a16:creationId xmlns:a16="http://schemas.microsoft.com/office/drawing/2014/main" id="{69508747-EBA0-43D3-BEE8-8D7412AD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771650"/>
            <a:ext cx="3152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recognizes</a:t>
            </a:r>
          </a:p>
        </p:txBody>
      </p:sp>
      <p:sp>
        <p:nvSpPr>
          <p:cNvPr id="8" name="ioctl-table-header-bg-2">
            <a:extLst xmlns:a="http://schemas.openxmlformats.org/drawingml/2006/main">
              <a:ext uri="{FF2B5EF4-FFF2-40B4-BE49-F238E27FC236}">
                <a16:creationId xmlns:a16="http://schemas.microsoft.com/office/drawing/2014/main" id="{3AF5D5FA-A880-44BD-9C0E-FAA0DCF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octl-table-header-2">
            <a:extLst xmlns:a="http://schemas.openxmlformats.org/drawingml/2006/main">
              <a:ext uri="{FF2B5EF4-FFF2-40B4-BE49-F238E27FC236}">
                <a16:creationId xmlns:a16="http://schemas.microsoft.com/office/drawing/2014/main" id="{AC0A047B-1D36-401A-90AC-CD5E2B84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716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 target</a:t>
            </a:r>
          </a:p>
        </p:txBody>
      </p:sp>
      <p:sp>
        <p:nvSpPr>
          <p:cNvPr id="10" name="ioctl-table-header-bg-3">
            <a:extLst xmlns:a="http://schemas.openxmlformats.org/drawingml/2006/main">
              <a:ext uri="{FF2B5EF4-FFF2-40B4-BE49-F238E27FC236}">
                <a16:creationId xmlns:a16="http://schemas.microsoft.com/office/drawing/2014/main" id="{021E9FB5-E757-4D97-A55D-4DBCABE3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86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octl-table-header-3">
            <a:extLst xmlns:a="http://schemas.openxmlformats.org/drawingml/2006/main">
              <a:ext uri="{FF2B5EF4-FFF2-40B4-BE49-F238E27FC236}">
                <a16:creationId xmlns:a16="http://schemas.microsoft.com/office/drawing/2014/main" id="{47EBA0AA-3ADC-4B9A-8527-61DE711F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716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2" name="ioctl-table-cell-bg-0-0">
            <a:extLst xmlns:a="http://schemas.openxmlformats.org/drawingml/2006/main">
              <a:ext uri="{FF2B5EF4-FFF2-40B4-BE49-F238E27FC236}">
                <a16:creationId xmlns:a16="http://schemas.microsoft.com/office/drawing/2014/main" id="{BE5A4E85-23F4-4196-B05C-080AAAA9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3" name="ioctl-table-cell-0-0">
            <a:extLst xmlns:a="http://schemas.openxmlformats.org/drawingml/2006/main">
              <a:ext uri="{FF2B5EF4-FFF2-40B4-BE49-F238E27FC236}">
                <a16:creationId xmlns:a16="http://schemas.microsoft.com/office/drawing/2014/main" id="{0CDF0E86-7C2C-4002-9D85-CA95C25F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switch_table_exact</a:t>
            </a:r>
          </a:p>
        </p:txBody>
      </p:sp>
      <p:sp>
        <p:nvSpPr>
          <p:cNvPr id="14" name="ioctl-table-cell-bg-0-1">
            <a:extLst xmlns:a="http://schemas.openxmlformats.org/drawingml/2006/main">
              <a:ext uri="{FF2B5EF4-FFF2-40B4-BE49-F238E27FC236}">
                <a16:creationId xmlns:a16="http://schemas.microsoft.com/office/drawing/2014/main" id="{D279E1BD-2F7D-4A63-BA19-0070F1FD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36220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5" name="ioctl-table-cell-0-1">
            <a:extLst xmlns:a="http://schemas.openxmlformats.org/drawingml/2006/main">
              <a:ext uri="{FF2B5EF4-FFF2-40B4-BE49-F238E27FC236}">
                <a16:creationId xmlns:a16="http://schemas.microsoft.com/office/drawing/2014/main" id="{0CF5E0CF-31B9-4637-A638-C9BCEF04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38400"/>
            <a:ext cx="3152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Supported compiler jump-table shape</a:t>
            </a:r>
          </a:p>
        </p:txBody>
      </p:sp>
      <p:sp>
        <p:nvSpPr>
          <p:cNvPr id="16" name="ioctl-table-cell-bg-0-2">
            <a:extLst xmlns:a="http://schemas.openxmlformats.org/drawingml/2006/main">
              <a:ext uri="{FF2B5EF4-FFF2-40B4-BE49-F238E27FC236}">
                <a16:creationId xmlns:a16="http://schemas.microsoft.com/office/drawing/2014/main" id="{05A8EB6F-EB1F-4B7A-9785-6EB8FB51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7" name="ioctl-table-cell-0-2">
            <a:extLst xmlns:a="http://schemas.openxmlformats.org/drawingml/2006/main">
              <a:ext uri="{FF2B5EF4-FFF2-40B4-BE49-F238E27FC236}">
                <a16:creationId xmlns:a16="http://schemas.microsoft.com/office/drawing/2014/main" id="{99FA0779-B4DF-4F96-A251-F3A9357E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384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Concrete</a:t>
            </a:r>
          </a:p>
        </p:txBody>
      </p:sp>
      <p:sp>
        <p:nvSpPr>
          <p:cNvPr id="18" name="ioctl-table-cell-bg-0-3">
            <a:extLst xmlns:a="http://schemas.openxmlformats.org/drawingml/2006/main">
              <a:ext uri="{FF2B5EF4-FFF2-40B4-BE49-F238E27FC236}">
                <a16:creationId xmlns:a16="http://schemas.microsoft.com/office/drawing/2014/main" id="{31E1EF7C-E708-4543-B58E-D7B6140A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386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9" name="ioctl-table-cell-0-3">
            <a:extLst xmlns:a="http://schemas.openxmlformats.org/drawingml/2006/main">
              <a:ext uri="{FF2B5EF4-FFF2-40B4-BE49-F238E27FC236}">
                <a16:creationId xmlns:a16="http://schemas.microsoft.com/office/drawing/2014/main" id="{3648039F-7F06-4BF0-883C-A38BF9BF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3840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Strongest structured mapping</a:t>
            </a:r>
          </a:p>
        </p:txBody>
      </p:sp>
      <p:sp>
        <p:nvSpPr>
          <p:cNvPr id="20" name="ioctl-table-cell-bg-1-0">
            <a:extLst xmlns:a="http://schemas.openxmlformats.org/drawingml/2006/main">
              <a:ext uri="{FF2B5EF4-FFF2-40B4-BE49-F238E27FC236}">
                <a16:creationId xmlns:a16="http://schemas.microsoft.com/office/drawing/2014/main" id="{73C4C6B3-10E4-4550-A003-D3AFE81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1" name="ioctl-table-cell-1-0">
            <a:extLst xmlns:a="http://schemas.openxmlformats.org/drawingml/2006/main">
              <a:ext uri="{FF2B5EF4-FFF2-40B4-BE49-F238E27FC236}">
                <a16:creationId xmlns:a16="http://schemas.microsoft.com/office/drawing/2014/main" id="{D8228340-DA1A-42C6-A5B6-81945CF4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direct_equality</a:t>
            </a:r>
          </a:p>
        </p:txBody>
      </p:sp>
      <p:sp>
        <p:nvSpPr>
          <p:cNvPr id="22" name="ioctl-table-cell-bg-1-1">
            <a:extLst xmlns:a="http://schemas.openxmlformats.org/drawingml/2006/main">
              <a:ext uri="{FF2B5EF4-FFF2-40B4-BE49-F238E27FC236}">
                <a16:creationId xmlns:a16="http://schemas.microsoft.com/office/drawing/2014/main" id="{A707DAB1-6C2C-4A04-AEA8-AB427CF2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02895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3" name="ioctl-table-cell-1-1">
            <a:extLst xmlns:a="http://schemas.openxmlformats.org/drawingml/2006/main">
              <a:ext uri="{FF2B5EF4-FFF2-40B4-BE49-F238E27FC236}">
                <a16:creationId xmlns:a16="http://schemas.microsoft.com/office/drawing/2014/main" id="{5AFC6F7A-0195-451C-9D39-5A517B60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05150"/>
            <a:ext cx="3152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Exact compare + equality branch</a:t>
            </a:r>
          </a:p>
        </p:txBody>
      </p:sp>
      <p:sp>
        <p:nvSpPr>
          <p:cNvPr id="24" name="ioctl-table-cell-bg-1-2">
            <a:extLst xmlns:a="http://schemas.openxmlformats.org/drawingml/2006/main">
              <a:ext uri="{FF2B5EF4-FFF2-40B4-BE49-F238E27FC236}">
                <a16:creationId xmlns:a16="http://schemas.microsoft.com/office/drawing/2014/main" id="{59A82DAE-BAAB-43CD-A248-0C2CA6C8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289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5" name="ioctl-table-cell-1-2">
            <a:extLst xmlns:a="http://schemas.openxmlformats.org/drawingml/2006/main">
              <a:ext uri="{FF2B5EF4-FFF2-40B4-BE49-F238E27FC236}">
                <a16:creationId xmlns:a16="http://schemas.microsoft.com/office/drawing/2014/main" id="{9EE08CD2-0446-4CF9-8EE1-93ABCE93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051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Concrete</a:t>
            </a:r>
          </a:p>
        </p:txBody>
      </p:sp>
      <p:sp>
        <p:nvSpPr>
          <p:cNvPr id="26" name="ioctl-table-cell-bg-1-3">
            <a:extLst xmlns:a="http://schemas.openxmlformats.org/drawingml/2006/main">
              <a:ext uri="{FF2B5EF4-FFF2-40B4-BE49-F238E27FC236}">
                <a16:creationId xmlns:a16="http://schemas.microsoft.com/office/drawing/2014/main" id="{D0D3E1B0-C2F0-4A56-BB4D-D433344A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386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7" name="ioctl-table-cell-1-3">
            <a:extLst xmlns:a="http://schemas.openxmlformats.org/drawingml/2006/main">
              <a:ext uri="{FF2B5EF4-FFF2-40B4-BE49-F238E27FC236}">
                <a16:creationId xmlns:a16="http://schemas.microsoft.com/office/drawing/2014/main" id="{5F0E07EB-227A-4E01-9C13-120F65AC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Exact case entry</a:t>
            </a:r>
          </a:p>
        </p:txBody>
      </p:sp>
      <p:sp>
        <p:nvSpPr>
          <p:cNvPr id="28" name="ioctl-table-cell-bg-2-0">
            <a:extLst xmlns:a="http://schemas.openxmlformats.org/drawingml/2006/main">
              <a:ext uri="{FF2B5EF4-FFF2-40B4-BE49-F238E27FC236}">
                <a16:creationId xmlns:a16="http://schemas.microsoft.com/office/drawing/2014/main" id="{4949AEB9-F107-42B8-9CD8-A9E20152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9" name="ioctl-table-cell-2-0">
            <a:extLst xmlns:a="http://schemas.openxmlformats.org/drawingml/2006/main">
              <a:ext uri="{FF2B5EF4-FFF2-40B4-BE49-F238E27FC236}">
                <a16:creationId xmlns:a16="http://schemas.microsoft.com/office/drawing/2014/main" id="{AADDB34A-11D4-4C78-AFE5-0DBA001C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helper_switch_exact</a:t>
            </a:r>
          </a:p>
        </p:txBody>
      </p:sp>
      <p:sp>
        <p:nvSpPr>
          <p:cNvPr id="30" name="ioctl-table-cell-bg-2-1">
            <a:extLst xmlns:a="http://schemas.openxmlformats.org/drawingml/2006/main">
              <a:ext uri="{FF2B5EF4-FFF2-40B4-BE49-F238E27FC236}">
                <a16:creationId xmlns:a16="http://schemas.microsoft.com/office/drawing/2014/main" id="{BA8058A9-14E3-458E-BC3D-4F809004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9570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1" name="ioctl-table-cell-2-1">
            <a:extLst xmlns:a="http://schemas.openxmlformats.org/drawingml/2006/main">
              <a:ext uri="{FF2B5EF4-FFF2-40B4-BE49-F238E27FC236}">
                <a16:creationId xmlns:a16="http://schemas.microsoft.com/office/drawing/2014/main" id="{3DB1007B-8D1C-489C-B095-1AC49535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771900"/>
            <a:ext cx="3152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Structured switch in local helper</a:t>
            </a:r>
          </a:p>
        </p:txBody>
      </p:sp>
      <p:sp>
        <p:nvSpPr>
          <p:cNvPr id="32" name="ioctl-table-cell-bg-2-2">
            <a:extLst xmlns:a="http://schemas.openxmlformats.org/drawingml/2006/main">
              <a:ext uri="{FF2B5EF4-FFF2-40B4-BE49-F238E27FC236}">
                <a16:creationId xmlns:a16="http://schemas.microsoft.com/office/drawing/2014/main" id="{431E98A2-D530-4D28-9937-13B90BE0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3" name="ioctl-table-cell-2-2">
            <a:extLst xmlns:a="http://schemas.openxmlformats.org/drawingml/2006/main">
              <a:ext uri="{FF2B5EF4-FFF2-40B4-BE49-F238E27FC236}">
                <a16:creationId xmlns:a16="http://schemas.microsoft.com/office/drawing/2014/main" id="{AAE8E2CA-4EB8-4308-B298-4FF9E4CF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Concrete</a:t>
            </a:r>
          </a:p>
        </p:txBody>
      </p:sp>
      <p:sp>
        <p:nvSpPr>
          <p:cNvPr id="34" name="ioctl-table-cell-bg-2-3">
            <a:extLst xmlns:a="http://schemas.openxmlformats.org/drawingml/2006/main">
              <a:ext uri="{FF2B5EF4-FFF2-40B4-BE49-F238E27FC236}">
                <a16:creationId xmlns:a16="http://schemas.microsoft.com/office/drawing/2014/main" id="{8DA3FEF9-65C1-44EA-A34C-C19AE182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95700"/>
            <a:ext cx="386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5" name="ioctl-table-cell-2-3">
            <a:extLst xmlns:a="http://schemas.openxmlformats.org/drawingml/2006/main">
              <a:ext uri="{FF2B5EF4-FFF2-40B4-BE49-F238E27FC236}">
                <a16:creationId xmlns:a16="http://schemas.microsoft.com/office/drawing/2014/main" id="{4C78E102-954E-4985-9E08-E292CC50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7190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Exact with helper provenance</a:t>
            </a:r>
          </a:p>
        </p:txBody>
      </p:sp>
      <p:sp>
        <p:nvSpPr>
          <p:cNvPr id="36" name="ioctl-table-cell-bg-3-0">
            <a:extLst xmlns:a="http://schemas.openxmlformats.org/drawingml/2006/main">
              <a:ext uri="{FF2B5EF4-FFF2-40B4-BE49-F238E27FC236}">
                <a16:creationId xmlns:a16="http://schemas.microsoft.com/office/drawing/2014/main" id="{2D5F74F3-52F4-4489-95A5-BC389D5D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7" name="ioctl-table-cell-3-0">
            <a:extLst xmlns:a="http://schemas.openxmlformats.org/drawingml/2006/main">
              <a:ext uri="{FF2B5EF4-FFF2-40B4-BE49-F238E27FC236}">
                <a16:creationId xmlns:a16="http://schemas.microsoft.com/office/drawing/2014/main" id="{244862B7-A9A5-4D8D-8C52-C4C5F6E2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heuristic_compare</a:t>
            </a:r>
          </a:p>
        </p:txBody>
      </p:sp>
      <p:sp>
        <p:nvSpPr>
          <p:cNvPr id="38" name="ioctl-table-cell-bg-3-1">
            <a:extLst xmlns:a="http://schemas.openxmlformats.org/drawingml/2006/main">
              <a:ext uri="{FF2B5EF4-FFF2-40B4-BE49-F238E27FC236}">
                <a16:creationId xmlns:a16="http://schemas.microsoft.com/office/drawing/2014/main" id="{BBA89029-CAF9-4671-8BD5-81EE012C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36245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9" name="ioctl-table-cell-3-1">
            <a:extLst xmlns:a="http://schemas.openxmlformats.org/drawingml/2006/main">
              <a:ext uri="{FF2B5EF4-FFF2-40B4-BE49-F238E27FC236}">
                <a16:creationId xmlns:a16="http://schemas.microsoft.com/office/drawing/2014/main" id="{4C25CF37-0DE3-48D1-8B36-68F10473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38650"/>
            <a:ext cx="3152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Immediate compare in reachable CFG</a:t>
            </a:r>
          </a:p>
        </p:txBody>
      </p:sp>
      <p:sp>
        <p:nvSpPr>
          <p:cNvPr id="40" name="ioctl-table-cell-bg-3-2">
            <a:extLst xmlns:a="http://schemas.openxmlformats.org/drawingml/2006/main">
              <a:ext uri="{FF2B5EF4-FFF2-40B4-BE49-F238E27FC236}">
                <a16:creationId xmlns:a16="http://schemas.microsoft.com/office/drawing/2014/main" id="{0FC74404-307D-42DA-840B-971BEDE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62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1" name="ioctl-table-cell-3-2">
            <a:extLst xmlns:a="http://schemas.openxmlformats.org/drawingml/2006/main">
              <a:ext uri="{FF2B5EF4-FFF2-40B4-BE49-F238E27FC236}">
                <a16:creationId xmlns:a16="http://schemas.microsoft.com/office/drawing/2014/main" id="{9F114414-7504-4295-A76C-2F93A26F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Approximate</a:t>
            </a:r>
          </a:p>
        </p:txBody>
      </p:sp>
      <p:sp>
        <p:nvSpPr>
          <p:cNvPr id="42" name="ioctl-table-cell-bg-3-3">
            <a:extLst xmlns:a="http://schemas.openxmlformats.org/drawingml/2006/main">
              <a:ext uri="{FF2B5EF4-FFF2-40B4-BE49-F238E27FC236}">
                <a16:creationId xmlns:a16="http://schemas.microsoft.com/office/drawing/2014/main" id="{117EC414-611C-409B-9745-F63DBD9F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62450"/>
            <a:ext cx="386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3" name="ioctl-table-cell-3-3">
            <a:extLst xmlns:a="http://schemas.openxmlformats.org/drawingml/2006/main">
              <a:ext uri="{FF2B5EF4-FFF2-40B4-BE49-F238E27FC236}">
                <a16:creationId xmlns:a16="http://schemas.microsoft.com/office/drawing/2014/main" id="{16D23793-20CD-4192-AA36-910E69EB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386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Static lead</a:t>
            </a:r>
          </a:p>
        </p:txBody>
      </p:sp>
      <p:sp>
        <p:nvSpPr>
          <p:cNvPr id="44" name="ioctl-table-cell-bg-4-0">
            <a:extLst xmlns:a="http://schemas.openxmlformats.org/drawingml/2006/main">
              <a:ext uri="{FF2B5EF4-FFF2-40B4-BE49-F238E27FC236}">
                <a16:creationId xmlns:a16="http://schemas.microsoft.com/office/drawing/2014/main" id="{60F61B8E-0A97-4090-BE41-0F9EDE84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5" name="ioctl-table-cell-4-0">
            <a:extLst xmlns:a="http://schemas.openxmlformats.org/drawingml/2006/main">
              <a:ext uri="{FF2B5EF4-FFF2-40B4-BE49-F238E27FC236}">
                <a16:creationId xmlns:a16="http://schemas.microsoft.com/office/drawing/2014/main" id="{8B17C75B-054E-47D5-B00C-B6644D9D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105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linear_fallback</a:t>
            </a:r>
          </a:p>
        </p:txBody>
      </p:sp>
      <p:sp>
        <p:nvSpPr>
          <p:cNvPr id="46" name="ioctl-table-cell-bg-4-1">
            <a:extLst xmlns:a="http://schemas.openxmlformats.org/drawingml/2006/main">
              <a:ext uri="{FF2B5EF4-FFF2-40B4-BE49-F238E27FC236}">
                <a16:creationId xmlns:a16="http://schemas.microsoft.com/office/drawing/2014/main" id="{728BC2F0-A29D-4B50-885D-7C13973A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02920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7" name="ioctl-table-cell-4-1">
            <a:extLst xmlns:a="http://schemas.openxmlformats.org/drawingml/2006/main">
              <a:ext uri="{FF2B5EF4-FFF2-40B4-BE49-F238E27FC236}">
                <a16:creationId xmlns:a16="http://schemas.microsoft.com/office/drawing/2014/main" id="{AFA556A8-DAEF-4248-B9E8-825F0EFA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105400"/>
            <a:ext cx="3152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Control-code-shaped constant near handler</a:t>
            </a:r>
          </a:p>
        </p:txBody>
      </p:sp>
      <p:sp>
        <p:nvSpPr>
          <p:cNvPr id="48" name="ioctl-table-cell-bg-4-2">
            <a:extLst xmlns:a="http://schemas.openxmlformats.org/drawingml/2006/main">
              <a:ext uri="{FF2B5EF4-FFF2-40B4-BE49-F238E27FC236}">
                <a16:creationId xmlns:a16="http://schemas.microsoft.com/office/drawing/2014/main" id="{DF9CDA11-1ED1-43EC-A141-D12B561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292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9" name="ioctl-table-cell-4-2">
            <a:extLst xmlns:a="http://schemas.openxmlformats.org/drawingml/2006/main">
              <a:ext uri="{FF2B5EF4-FFF2-40B4-BE49-F238E27FC236}">
                <a16:creationId xmlns:a16="http://schemas.microsoft.com/office/drawing/2014/main" id="{B22EA12A-F892-41BE-ACC2-35CC67B1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0540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Weak/none</a:t>
            </a:r>
          </a:p>
        </p:txBody>
      </p:sp>
      <p:sp>
        <p:nvSpPr>
          <p:cNvPr id="50" name="ioctl-table-cell-bg-4-3">
            <a:extLst xmlns:a="http://schemas.openxmlformats.org/drawingml/2006/main">
              <a:ext uri="{FF2B5EF4-FFF2-40B4-BE49-F238E27FC236}">
                <a16:creationId xmlns:a16="http://schemas.microsoft.com/office/drawing/2014/main" id="{D881FBEA-D2E4-455B-A7DA-7999EC49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29200"/>
            <a:ext cx="386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1" name="ioctl-table-cell-4-3">
            <a:extLst xmlns:a="http://schemas.openxmlformats.org/drawingml/2006/main">
              <a:ext uri="{FF2B5EF4-FFF2-40B4-BE49-F238E27FC236}">
                <a16:creationId xmlns:a16="http://schemas.microsoft.com/office/drawing/2014/main" id="{ADEE94D6-569C-413C-BD71-B42E4772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0540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Low-confidence lead</a:t>
            </a:r>
          </a:p>
        </p:txBody>
      </p:sp>
      <p:sp>
        <p:nvSpPr>
          <p:cNvPr id="52" name="ioctl-bits-bg">
            <a:extLst xmlns:a="http://schemas.openxmlformats.org/drawingml/2006/main">
              <a:ext uri="{FF2B5EF4-FFF2-40B4-BE49-F238E27FC236}">
                <a16:creationId xmlns:a16="http://schemas.microsoft.com/office/drawing/2014/main" id="{3998304C-195D-45FE-9905-099837A3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933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ioctl-bits-text">
            <a:extLst xmlns:a="http://schemas.openxmlformats.org/drawingml/2006/main">
              <a:ext uri="{FF2B5EF4-FFF2-40B4-BE49-F238E27FC236}">
                <a16:creationId xmlns:a16="http://schemas.microsoft.com/office/drawing/2014/main" id="{2A7EB564-F995-4037-84DD-F233EACC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00750"/>
            <a:ext cx="887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CE7F5"/>
                </a:solidFill>
                <a:latin typeface="Arial"/>
                <a:ea typeface="Arial"/>
                <a:cs typeface="Arial"/>
              </a:rPr>
              <a:t>IOCTL bits:  DeviceType [31:16]   Access [15:14]   Function [13:2]   Method [1:0]</a:t>
            </a:r>
          </a:p>
        </p:txBody>
      </p:sp>
    </p:spTree>
    <p:extLst>
      <p:ext uri="{BB962C8B-B14F-4D97-AF65-F5344CB8AC3E}">
        <p14:creationId xmlns:p14="http://schemas.microsoft.com/office/powerpoint/2010/main" val="535334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A4407DAB-3BFD-4E7D-A3DD-DE4A18A5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2 — EVIDENCE BOUNDARY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E39700F-EB1D-4059-ACEE-A8437C71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Stage 2 maps invocation; it does not find vulnerabilities</a:t>
            </a:r>
          </a:p>
        </p:txBody>
      </p:sp>
      <p:sp>
        <p:nvSpPr>
          <p:cNvPr id="3" name="footer-10">
            <a:extLst xmlns:a="http://schemas.openxmlformats.org/drawingml/2006/main">
              <a:ext uri="{FF2B5EF4-FFF2-40B4-BE49-F238E27FC236}">
                <a16:creationId xmlns:a16="http://schemas.microsoft.com/office/drawing/2014/main" id="{3C2B53BD-2F08-4916-8A8F-6434EF43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stage2-boundary-left-title">
            <a:extLst xmlns:a="http://schemas.openxmlformats.org/drawingml/2006/main">
              <a:ext uri="{FF2B5EF4-FFF2-40B4-BE49-F238E27FC236}">
                <a16:creationId xmlns:a16="http://schemas.microsoft.com/office/drawing/2014/main" id="{3B5C7658-CA8B-4B81-9026-5961E019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 strong Stage 2 case</a:t>
            </a:r>
          </a:p>
        </p:txBody>
      </p:sp>
      <p:sp>
        <p:nvSpPr>
          <p:cNvPr id="5" name="stage2-boundary-left-body">
            <a:extLst xmlns:a="http://schemas.openxmlformats.org/drawingml/2006/main">
              <a:ext uri="{FF2B5EF4-FFF2-40B4-BE49-F238E27FC236}">
                <a16:creationId xmlns:a16="http://schemas.microsoft.com/office/drawing/2014/main" id="{170056B0-95FA-466C-9F2A-C65A5D8E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5524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Known DEVICE_CONTROL handler</a:t>
            </a:r>
          </a:p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Exact selector provenance</a:t>
            </a:r>
          </a:p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Concrete, nonambiguous case entry</a:t>
            </a:r>
          </a:p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Known transfer method</a:t>
            </a:r>
          </a:p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Final CFG contains handler and case</a:t>
            </a:r>
          </a:p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Recovered symbolic link</a:t>
            </a:r>
          </a:p>
        </p:txBody>
      </p:sp>
      <p:sp>
        <p:nvSpPr>
          <p:cNvPr id="6" name="stage2-boundary-right-title">
            <a:extLst xmlns:a="http://schemas.openxmlformats.org/drawingml/2006/main">
              <a:ext uri="{FF2B5EF4-FFF2-40B4-BE49-F238E27FC236}">
                <a16:creationId xmlns:a16="http://schemas.microsoft.com/office/drawing/2014/main" id="{EF1685DF-2A74-41EE-B45C-76F01D32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Still unknown</a:t>
            </a:r>
          </a:p>
        </p:txBody>
      </p:sp>
      <p:sp>
        <p:nvSpPr>
          <p:cNvPr id="7" name="stage2-boundary-right-body">
            <a:extLst xmlns:a="http://schemas.openxmlformats.org/drawingml/2006/main">
              <a:ext uri="{FF2B5EF4-FFF2-40B4-BE49-F238E27FC236}">
                <a16:creationId xmlns:a16="http://schemas.microsoft.com/office/drawing/2014/main" id="{DAFED5D5-0D30-4AC5-84D1-667AE1B9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5524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Does the driver load?</a:t>
            </a:r>
          </a:p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Can user mode open the device?</a:t>
            </a:r>
          </a:p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Are size/path guards satisfiable?</a:t>
            </a:r>
          </a:p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Does request data reach a sensitive sink?</a:t>
            </a:r>
          </a:p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Does any unsafe effect occur?</a:t>
            </a:r>
          </a:p>
          <a:p xmlns:a="http://schemas.openxmlformats.org/drawingml/2006/main">
            <a:pPr algn="l">
              <a:defRPr sz="17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Were all real handlers and IOCTLs found?</a:t>
            </a:r>
          </a:p>
        </p:txBody>
      </p:sp>
      <p:sp>
        <p:nvSpPr>
          <p:cNvPr id="8" name="stage2-summary">
            <a:extLst xmlns:a="http://schemas.openxmlformats.org/drawingml/2006/main">
              <a:ext uri="{FF2B5EF4-FFF2-40B4-BE49-F238E27FC236}">
                <a16:creationId xmlns:a16="http://schemas.microsoft.com/office/drawing/2014/main" id="{F625EE8C-45CF-4867-8282-4FD272F1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14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durable contract is: major function → handler → IOCTL case → device/front-door metadata → final CFG.</a:t>
            </a:r>
          </a:p>
        </p:txBody>
      </p:sp>
    </p:spTree>
    <p:extLst>
      <p:ext uri="{BB962C8B-B14F-4D97-AF65-F5344CB8AC3E}">
        <p14:creationId xmlns:p14="http://schemas.microsoft.com/office/powerpoint/2010/main" val="1241010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A378812F-3F48-41E0-8F2E-93FDC25D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3 — REQUEST MODEL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A41344B-2E8E-454F-B9D7-3C9FAA20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The transfer method defines Stage 3 request sources</a:t>
            </a:r>
          </a:p>
        </p:txBody>
      </p:sp>
      <p:sp>
        <p:nvSpPr>
          <p:cNvPr id="3" name="footer-11">
            <a:extLst xmlns:a="http://schemas.openxmlformats.org/drawingml/2006/main">
              <a:ext uri="{FF2B5EF4-FFF2-40B4-BE49-F238E27FC236}">
                <a16:creationId xmlns:a16="http://schemas.microsoft.com/office/drawing/2014/main" id="{4A65A30E-0C6C-4571-84CD-F51ED01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method-table-header-bg-0">
            <a:extLst xmlns:a="http://schemas.openxmlformats.org/drawingml/2006/main">
              <a:ext uri="{FF2B5EF4-FFF2-40B4-BE49-F238E27FC236}">
                <a16:creationId xmlns:a16="http://schemas.microsoft.com/office/drawing/2014/main" id="{E3365A04-A168-4DF8-B609-0D3C4841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33625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hod-table-header-0">
            <a:extLst xmlns:a="http://schemas.openxmlformats.org/drawingml/2006/main">
              <a:ext uri="{FF2B5EF4-FFF2-40B4-BE49-F238E27FC236}">
                <a16:creationId xmlns:a16="http://schemas.microsoft.com/office/drawing/2014/main" id="{D5D9B559-BD0D-4F76-99A3-D4B00CF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1050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6" name="method-table-header-bg-1">
            <a:extLst xmlns:a="http://schemas.openxmlformats.org/drawingml/2006/main">
              <a:ext uri="{FF2B5EF4-FFF2-40B4-BE49-F238E27FC236}">
                <a16:creationId xmlns:a16="http://schemas.microsoft.com/office/drawing/2014/main" id="{76688C8C-BA69-443A-8555-A905CA76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1981200"/>
            <a:ext cx="4238625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table-header-1">
            <a:extLst xmlns:a="http://schemas.openxmlformats.org/drawingml/2006/main">
              <a:ext uri="{FF2B5EF4-FFF2-40B4-BE49-F238E27FC236}">
                <a16:creationId xmlns:a16="http://schemas.microsoft.com/office/drawing/2014/main" id="{A2FE2655-FA2D-4D8A-89ED-0297D085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57400"/>
            <a:ext cx="40100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Caller-visible request sources</a:t>
            </a:r>
          </a:p>
        </p:txBody>
      </p:sp>
      <p:sp>
        <p:nvSpPr>
          <p:cNvPr id="8" name="method-table-header-bg-2">
            <a:extLst xmlns:a="http://schemas.openxmlformats.org/drawingml/2006/main">
              <a:ext uri="{FF2B5EF4-FFF2-40B4-BE49-F238E27FC236}">
                <a16:creationId xmlns:a16="http://schemas.microsoft.com/office/drawing/2014/main" id="{1C1D9243-9C90-43E7-8902-B12D672E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81200"/>
            <a:ext cx="481965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od-table-header-2">
            <a:extLst xmlns:a="http://schemas.openxmlformats.org/drawingml/2006/main">
              <a:ext uri="{FF2B5EF4-FFF2-40B4-BE49-F238E27FC236}">
                <a16:creationId xmlns:a16="http://schemas.microsoft.com/office/drawing/2014/main" id="{52AEBBDB-BFD6-47F4-95F3-A44CAB32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57400"/>
            <a:ext cx="459105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semantic point</a:t>
            </a:r>
          </a:p>
        </p:txBody>
      </p:sp>
      <p:sp>
        <p:nvSpPr>
          <p:cNvPr id="10" name="method-table-cell-bg-0-0">
            <a:extLst xmlns:a="http://schemas.openxmlformats.org/drawingml/2006/main">
              <a:ext uri="{FF2B5EF4-FFF2-40B4-BE49-F238E27FC236}">
                <a16:creationId xmlns:a16="http://schemas.microsoft.com/office/drawing/2014/main" id="{3977F444-3A98-48B0-99DA-3EA9C293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1760"/>
            <a:ext cx="2333625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1" name="method-table-cell-0-0">
            <a:extLst xmlns:a="http://schemas.openxmlformats.org/drawingml/2006/main">
              <a:ext uri="{FF2B5EF4-FFF2-40B4-BE49-F238E27FC236}">
                <a16:creationId xmlns:a16="http://schemas.microsoft.com/office/drawing/2014/main" id="{E2A5B2FC-C18D-4434-9B78-5D90E609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7960"/>
            <a:ext cx="21050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METHOD_BUFFERED</a:t>
            </a:r>
          </a:p>
        </p:txBody>
      </p:sp>
      <p:sp>
        <p:nvSpPr>
          <p:cNvPr id="12" name="method-table-cell-bg-0-1">
            <a:extLst xmlns:a="http://schemas.openxmlformats.org/drawingml/2006/main">
              <a:ext uri="{FF2B5EF4-FFF2-40B4-BE49-F238E27FC236}">
                <a16:creationId xmlns:a16="http://schemas.microsoft.com/office/drawing/2014/main" id="{9438143D-93FD-4DC6-A4F4-FF0B827C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51760"/>
            <a:ext cx="4238625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3" name="method-table-cell-0-1">
            <a:extLst xmlns:a="http://schemas.openxmlformats.org/drawingml/2006/main">
              <a:ext uri="{FF2B5EF4-FFF2-40B4-BE49-F238E27FC236}">
                <a16:creationId xmlns:a16="http://schemas.microsoft.com/office/drawing/2014/main" id="{3BC414AD-63B5-40A2-A203-44EB44C7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27960"/>
            <a:ext cx="40100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SystemBuffer</a:t>
            </a:r>
          </a:p>
        </p:txBody>
      </p:sp>
      <p:sp>
        <p:nvSpPr>
          <p:cNvPr id="14" name="method-table-cell-bg-0-2">
            <a:extLst xmlns:a="http://schemas.openxmlformats.org/drawingml/2006/main">
              <a:ext uri="{FF2B5EF4-FFF2-40B4-BE49-F238E27FC236}">
                <a16:creationId xmlns:a16="http://schemas.microsoft.com/office/drawing/2014/main" id="{1479539F-12DC-49EE-91FF-2DBAB87D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51760"/>
            <a:ext cx="481965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5" name="method-table-cell-0-2">
            <a:extLst xmlns:a="http://schemas.openxmlformats.org/drawingml/2006/main">
              <a:ext uri="{FF2B5EF4-FFF2-40B4-BE49-F238E27FC236}">
                <a16:creationId xmlns:a16="http://schemas.microsoft.com/office/drawing/2014/main" id="{6A478B12-57C0-411F-869A-5283EBF1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7960"/>
            <a:ext cx="459105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Kernel buffer is byte-addressable and request-controlled</a:t>
            </a:r>
          </a:p>
        </p:txBody>
      </p:sp>
      <p:sp>
        <p:nvSpPr>
          <p:cNvPr id="16" name="method-table-cell-bg-1-0">
            <a:extLst xmlns:a="http://schemas.openxmlformats.org/drawingml/2006/main">
              <a:ext uri="{FF2B5EF4-FFF2-40B4-BE49-F238E27FC236}">
                <a16:creationId xmlns:a16="http://schemas.microsoft.com/office/drawing/2014/main" id="{9702358F-9E91-40A4-B455-30D037B0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2320"/>
            <a:ext cx="2333625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7" name="method-table-cell-1-0">
            <a:extLst xmlns:a="http://schemas.openxmlformats.org/drawingml/2006/main">
              <a:ext uri="{FF2B5EF4-FFF2-40B4-BE49-F238E27FC236}">
                <a16:creationId xmlns:a16="http://schemas.microsoft.com/office/drawing/2014/main" id="{A808EACC-9C62-4AA9-84C8-1C0B5E82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8520"/>
            <a:ext cx="21050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METHOD_IN_DIRECT</a:t>
            </a:r>
          </a:p>
        </p:txBody>
      </p:sp>
      <p:sp>
        <p:nvSpPr>
          <p:cNvPr id="18" name="method-table-cell-bg-1-1">
            <a:extLst xmlns:a="http://schemas.openxmlformats.org/drawingml/2006/main">
              <a:ext uri="{FF2B5EF4-FFF2-40B4-BE49-F238E27FC236}">
                <a16:creationId xmlns:a16="http://schemas.microsoft.com/office/drawing/2014/main" id="{1D25ACF3-7246-4427-9B1D-2F61B93A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22320"/>
            <a:ext cx="4238625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9" name="method-table-cell-1-1">
            <a:extLst xmlns:a="http://schemas.openxmlformats.org/drawingml/2006/main">
              <a:ext uri="{FF2B5EF4-FFF2-40B4-BE49-F238E27FC236}">
                <a16:creationId xmlns:a16="http://schemas.microsoft.com/office/drawing/2014/main" id="{BC562DAB-A953-4264-9CCF-D106780E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98520"/>
            <a:ext cx="40100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SystemBuffer, MdlAddress, MdlSystemAddress</a:t>
            </a:r>
          </a:p>
        </p:txBody>
      </p:sp>
      <p:sp>
        <p:nvSpPr>
          <p:cNvPr id="20" name="method-table-cell-bg-1-2">
            <a:extLst xmlns:a="http://schemas.openxmlformats.org/drawingml/2006/main">
              <a:ext uri="{FF2B5EF4-FFF2-40B4-BE49-F238E27FC236}">
                <a16:creationId xmlns:a16="http://schemas.microsoft.com/office/drawing/2014/main" id="{52F3E0F4-EEA1-40F5-B31D-215DAE1D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22320"/>
            <a:ext cx="481965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1" name="method-table-cell-1-2">
            <a:extLst xmlns:a="http://schemas.openxmlformats.org/drawingml/2006/main">
              <a:ext uri="{FF2B5EF4-FFF2-40B4-BE49-F238E27FC236}">
                <a16:creationId xmlns:a16="http://schemas.microsoft.com/office/drawing/2014/main" id="{3D0A20B6-7D04-407C-A595-5C9C265B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98520"/>
            <a:ext cx="459105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Control input plus MDL-backed direct buffer</a:t>
            </a:r>
          </a:p>
        </p:txBody>
      </p:sp>
      <p:sp>
        <p:nvSpPr>
          <p:cNvPr id="22" name="method-table-cell-bg-2-0">
            <a:extLst xmlns:a="http://schemas.openxmlformats.org/drawingml/2006/main">
              <a:ext uri="{FF2B5EF4-FFF2-40B4-BE49-F238E27FC236}">
                <a16:creationId xmlns:a16="http://schemas.microsoft.com/office/drawing/2014/main" id="{1F4E6985-98D6-4638-B8F9-18E500E1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92880"/>
            <a:ext cx="2333625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3" name="method-table-cell-2-0">
            <a:extLst xmlns:a="http://schemas.openxmlformats.org/drawingml/2006/main">
              <a:ext uri="{FF2B5EF4-FFF2-40B4-BE49-F238E27FC236}">
                <a16:creationId xmlns:a16="http://schemas.microsoft.com/office/drawing/2014/main" id="{438FB4C4-108F-4F82-ABF1-2CC7EF76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69080"/>
            <a:ext cx="21050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METHOD_OUT_DIRECT</a:t>
            </a:r>
          </a:p>
        </p:txBody>
      </p:sp>
      <p:sp>
        <p:nvSpPr>
          <p:cNvPr id="24" name="method-table-cell-bg-2-1">
            <a:extLst xmlns:a="http://schemas.openxmlformats.org/drawingml/2006/main">
              <a:ext uri="{FF2B5EF4-FFF2-40B4-BE49-F238E27FC236}">
                <a16:creationId xmlns:a16="http://schemas.microsoft.com/office/drawing/2014/main" id="{5A1EB7DB-7D3E-4229-9EFB-05CF1108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992880"/>
            <a:ext cx="4238625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5" name="method-table-cell-2-1">
            <a:extLst xmlns:a="http://schemas.openxmlformats.org/drawingml/2006/main">
              <a:ext uri="{FF2B5EF4-FFF2-40B4-BE49-F238E27FC236}">
                <a16:creationId xmlns:a16="http://schemas.microsoft.com/office/drawing/2014/main" id="{120B9D60-57CB-4A33-8E4F-1C5EB937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69080"/>
            <a:ext cx="40100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SystemBuffer, MdlAddress, MdlSystemAddress</a:t>
            </a:r>
          </a:p>
        </p:txBody>
      </p:sp>
      <p:sp>
        <p:nvSpPr>
          <p:cNvPr id="26" name="method-table-cell-bg-2-2">
            <a:extLst xmlns:a="http://schemas.openxmlformats.org/drawingml/2006/main">
              <a:ext uri="{FF2B5EF4-FFF2-40B4-BE49-F238E27FC236}">
                <a16:creationId xmlns:a16="http://schemas.microsoft.com/office/drawing/2014/main" id="{8546E6FA-96BC-4A50-9A33-17E36156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92880"/>
            <a:ext cx="481965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7" name="method-table-cell-2-2">
            <a:extLst xmlns:a="http://schemas.openxmlformats.org/drawingml/2006/main">
              <a:ext uri="{FF2B5EF4-FFF2-40B4-BE49-F238E27FC236}">
                <a16:creationId xmlns:a16="http://schemas.microsoft.com/office/drawing/2014/main" id="{0B51A55D-401D-4485-A7DD-25BBA97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69080"/>
            <a:ext cx="459105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Output-oriented direct buffer; same modeled objects</a:t>
            </a:r>
          </a:p>
        </p:txBody>
      </p:sp>
      <p:sp>
        <p:nvSpPr>
          <p:cNvPr id="28" name="method-table-cell-bg-3-0">
            <a:extLst xmlns:a="http://schemas.openxmlformats.org/drawingml/2006/main">
              <a:ext uri="{FF2B5EF4-FFF2-40B4-BE49-F238E27FC236}">
                <a16:creationId xmlns:a16="http://schemas.microsoft.com/office/drawing/2014/main" id="{9C0CCBAD-51C3-43A6-91C5-2A93CF09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3440"/>
            <a:ext cx="2333625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9" name="method-table-cell-3-0">
            <a:extLst xmlns:a="http://schemas.openxmlformats.org/drawingml/2006/main">
              <a:ext uri="{FF2B5EF4-FFF2-40B4-BE49-F238E27FC236}">
                <a16:creationId xmlns:a16="http://schemas.microsoft.com/office/drawing/2014/main" id="{75E6D8D1-4D39-4117-BA5A-452BA573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9640"/>
            <a:ext cx="21050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METHOD_NEITHER</a:t>
            </a:r>
          </a:p>
        </p:txBody>
      </p:sp>
      <p:sp>
        <p:nvSpPr>
          <p:cNvPr id="30" name="method-table-cell-bg-3-1">
            <a:extLst xmlns:a="http://schemas.openxmlformats.org/drawingml/2006/main">
              <a:ext uri="{FF2B5EF4-FFF2-40B4-BE49-F238E27FC236}">
                <a16:creationId xmlns:a16="http://schemas.microsoft.com/office/drawing/2014/main" id="{9C1977E2-4EE9-499A-83CD-B452E003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63440"/>
            <a:ext cx="4238625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1" name="method-table-cell-3-1">
            <a:extLst xmlns:a="http://schemas.openxmlformats.org/drawingml/2006/main">
              <a:ext uri="{FF2B5EF4-FFF2-40B4-BE49-F238E27FC236}">
                <a16:creationId xmlns:a16="http://schemas.microsoft.com/office/drawing/2014/main" id="{2A716313-D31F-42CC-BE4A-915DE7A7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739640"/>
            <a:ext cx="4010025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Type3InputBuffer, UserBuffer</a:t>
            </a:r>
          </a:p>
        </p:txBody>
      </p:sp>
      <p:sp>
        <p:nvSpPr>
          <p:cNvPr id="32" name="method-table-cell-bg-3-2">
            <a:extLst xmlns:a="http://schemas.openxmlformats.org/drawingml/2006/main">
              <a:ext uri="{FF2B5EF4-FFF2-40B4-BE49-F238E27FC236}">
                <a16:creationId xmlns:a16="http://schemas.microsoft.com/office/drawing/2014/main" id="{5DED640A-CF25-4F94-BC03-B9F0F0BE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63440"/>
            <a:ext cx="4819650" cy="67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3" name="method-table-cell-3-2">
            <a:extLst xmlns:a="http://schemas.openxmlformats.org/drawingml/2006/main">
              <a:ext uri="{FF2B5EF4-FFF2-40B4-BE49-F238E27FC236}">
                <a16:creationId xmlns:a16="http://schemas.microsoft.com/office/drawing/2014/main" id="{2817C261-8CE8-47C2-9111-E0A70926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39640"/>
            <a:ext cx="4591050" cy="51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Raw user pointers; least trusted mapping</a:t>
            </a:r>
          </a:p>
        </p:txBody>
      </p:sp>
      <p:sp>
        <p:nvSpPr>
          <p:cNvPr id="34" name="method-common">
            <a:extLst xmlns:a="http://schemas.openxmlformats.org/drawingml/2006/main">
              <a:ext uri="{FF2B5EF4-FFF2-40B4-BE49-F238E27FC236}">
                <a16:creationId xmlns:a16="http://schemas.microsoft.com/office/drawing/2014/main" id="{42A129BF-D3D0-4F86-BBE3-CB814885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063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Every model also includes IoControlCode, InputBufferLength, and OutputBufferLength. Stage 4—not Stage 3—chooses final executable sizes.</a:t>
            </a:r>
          </a:p>
        </p:txBody>
      </p:sp>
    </p:spTree>
    <p:extLst>
      <p:ext uri="{BB962C8B-B14F-4D97-AF65-F5344CB8AC3E}">
        <p14:creationId xmlns:p14="http://schemas.microsoft.com/office/powerpoint/2010/main" val="11863973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2">
            <a:extLst xmlns:a="http://schemas.openxmlformats.org/drawingml/2006/main">
              <a:ext uri="{FF2B5EF4-FFF2-40B4-BE49-F238E27FC236}">
                <a16:creationId xmlns:a16="http://schemas.microsoft.com/office/drawing/2014/main" id="{9E7026AB-002B-4207-82A2-C99FE40B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3 — DATA FLOW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02A6CC0F-5F4F-49DD-BD64-CE5C2AED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873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Provenance records how request bytes become sink operands</a:t>
            </a:r>
          </a:p>
        </p:txBody>
      </p:sp>
      <p:sp>
        <p:nvSpPr>
          <p:cNvPr id="3" name="footer-12">
            <a:extLst xmlns:a="http://schemas.openxmlformats.org/drawingml/2006/main">
              <a:ext uri="{FF2B5EF4-FFF2-40B4-BE49-F238E27FC236}">
                <a16:creationId xmlns:a16="http://schemas.microsoft.com/office/drawing/2014/main" id="{1A5E5975-FE6C-4CC6-956F-BBC2EFC2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cxnSp>
        <p:nvCxnSpPr>
          <p:cNvPr id="30" name="provenance-flow-edge-1"/>
          <p:cNvCxnSpPr/>
          <p:nvPr/>
        </p:nvCxnSpPr>
        <p:spPr>
          <a:xfrm xmlns:a="http://schemas.openxmlformats.org/drawingml/2006/main">
            <a:off x="2526030" y="2590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1" name="provenance-flow-edge-2"/>
          <p:cNvCxnSpPr/>
          <p:nvPr/>
        </p:nvCxnSpPr>
        <p:spPr>
          <a:xfrm xmlns:a="http://schemas.openxmlformats.org/drawingml/2006/main">
            <a:off x="4842510" y="2590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2" name="provenance-flow-edge-3"/>
          <p:cNvCxnSpPr/>
          <p:nvPr/>
        </p:nvCxnSpPr>
        <p:spPr>
          <a:xfrm xmlns:a="http://schemas.openxmlformats.org/drawingml/2006/main">
            <a:off x="7158990" y="2590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33" name="provenance-flow-edge-4"/>
          <p:cNvCxnSpPr/>
          <p:nvPr/>
        </p:nvCxnSpPr>
        <p:spPr>
          <a:xfrm xmlns:a="http://schemas.openxmlformats.org/drawingml/2006/main">
            <a:off x="9475470" y="25908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provenance-flow-node-1">
            <a:extLst xmlns:a="http://schemas.openxmlformats.org/drawingml/2006/main">
              <a:ext uri="{FF2B5EF4-FFF2-40B4-BE49-F238E27FC236}">
                <a16:creationId xmlns:a16="http://schemas.microsoft.com/office/drawing/2014/main" id="{AABAA827-F3CB-4E95-9522-60D5FAC4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venance-flow-node-num-1">
            <a:extLst xmlns:a="http://schemas.openxmlformats.org/drawingml/2006/main">
              <a:ext uri="{FF2B5EF4-FFF2-40B4-BE49-F238E27FC236}">
                <a16:creationId xmlns:a16="http://schemas.microsoft.com/office/drawing/2014/main" id="{427CD466-40A1-4588-AB02-7F54CE72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0" name="provenance-flow-node-title-1">
            <a:extLst xmlns:a="http://schemas.openxmlformats.org/drawingml/2006/main">
              <a:ext uri="{FF2B5EF4-FFF2-40B4-BE49-F238E27FC236}">
                <a16:creationId xmlns:a16="http://schemas.microsoft.com/office/drawing/2014/main" id="{0FB47CE0-2B8F-4151-B6A5-3ED6A6B5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1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SystemBuffer + 8</a:t>
            </a:r>
          </a:p>
        </p:txBody>
      </p:sp>
      <p:sp>
        <p:nvSpPr>
          <p:cNvPr id="11" name="provenance-flow-node-2">
            <a:extLst xmlns:a="http://schemas.openxmlformats.org/drawingml/2006/main">
              <a:ext uri="{FF2B5EF4-FFF2-40B4-BE49-F238E27FC236}">
                <a16:creationId xmlns:a16="http://schemas.microsoft.com/office/drawing/2014/main" id="{F32475D3-42AF-43E6-9239-F70DEBBC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" y="196215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venance-flow-node-num-2">
            <a:extLst xmlns:a="http://schemas.openxmlformats.org/drawingml/2006/main">
              <a:ext uri="{FF2B5EF4-FFF2-40B4-BE49-F238E27FC236}">
                <a16:creationId xmlns:a16="http://schemas.microsoft.com/office/drawing/2014/main" id="{D045A7A7-25F2-4015-B01F-41D65A0F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3360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13" name="provenance-flow-node-title-2">
            <a:extLst xmlns:a="http://schemas.openxmlformats.org/drawingml/2006/main">
              <a:ext uri="{FF2B5EF4-FFF2-40B4-BE49-F238E27FC236}">
                <a16:creationId xmlns:a16="http://schemas.microsoft.com/office/drawing/2014/main" id="{BF2C12C8-BF5E-43FD-945B-04258168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4384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load32(...)</a:t>
            </a:r>
          </a:p>
        </p:txBody>
      </p:sp>
      <p:sp>
        <p:nvSpPr>
          <p:cNvPr id="14" name="provenance-flow-node-3">
            <a:extLst xmlns:a="http://schemas.openxmlformats.org/drawingml/2006/main">
              <a:ext uri="{FF2B5EF4-FFF2-40B4-BE49-F238E27FC236}">
                <a16:creationId xmlns:a16="http://schemas.microsoft.com/office/drawing/2014/main" id="{BDDF4A1E-8804-4FD9-B5E3-0C02905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3010" y="196215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venance-flow-node-num-3">
            <a:extLst xmlns:a="http://schemas.openxmlformats.org/drawingml/2006/main">
              <a:ext uri="{FF2B5EF4-FFF2-40B4-BE49-F238E27FC236}">
                <a16:creationId xmlns:a16="http://schemas.microsoft.com/office/drawing/2014/main" id="{087DA243-2E1A-4D9C-9D4C-C84376D6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13360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6" name="provenance-flow-node-title-3">
            <a:extLst xmlns:a="http://schemas.openxmlformats.org/drawingml/2006/main">
              <a:ext uri="{FF2B5EF4-FFF2-40B4-BE49-F238E27FC236}">
                <a16:creationId xmlns:a16="http://schemas.microsoft.com/office/drawing/2014/main" id="{B74764E8-11DD-48C6-81E7-0F55280B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4384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zero-extend + mask</a:t>
            </a:r>
          </a:p>
        </p:txBody>
      </p:sp>
      <p:sp>
        <p:nvSpPr>
          <p:cNvPr id="17" name="provenance-flow-node-4">
            <a:extLst xmlns:a="http://schemas.openxmlformats.org/drawingml/2006/main">
              <a:ext uri="{FF2B5EF4-FFF2-40B4-BE49-F238E27FC236}">
                <a16:creationId xmlns:a16="http://schemas.microsoft.com/office/drawing/2014/main" id="{03D4E828-EC52-471D-806D-FBA215D2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96215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venance-flow-node-num-4">
            <a:extLst xmlns:a="http://schemas.openxmlformats.org/drawingml/2006/main">
              <a:ext uri="{FF2B5EF4-FFF2-40B4-BE49-F238E27FC236}">
                <a16:creationId xmlns:a16="http://schemas.microsoft.com/office/drawing/2014/main" id="{508F48FD-BD21-477C-B414-636E9AA2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13360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19" name="provenance-flow-node-title-4">
            <a:extLst xmlns:a="http://schemas.openxmlformats.org/drawingml/2006/main">
              <a:ext uri="{FF2B5EF4-FFF2-40B4-BE49-F238E27FC236}">
                <a16:creationId xmlns:a16="http://schemas.microsoft.com/office/drawing/2014/main" id="{7DA71ECD-FFE2-4527-BF27-00408E8F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0940" y="24384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phi / alias state</a:t>
            </a:r>
          </a:p>
        </p:txBody>
      </p:sp>
      <p:sp>
        <p:nvSpPr>
          <p:cNvPr id="20" name="provenance-flow-node-5">
            <a:extLst xmlns:a="http://schemas.openxmlformats.org/drawingml/2006/main">
              <a:ext uri="{FF2B5EF4-FFF2-40B4-BE49-F238E27FC236}">
                <a16:creationId xmlns:a16="http://schemas.microsoft.com/office/drawing/2014/main" id="{428F7960-3664-42DF-8AFB-BB8B5538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1962150"/>
            <a:ext cx="212598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ovenance-flow-node-num-5">
            <a:extLst xmlns:a="http://schemas.openxmlformats.org/drawingml/2006/main">
              <a:ext uri="{FF2B5EF4-FFF2-40B4-BE49-F238E27FC236}">
                <a16:creationId xmlns:a16="http://schemas.microsoft.com/office/drawing/2014/main" id="{0E7103B3-9E50-48F4-8CF1-584B7B73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133600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SINK ARG</a:t>
            </a:r>
          </a:p>
        </p:txBody>
      </p:sp>
      <p:sp>
        <p:nvSpPr>
          <p:cNvPr id="22" name="provenance-flow-node-title-5">
            <a:extLst xmlns:a="http://schemas.openxmlformats.org/drawingml/2006/main">
              <a:ext uri="{FF2B5EF4-FFF2-40B4-BE49-F238E27FC236}">
                <a16:creationId xmlns:a16="http://schemas.microsoft.com/office/drawing/2014/main" id="{5F6A0DF0-6EC1-438F-AFB2-CB2AB16B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20" y="2438400"/>
            <a:ext cx="178308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MmMapIoSpace arg0</a:t>
            </a:r>
          </a:p>
        </p:txBody>
      </p:sp>
      <p:sp>
        <p:nvSpPr>
          <p:cNvPr id="23" name="taint-v-exact-left-title">
            <a:extLst xmlns:a="http://schemas.openxmlformats.org/drawingml/2006/main">
              <a:ext uri="{FF2B5EF4-FFF2-40B4-BE49-F238E27FC236}">
                <a16:creationId xmlns:a16="http://schemas.microsoft.com/office/drawing/2014/main" id="{B9CEA65E-122A-43EC-B538-D792D67E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Tainted</a:t>
            </a:r>
          </a:p>
        </p:txBody>
      </p:sp>
      <p:sp>
        <p:nvSpPr>
          <p:cNvPr id="24" name="taint-v-exact-left-body">
            <a:extLst xmlns:a="http://schemas.openxmlformats.org/drawingml/2006/main">
              <a:ext uri="{FF2B5EF4-FFF2-40B4-BE49-F238E27FC236}">
                <a16:creationId xmlns:a16="http://schemas.microsoft.com/office/drawing/2014/main" id="{3C29D6C3-3A01-46BF-BA61-16769F7A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552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request-derived value contributes to the expression. This can survive arithmetic, loads, aliases, spills, and limited local calls.</a:t>
            </a:r>
          </a:p>
        </p:txBody>
      </p:sp>
      <p:sp>
        <p:nvSpPr>
          <p:cNvPr id="25" name="taint-v-exact-right-title">
            <a:extLst xmlns:a="http://schemas.openxmlformats.org/drawingml/2006/main">
              <a:ext uri="{FF2B5EF4-FFF2-40B4-BE49-F238E27FC236}">
                <a16:creationId xmlns:a16="http://schemas.microsoft.com/office/drawing/2014/main" id="{18C262F6-87A9-4751-87CE-FD5AC558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Exact request binding</a:t>
            </a:r>
          </a:p>
        </p:txBody>
      </p:sp>
      <p:sp>
        <p:nvSpPr>
          <p:cNvPr id="26" name="taint-v-exact-right-body">
            <a:extLst xmlns:a="http://schemas.openxmlformats.org/drawingml/2006/main">
              <a:ext uri="{FF2B5EF4-FFF2-40B4-BE49-F238E27FC236}">
                <a16:creationId xmlns:a16="http://schemas.microsoft.com/office/drawing/2014/main" id="{4C2415D5-4D37-41E6-BAB3-86134EF0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95800"/>
            <a:ext cx="552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engine recognizes the source and supported transforms without precision loss. Phi merges, unsupported operations, and unresolved aliases reduce exactness.</a:t>
            </a:r>
          </a:p>
        </p:txBody>
      </p:sp>
    </p:spTree>
    <p:extLst>
      <p:ext uri="{BB962C8B-B14F-4D97-AF65-F5344CB8AC3E}">
        <p14:creationId xmlns:p14="http://schemas.microsoft.com/office/powerpoint/2010/main" val="18266455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3">
            <a:extLst xmlns:a="http://schemas.openxmlformats.org/drawingml/2006/main">
              <a:ext uri="{FF2B5EF4-FFF2-40B4-BE49-F238E27FC236}">
                <a16:creationId xmlns:a16="http://schemas.microsoft.com/office/drawing/2014/main" id="{DCF613FD-89D9-4A69-88FA-7879D78C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3 — SEMANTIC GATE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C5C558DA-872C-45E5-A3D8-800827D4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Sink contracts define which operands actually matter</a:t>
            </a:r>
          </a:p>
        </p:txBody>
      </p:sp>
      <p:sp>
        <p:nvSpPr>
          <p:cNvPr id="3" name="footer-13">
            <a:extLst xmlns:a="http://schemas.openxmlformats.org/drawingml/2006/main">
              <a:ext uri="{FF2B5EF4-FFF2-40B4-BE49-F238E27FC236}">
                <a16:creationId xmlns:a16="http://schemas.microsoft.com/office/drawing/2014/main" id="{22A2EF8C-5C2B-4991-8BE4-4DCA8171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sink-contracts-panel-1">
            <a:extLst xmlns:a="http://schemas.openxmlformats.org/drawingml/2006/main">
              <a:ext uri="{FF2B5EF4-FFF2-40B4-BE49-F238E27FC236}">
                <a16:creationId xmlns:a16="http://schemas.microsoft.com/office/drawing/2014/main" id="{49917A87-96F1-42E2-8DFB-FA4B55E3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5687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nk-contracts-heading-1">
            <a:extLst xmlns:a="http://schemas.openxmlformats.org/drawingml/2006/main">
              <a:ext uri="{FF2B5EF4-FFF2-40B4-BE49-F238E27FC236}">
                <a16:creationId xmlns:a16="http://schemas.microsoft.com/office/drawing/2014/main" id="{82C15089-E2F9-4475-89AB-C2998063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Discover a sink</a:t>
            </a:r>
          </a:p>
        </p:txBody>
      </p:sp>
      <p:sp>
        <p:nvSpPr>
          <p:cNvPr id="6" name="sink-contracts-body-1">
            <a:extLst xmlns:a="http://schemas.openxmlformats.org/drawingml/2006/main">
              <a:ext uri="{FF2B5EF4-FFF2-40B4-BE49-F238E27FC236}">
                <a16:creationId xmlns:a16="http://schemas.microsoft.com/office/drawing/2014/main" id="{F1FFE3E1-E27B-4F02-8113-DCE877E1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30734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Imports and native instructions map to broad families: physical memory, copy, process, registry/file, MSR, port I/O, control registers, and more.</a:t>
            </a:r>
          </a:p>
        </p:txBody>
      </p:sp>
      <p:sp>
        <p:nvSpPr>
          <p:cNvPr id="7" name="sink-contracts-panel-2">
            <a:extLst xmlns:a="http://schemas.openxmlformats.org/drawingml/2006/main">
              <a:ext uri="{FF2B5EF4-FFF2-40B4-BE49-F238E27FC236}">
                <a16:creationId xmlns:a16="http://schemas.microsoft.com/office/drawing/2014/main" id="{28CAF944-A853-474D-BC23-71645D29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43150"/>
            <a:ext cx="35687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ink-contracts-heading-2">
            <a:extLst xmlns:a="http://schemas.openxmlformats.org/drawingml/2006/main">
              <a:ext uri="{FF2B5EF4-FFF2-40B4-BE49-F238E27FC236}">
                <a16:creationId xmlns:a16="http://schemas.microsoft.com/office/drawing/2014/main" id="{04109918-1340-490F-A178-502588B9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57175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Refine the operation</a:t>
            </a:r>
          </a:p>
        </p:txBody>
      </p:sp>
      <p:sp>
        <p:nvSpPr>
          <p:cNvPr id="9" name="sink-contracts-body-2">
            <a:extLst xmlns:a="http://schemas.openxmlformats.org/drawingml/2006/main">
              <a:ext uri="{FF2B5EF4-FFF2-40B4-BE49-F238E27FC236}">
                <a16:creationId xmlns:a16="http://schemas.microsoft.com/office/drawing/2014/main" id="{6020EB81-D39D-44E7-BB08-344F7690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181350"/>
            <a:ext cx="30734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classifier assigns a specific sink_kind, such as physical_memory_mapping, msr_write, process_termination, or copy_memory.</a:t>
            </a:r>
          </a:p>
        </p:txBody>
      </p:sp>
      <p:sp>
        <p:nvSpPr>
          <p:cNvPr id="10" name="sink-contracts-panel-3">
            <a:extLst xmlns:a="http://schemas.openxmlformats.org/drawingml/2006/main">
              <a:ext uri="{FF2B5EF4-FFF2-40B4-BE49-F238E27FC236}">
                <a16:creationId xmlns:a16="http://schemas.microsoft.com/office/drawing/2014/main" id="{16E7D681-17FC-447E-9EAA-86BD102E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343150"/>
            <a:ext cx="35687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ink-contracts-heading-3">
            <a:extLst xmlns:a="http://schemas.openxmlformats.org/drawingml/2006/main">
              <a:ext uri="{FF2B5EF4-FFF2-40B4-BE49-F238E27FC236}">
                <a16:creationId xmlns:a16="http://schemas.microsoft.com/office/drawing/2014/main" id="{956D5EB2-DA44-4732-8D98-BFE9523E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257175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Apply the contract</a:t>
            </a:r>
          </a:p>
        </p:txBody>
      </p:sp>
      <p:sp>
        <p:nvSpPr>
          <p:cNvPr id="12" name="sink-contracts-body-3">
            <a:extLst xmlns:a="http://schemas.openxmlformats.org/drawingml/2006/main">
              <a:ext uri="{FF2B5EF4-FFF2-40B4-BE49-F238E27FC236}">
                <a16:creationId xmlns:a16="http://schemas.microsoft.com/office/drawing/2014/main" id="{05A3DDAC-FD14-4CE8-8053-1D54CE3C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3181350"/>
            <a:ext cx="30734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shared registry supplies required_arg_mask, semantic completeness, weak-family status, runtime oracle, backend, and guided/fallback permissions.</a:t>
            </a:r>
          </a:p>
        </p:txBody>
      </p:sp>
      <p:sp>
        <p:nvSpPr>
          <p:cNvPr id="13" name="contract-examples-bg">
            <a:extLst xmlns:a="http://schemas.openxmlformats.org/drawingml/2006/main">
              <a:ext uri="{FF2B5EF4-FFF2-40B4-BE49-F238E27FC236}">
                <a16:creationId xmlns:a16="http://schemas.microsoft.com/office/drawing/2014/main" id="{9FAD77D7-B946-4A43-842A-A7588516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29300"/>
            <a:ext cx="9372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tract-examples-text">
            <a:extLst xmlns:a="http://schemas.openxmlformats.org/drawingml/2006/main">
              <a:ext uri="{FF2B5EF4-FFF2-40B4-BE49-F238E27FC236}">
                <a16:creationId xmlns:a16="http://schemas.microsoft.com/office/drawing/2014/main" id="{82277E6C-3830-4627-B5B0-AD0CA041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24550"/>
            <a:ext cx="891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CE7F5"/>
                </a:solidFill>
                <a:latin typeface="Arial"/>
                <a:ea typeface="Arial"/>
                <a:cs typeface="Arial"/>
              </a:rPr>
              <a:t>Examples:  physical mapping requires arg0 (mask 0x01)   |   WRMSR requires ECX + EAX + EDX (mask 0x07)</a:t>
            </a:r>
          </a:p>
        </p:txBody>
      </p:sp>
    </p:spTree>
    <p:extLst>
      <p:ext uri="{BB962C8B-B14F-4D97-AF65-F5344CB8AC3E}">
        <p14:creationId xmlns:p14="http://schemas.microsoft.com/office/powerpoint/2010/main" val="17672070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4">
            <a:extLst xmlns:a="http://schemas.openxmlformats.org/drawingml/2006/main">
              <a:ext uri="{FF2B5EF4-FFF2-40B4-BE49-F238E27FC236}">
                <a16:creationId xmlns:a16="http://schemas.microsoft.com/office/drawing/2014/main" id="{29D3DEA7-1A83-4E9B-8347-9B55DD55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3 — CANDIDATE FUNNEL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13FB4ABF-89EC-475A-A3AA-0975C6E3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Production admission keeps broad inventory out of Stage 4</a:t>
            </a:r>
          </a:p>
        </p:txBody>
      </p:sp>
      <p:sp>
        <p:nvSpPr>
          <p:cNvPr id="3" name="footer-14">
            <a:extLst xmlns:a="http://schemas.openxmlformats.org/drawingml/2006/main">
              <a:ext uri="{FF2B5EF4-FFF2-40B4-BE49-F238E27FC236}">
                <a16:creationId xmlns:a16="http://schemas.microsoft.com/office/drawing/2014/main" id="{95638BB3-2920-46A5-B144-894FE224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admission-intro">
            <a:extLst xmlns:a="http://schemas.openxmlformats.org/drawingml/2006/main">
              <a:ext uri="{FF2B5EF4-FFF2-40B4-BE49-F238E27FC236}">
                <a16:creationId xmlns:a16="http://schemas.microsoft.com/office/drawing/2014/main" id="{074F520B-7F20-4086-8C7A-B5CD0E9B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production flow must have a concrete case, a modeled non-weak sink contract, a nonzero required mask, and at least one request-rooted required operand.</a:t>
            </a:r>
          </a:p>
        </p:txBody>
      </p:sp>
      <p:sp>
        <p:nvSpPr>
          <p:cNvPr id="5" name="admission-item-1-panel">
            <a:extLst xmlns:a="http://schemas.openxmlformats.org/drawingml/2006/main">
              <a:ext uri="{FF2B5EF4-FFF2-40B4-BE49-F238E27FC236}">
                <a16:creationId xmlns:a16="http://schemas.microsoft.com/office/drawing/2014/main" id="{EBB3D586-89D0-4AD2-866B-E816E7AF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dmission-item-1-heading">
            <a:extLst xmlns:a="http://schemas.openxmlformats.org/drawingml/2006/main">
              <a:ext uri="{FF2B5EF4-FFF2-40B4-BE49-F238E27FC236}">
                <a16:creationId xmlns:a16="http://schemas.microsoft.com/office/drawing/2014/main" id="{89657F60-A7B1-4622-9BFE-61294444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Exact exclusive path</a:t>
            </a:r>
          </a:p>
        </p:txBody>
      </p:sp>
      <p:sp>
        <p:nvSpPr>
          <p:cNvPr id="7" name="admission-item-1-body">
            <a:extLst xmlns:a="http://schemas.openxmlformats.org/drawingml/2006/main">
              <a:ext uri="{FF2B5EF4-FFF2-40B4-BE49-F238E27FC236}">
                <a16:creationId xmlns:a16="http://schemas.microsoft.com/office/drawing/2014/main" id="{59E2CE04-A48E-48F7-AD05-1ECFC06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selected case reaches the sink and no sibling case does. Best attribution.</a:t>
            </a:r>
          </a:p>
        </p:txBody>
      </p:sp>
      <p:sp>
        <p:nvSpPr>
          <p:cNvPr id="8" name="admission-item-2-panel">
            <a:extLst xmlns:a="http://schemas.openxmlformats.org/drawingml/2006/main">
              <a:ext uri="{FF2B5EF4-FFF2-40B4-BE49-F238E27FC236}">
                <a16:creationId xmlns:a16="http://schemas.microsoft.com/office/drawing/2014/main" id="{2E64FA4D-340D-44D2-B45B-B48D923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288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E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dmission-item-2-heading">
            <a:extLst xmlns:a="http://schemas.openxmlformats.org/drawingml/2006/main">
              <a:ext uri="{FF2B5EF4-FFF2-40B4-BE49-F238E27FC236}">
                <a16:creationId xmlns:a16="http://schemas.microsoft.com/office/drawing/2014/main" id="{313EFB68-E398-4877-AE4C-0001EB03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574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Shared tail</a:t>
            </a:r>
          </a:p>
        </p:txBody>
      </p:sp>
      <p:sp>
        <p:nvSpPr>
          <p:cNvPr id="10" name="admission-item-2-body">
            <a:extLst xmlns:a="http://schemas.openxmlformats.org/drawingml/2006/main">
              <a:ext uri="{FF2B5EF4-FFF2-40B4-BE49-F238E27FC236}">
                <a16:creationId xmlns:a16="http://schemas.microsoft.com/office/drawing/2014/main" id="{2838A69C-4B9F-4C66-A334-CBAD06E8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527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Several sibling cases can reach one sink. All required operands must be rooted before admission.</a:t>
            </a:r>
          </a:p>
        </p:txBody>
      </p:sp>
      <p:sp>
        <p:nvSpPr>
          <p:cNvPr id="11" name="admission-item-3-panel">
            <a:extLst xmlns:a="http://schemas.openxmlformats.org/drawingml/2006/main">
              <a:ext uri="{FF2B5EF4-FFF2-40B4-BE49-F238E27FC236}">
                <a16:creationId xmlns:a16="http://schemas.microsoft.com/office/drawing/2014/main" id="{A5BF2468-3FF2-4543-A9B6-1CD2377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dmission-item-3-heading">
            <a:extLst xmlns:a="http://schemas.openxmlformats.org/drawingml/2006/main">
              <a:ext uri="{FF2B5EF4-FFF2-40B4-BE49-F238E27FC236}">
                <a16:creationId xmlns:a16="http://schemas.microsoft.com/office/drawing/2014/main" id="{98C00B6B-5027-40B3-AEEC-7E8DFE6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Inventory only</a:t>
            </a:r>
          </a:p>
        </p:txBody>
      </p:sp>
      <p:sp>
        <p:nvSpPr>
          <p:cNvPr id="13" name="admission-item-3-body">
            <a:extLst xmlns:a="http://schemas.openxmlformats.org/drawingml/2006/main">
              <a:ext uri="{FF2B5EF4-FFF2-40B4-BE49-F238E27FC236}">
                <a16:creationId xmlns:a16="http://schemas.microsoft.com/office/drawing/2014/main" id="{FB5E051B-73A3-4B98-ACD2-F1804645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Modeled/unmodeled or unrooted callsites remain available for audit but do not enter Stage 4.</a:t>
            </a:r>
          </a:p>
        </p:txBody>
      </p:sp>
      <p:sp>
        <p:nvSpPr>
          <p:cNvPr id="14" name="admission-item-4-panel">
            <a:extLst xmlns:a="http://schemas.openxmlformats.org/drawingml/2006/main">
              <a:ext uri="{FF2B5EF4-FFF2-40B4-BE49-F238E27FC236}">
                <a16:creationId xmlns:a16="http://schemas.microsoft.com/office/drawing/2014/main" id="{EDE564E7-60E2-4B0C-9055-BD02EAEB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100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dmission-item-4-heading">
            <a:extLst xmlns:a="http://schemas.openxmlformats.org/drawingml/2006/main">
              <a:ext uri="{FF2B5EF4-FFF2-40B4-BE49-F238E27FC236}">
                <a16:creationId xmlns:a16="http://schemas.microsoft.com/office/drawing/2014/main" id="{56D8F714-922F-499B-8C99-A336F182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386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No provisional promotion</a:t>
            </a:r>
          </a:p>
        </p:txBody>
      </p:sp>
      <p:sp>
        <p:nvSpPr>
          <p:cNvPr id="16" name="admission-item-4-body">
            <a:extLst xmlns:a="http://schemas.openxmlformats.org/drawingml/2006/main">
              <a:ext uri="{FF2B5EF4-FFF2-40B4-BE49-F238E27FC236}">
                <a16:creationId xmlns:a16="http://schemas.microsoft.com/office/drawing/2014/main" id="{F0708A01-8C2B-4C06-ABBE-7ECFF32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339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Driver-wide API/opcode fingerprints stay triage metadata. The provisional append path is intentionally a no-op.</a:t>
            </a:r>
          </a:p>
        </p:txBody>
      </p:sp>
    </p:spTree>
    <p:extLst>
      <p:ext uri="{BB962C8B-B14F-4D97-AF65-F5344CB8AC3E}">
        <p14:creationId xmlns:p14="http://schemas.microsoft.com/office/powerpoint/2010/main" val="20622525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5">
            <a:extLst xmlns:a="http://schemas.openxmlformats.org/drawingml/2006/main">
              <a:ext uri="{FF2B5EF4-FFF2-40B4-BE49-F238E27FC236}">
                <a16:creationId xmlns:a16="http://schemas.microsoft.com/office/drawing/2014/main" id="{2B5B202D-586B-4BC8-BACB-4DD3A904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3 — WORKED EXAMPLE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59EF4847-1A60-402D-A0F9-02AF2023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 buffered IOCTL controls a physical mapping address</a:t>
            </a:r>
          </a:p>
        </p:txBody>
      </p:sp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2E5F5346-C9C8-4032-9484-33E3DF85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phys-code-bg">
            <a:extLst xmlns:a="http://schemas.openxmlformats.org/drawingml/2006/main">
              <a:ext uri="{FF2B5EF4-FFF2-40B4-BE49-F238E27FC236}">
                <a16:creationId xmlns:a16="http://schemas.microsoft.com/office/drawing/2014/main" id="{A86D7B4F-0E01-4D85-9A09-81C6ED3A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5238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hys-code-text">
            <a:extLst xmlns:a="http://schemas.openxmlformats.org/drawingml/2006/main">
              <a:ext uri="{FF2B5EF4-FFF2-40B4-BE49-F238E27FC236}">
                <a16:creationId xmlns:a16="http://schemas.microsoft.com/office/drawing/2014/main" id="{1EACCC67-7404-4979-B49B-401125AA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7815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CE7F5"/>
                </a:solidFill>
                <a:latin typeface="Arial"/>
                <a:ea typeface="Arial"/>
                <a:cs typeface="Arial"/>
              </a:rPr>
              <a:t>address = load64(SystemBuffer + 0)</a:t>
            </a:r>
          </a:p>
          <a:p xmlns:a="http://schemas.openxmlformats.org/drawingml/2006/main">
            <a:pPr algn="l">
              <a:defRPr sz="1725" b="0" i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CE7F5"/>
                </a:solidFill>
                <a:latin typeface="Arial"/>
                <a:ea typeface="Arial"/>
                <a:cs typeface="Arial"/>
              </a:rPr>
              <a:t>size    = zext32(load32(SystemBuffer + 8))</a:t>
            </a:r>
          </a:p>
          <a:p xmlns:a="http://schemas.openxmlformats.org/drawingml/2006/main">
            <a:pPr algn="l">
              <a:defRPr sz="1725" b="0" i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CE7F5"/>
                </a:solidFill>
                <a:latin typeface="Arial"/>
                <a:ea typeface="Arial"/>
                <a:cs typeface="Arial"/>
              </a:rPr>
              <a:t>MmMapIoSpace(address, size, MmNonCached)</a:t>
            </a:r>
          </a:p>
        </p:txBody>
      </p:sp>
      <p:sp>
        <p:nvSpPr>
          <p:cNvPr id="6" name="phys-example-panel-1">
            <a:extLst xmlns:a="http://schemas.openxmlformats.org/drawingml/2006/main">
              <a:ext uri="{FF2B5EF4-FFF2-40B4-BE49-F238E27FC236}">
                <a16:creationId xmlns:a16="http://schemas.microsoft.com/office/drawing/2014/main" id="{F6910F0E-153A-4627-BF90-59E169E5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3568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hys-example-heading-1">
            <a:extLst xmlns:a="http://schemas.openxmlformats.org/drawingml/2006/main">
              <a:ext uri="{FF2B5EF4-FFF2-40B4-BE49-F238E27FC236}">
                <a16:creationId xmlns:a16="http://schemas.microsoft.com/office/drawing/2014/main" id="{2B3C2221-F20B-4E88-ABAA-55525993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Request model</a:t>
            </a:r>
          </a:p>
        </p:txBody>
      </p:sp>
      <p:sp>
        <p:nvSpPr>
          <p:cNvPr id="8" name="phys-example-body-1">
            <a:extLst xmlns:a="http://schemas.openxmlformats.org/drawingml/2006/main">
              <a:ext uri="{FF2B5EF4-FFF2-40B4-BE49-F238E27FC236}">
                <a16:creationId xmlns:a16="http://schemas.microsoft.com/office/drawing/2014/main" id="{76B75DA9-3531-46F0-9003-68A088A9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307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IOCTL 0x222004</a:t>
            </a:r>
          </a:p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METHOD_BUFFERED</a:t>
            </a:r>
          </a:p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exact case entry</a:t>
            </a:r>
          </a:p>
        </p:txBody>
      </p:sp>
      <p:sp>
        <p:nvSpPr>
          <p:cNvPr id="9" name="phys-example-panel-2">
            <a:extLst xmlns:a="http://schemas.openxmlformats.org/drawingml/2006/main">
              <a:ext uri="{FF2B5EF4-FFF2-40B4-BE49-F238E27FC236}">
                <a16:creationId xmlns:a16="http://schemas.microsoft.com/office/drawing/2014/main" id="{43CAE6B1-AF89-4A7F-A2F0-E20596D3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286250"/>
            <a:ext cx="3568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hys-example-heading-2">
            <a:extLst xmlns:a="http://schemas.openxmlformats.org/drawingml/2006/main">
              <a:ext uri="{FF2B5EF4-FFF2-40B4-BE49-F238E27FC236}">
                <a16:creationId xmlns:a16="http://schemas.microsoft.com/office/drawing/2014/main" id="{AB771636-CB7A-479E-BFD9-98FA353B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451485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sp>
        <p:nvSpPr>
          <p:cNvPr id="11" name="phys-example-body-2">
            <a:extLst xmlns:a="http://schemas.openxmlformats.org/drawingml/2006/main">
              <a:ext uri="{FF2B5EF4-FFF2-40B4-BE49-F238E27FC236}">
                <a16:creationId xmlns:a16="http://schemas.microsoft.com/office/drawing/2014/main" id="{81617AD7-D28C-441F-AF60-A680286E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5124450"/>
            <a:ext cx="307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arg0 = request load</a:t>
            </a:r>
          </a:p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arg1 = request load</a:t>
            </a:r>
          </a:p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arg2 = constant</a:t>
            </a:r>
          </a:p>
        </p:txBody>
      </p:sp>
      <p:sp>
        <p:nvSpPr>
          <p:cNvPr id="12" name="phys-example-panel-3">
            <a:extLst xmlns:a="http://schemas.openxmlformats.org/drawingml/2006/main">
              <a:ext uri="{FF2B5EF4-FFF2-40B4-BE49-F238E27FC236}">
                <a16:creationId xmlns:a16="http://schemas.microsoft.com/office/drawing/2014/main" id="{32F67CF5-804D-40E1-9063-9366EB3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4286250"/>
            <a:ext cx="3568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hys-example-heading-3">
            <a:extLst xmlns:a="http://schemas.openxmlformats.org/drawingml/2006/main">
              <a:ext uri="{FF2B5EF4-FFF2-40B4-BE49-F238E27FC236}">
                <a16:creationId xmlns:a16="http://schemas.microsoft.com/office/drawing/2014/main" id="{8E8C457F-8B11-46B3-B27F-33E295B6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451485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Contract result</a:t>
            </a:r>
          </a:p>
        </p:txBody>
      </p:sp>
      <p:sp>
        <p:nvSpPr>
          <p:cNvPr id="14" name="phys-example-body-3">
            <a:extLst xmlns:a="http://schemas.openxmlformats.org/drawingml/2006/main">
              <a:ext uri="{FF2B5EF4-FFF2-40B4-BE49-F238E27FC236}">
                <a16:creationId xmlns:a16="http://schemas.microsoft.com/office/drawing/2014/main" id="{383B2500-3316-4CF5-820F-E4F3517D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5124450"/>
            <a:ext cx="307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51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required mask = 0x01</a:t>
            </a:r>
          </a:p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address binding exact</a:t>
            </a:r>
          </a:p>
          <a:p xmlns:a="http://schemas.openxmlformats.org/drawingml/2006/main">
            <a:pPr algn="l">
              <a:defRPr sz="13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complete exact candidate</a:t>
            </a:r>
          </a:p>
        </p:txBody>
      </p:sp>
      <p:sp>
        <p:nvSpPr>
          <p:cNvPr id="15" name="phys-explanation">
            <a:extLst xmlns:a="http://schemas.openxmlformats.org/drawingml/2006/main">
              <a:ext uri="{FF2B5EF4-FFF2-40B4-BE49-F238E27FC236}">
                <a16:creationId xmlns:a16="http://schemas.microsoft.com/office/drawing/2014/main" id="{3EE7EAAB-BF64-492D-88A4-8E982991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The candidate says the request appears to control the mapping address. It does not yet say the request is satisfiable or the mapping occurs at runtime.</a:t>
            </a:r>
          </a:p>
        </p:txBody>
      </p:sp>
    </p:spTree>
    <p:extLst>
      <p:ext uri="{BB962C8B-B14F-4D97-AF65-F5344CB8AC3E}">
        <p14:creationId xmlns:p14="http://schemas.microsoft.com/office/powerpoint/2010/main" val="7017644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6">
            <a:extLst xmlns:a="http://schemas.openxmlformats.org/drawingml/2006/main">
              <a:ext uri="{FF2B5EF4-FFF2-40B4-BE49-F238E27FC236}">
                <a16:creationId xmlns:a16="http://schemas.microsoft.com/office/drawing/2014/main" id="{B318AA31-D3D0-4C12-B6E7-6F2CA8EE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4 — VERIFICATION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5457F225-57A9-42FD-A89F-C29DB8D3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Stage 4 turns flow claims into executable recipes</a:t>
            </a:r>
          </a:p>
        </p:txBody>
      </p:sp>
      <p:sp>
        <p:nvSpPr>
          <p:cNvPr id="3" name="footer-16">
            <a:extLst xmlns:a="http://schemas.openxmlformats.org/drawingml/2006/main">
              <a:ext uri="{FF2B5EF4-FFF2-40B4-BE49-F238E27FC236}">
                <a16:creationId xmlns:a16="http://schemas.microsoft.com/office/drawing/2014/main" id="{D58764F0-1479-44F1-9A38-065EB918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proof-compare-left-title">
            <a:extLst xmlns:a="http://schemas.openxmlformats.org/drawingml/2006/main">
              <a:ext uri="{FF2B5EF4-FFF2-40B4-BE49-F238E27FC236}">
                <a16:creationId xmlns:a16="http://schemas.microsoft.com/office/drawing/2014/main" id="{87C12147-A6AA-43D9-95AD-F1DD4F89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Local structured proof</a:t>
            </a:r>
          </a:p>
        </p:txBody>
      </p:sp>
      <p:sp>
        <p:nvSpPr>
          <p:cNvPr id="5" name="proof-compare-left-body">
            <a:extLst xmlns:a="http://schemas.openxmlformats.org/drawingml/2006/main">
              <a:ext uri="{FF2B5EF4-FFF2-40B4-BE49-F238E27FC236}">
                <a16:creationId xmlns:a16="http://schemas.microsoft.com/office/drawing/2014/main" id="{31BE9CEF-5BD9-42A2-A84E-F9F592E5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524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 symbolic consistency check over the recovered request-to-sink expression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Builds request objects</a:t>
            </a:r>
          </a:p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Reconstructs provenance</a:t>
            </a:r>
          </a:p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Selects witness values</a:t>
            </a:r>
          </a:p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Distinguishes rooted vs proven</a:t>
            </a:r>
          </a:p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Checks SAT</a:t>
            </a:r>
          </a:p>
        </p:txBody>
      </p:sp>
      <p:sp>
        <p:nvSpPr>
          <p:cNvPr id="6" name="proof-compare-right-title">
            <a:extLst xmlns:a="http://schemas.openxmlformats.org/drawingml/2006/main">
              <a:ext uri="{FF2B5EF4-FFF2-40B4-BE49-F238E27FC236}">
                <a16:creationId xmlns:a16="http://schemas.microsoft.com/office/drawing/2014/main" id="{B78BEF4F-E5CE-4C88-84E6-FE9F0124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Bounded CFG fallback</a:t>
            </a:r>
          </a:p>
        </p:txBody>
      </p:sp>
      <p:sp>
        <p:nvSpPr>
          <p:cNvPr id="7" name="proof-compare-right-body">
            <a:extLst xmlns:a="http://schemas.openxmlformats.org/drawingml/2006/main">
              <a:ext uri="{FF2B5EF4-FFF2-40B4-BE49-F238E27FC236}">
                <a16:creationId xmlns:a16="http://schemas.microsoft.com/office/drawing/2014/main" id="{752CD570-DB6F-4102-A244-3488D980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5524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Runs only for approved exact cases with at least one rooted but unproven required operand.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Explores a handler-to-sink slice</a:t>
            </a:r>
          </a:p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Can capture a sink-hit snapshot</a:t>
            </a:r>
          </a:p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Lifts missing operands from provenance</a:t>
            </a:r>
          </a:p>
          <a:p xmlns:a="http://schemas.openxmlformats.org/drawingml/2006/main">
            <a:pPr algn="l">
              <a:defRPr sz="157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• May justify guided execution</a:t>
            </a:r>
          </a:p>
        </p:txBody>
      </p:sp>
      <p:sp>
        <p:nvSpPr>
          <p:cNvPr id="8" name="proof-caveat">
            <a:extLst xmlns:a="http://schemas.openxmlformats.org/drawingml/2006/main">
              <a:ext uri="{FF2B5EF4-FFF2-40B4-BE49-F238E27FC236}">
                <a16:creationId xmlns:a16="http://schemas.microsoft.com/office/drawing/2014/main" id="{268D50C3-6876-4D4B-9874-1BE306D3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902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997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Fallback can make an obligation feasible; it does not retroactively make the complete local obligation proven.</a:t>
            </a:r>
          </a:p>
        </p:txBody>
      </p:sp>
    </p:spTree>
    <p:extLst>
      <p:ext uri="{BB962C8B-B14F-4D97-AF65-F5344CB8AC3E}">
        <p14:creationId xmlns:p14="http://schemas.microsoft.com/office/powerpoint/2010/main" val="1943088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7">
            <a:extLst xmlns:a="http://schemas.openxmlformats.org/drawingml/2006/main">
              <a:ext uri="{FF2B5EF4-FFF2-40B4-BE49-F238E27FC236}">
                <a16:creationId xmlns:a16="http://schemas.microsoft.com/office/drawing/2014/main" id="{E4BA2E40-8FBD-4B74-8D92-6FD8DC04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4 — REQUEST SYNTHESIS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A9368DE3-8D41-4530-B8C7-2E7B2779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 witness becomes bytes, runtime objects, and fixups</a:t>
            </a:r>
          </a:p>
        </p:txBody>
      </p:sp>
      <p:sp>
        <p:nvSpPr>
          <p:cNvPr id="3" name="footer-17">
            <a:extLst xmlns:a="http://schemas.openxmlformats.org/drawingml/2006/main">
              <a:ext uri="{FF2B5EF4-FFF2-40B4-BE49-F238E27FC236}">
                <a16:creationId xmlns:a16="http://schemas.microsoft.com/office/drawing/2014/main" id="{31BEAC85-F0BB-4206-9933-AF612F32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cxnSp>
        <p:nvCxnSpPr>
          <p:cNvPr id="22" name="witness-timeline-timeline-rule"/>
          <p:cNvCxnSpPr/>
          <p:nvPr/>
        </p:nvCxnSpPr>
        <p:spPr>
          <a:xfrm xmlns:a="http://schemas.openxmlformats.org/drawingml/2006/main">
            <a:off x="400050" y="31051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C10"/>
            </a:solidFill>
            <a:prstDash val="solid"/>
          </a:ln>
        </p:spPr>
      </p:cxnSp>
      <p:sp>
        <p:nvSpPr>
          <p:cNvPr id="5" name="witness-timeline-dot-1">
            <a:extLst xmlns:a="http://schemas.openxmlformats.org/drawingml/2006/main">
              <a:ext uri="{FF2B5EF4-FFF2-40B4-BE49-F238E27FC236}">
                <a16:creationId xmlns:a16="http://schemas.microsoft.com/office/drawing/2014/main" id="{08C77C4E-5C3E-41F2-852B-C7E13750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itness-timeline-dot-2">
            <a:extLst xmlns:a="http://schemas.openxmlformats.org/drawingml/2006/main">
              <a:ext uri="{FF2B5EF4-FFF2-40B4-BE49-F238E27FC236}">
                <a16:creationId xmlns:a16="http://schemas.microsoft.com/office/drawing/2014/main" id="{09C67578-BFC3-47C4-9C1B-E12B7935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itness-timeline-dot-3">
            <a:extLst xmlns:a="http://schemas.openxmlformats.org/drawingml/2006/main">
              <a:ext uri="{FF2B5EF4-FFF2-40B4-BE49-F238E27FC236}">
                <a16:creationId xmlns:a16="http://schemas.microsoft.com/office/drawing/2014/main" id="{CFDD821B-5399-470B-95EA-7ECAD393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itness-timeline-label-1">
            <a:extLst xmlns:a="http://schemas.openxmlformats.org/drawingml/2006/main">
              <a:ext uri="{FF2B5EF4-FFF2-40B4-BE49-F238E27FC236}">
                <a16:creationId xmlns:a16="http://schemas.microsoft.com/office/drawing/2014/main" id="{11AA47EE-B2C5-4493-8D7D-B572ADB9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WITNESS</a:t>
            </a:r>
          </a:p>
        </p:txBody>
      </p:sp>
      <p:sp>
        <p:nvSpPr>
          <p:cNvPr id="9" name="witness-timeline-heading-1">
            <a:extLst xmlns:a="http://schemas.openxmlformats.org/drawingml/2006/main">
              <a:ext uri="{FF2B5EF4-FFF2-40B4-BE49-F238E27FC236}">
                <a16:creationId xmlns:a16="http://schemas.microsoft.com/office/drawing/2014/main" id="{2C886449-CAC2-43D0-94A8-250D033D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Bind an operand</a:t>
            </a:r>
          </a:p>
        </p:txBody>
      </p:sp>
      <p:sp>
        <p:nvSpPr>
          <p:cNvPr id="10" name="witness-timeline-body-1">
            <a:extLst xmlns:a="http://schemas.openxmlformats.org/drawingml/2006/main">
              <a:ext uri="{FF2B5EF4-FFF2-40B4-BE49-F238E27FC236}">
                <a16:creationId xmlns:a16="http://schemas.microsoft.com/office/drawing/2014/main" id="{7C5BF235-AD5A-4C86-B77A-AF6132D6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Record request object, offset, width, controllability, exactness, selected request value, and resulting sink value.</a:t>
            </a:r>
          </a:p>
        </p:txBody>
      </p:sp>
      <p:sp>
        <p:nvSpPr>
          <p:cNvPr id="11" name="witness-timeline-label-2">
            <a:extLst xmlns:a="http://schemas.openxmlformats.org/drawingml/2006/main">
              <a:ext uri="{FF2B5EF4-FFF2-40B4-BE49-F238E27FC236}">
                <a16:creationId xmlns:a16="http://schemas.microsoft.com/office/drawing/2014/main" id="{ADE48356-B94E-46BC-8938-A042E86B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14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MATERIALIZE</a:t>
            </a:r>
          </a:p>
        </p:txBody>
      </p:sp>
      <p:sp>
        <p:nvSpPr>
          <p:cNvPr id="12" name="witness-timeline-heading-2">
            <a:extLst xmlns:a="http://schemas.openxmlformats.org/drawingml/2006/main">
              <a:ext uri="{FF2B5EF4-FFF2-40B4-BE49-F238E27FC236}">
                <a16:creationId xmlns:a16="http://schemas.microsoft.com/office/drawing/2014/main" id="{FD009FC0-898D-4133-8ED5-13C752FF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Construct the request</a:t>
            </a:r>
          </a:p>
        </p:txBody>
      </p:sp>
      <p:sp>
        <p:nvSpPr>
          <p:cNvPr id="13" name="witness-timeline-body-2">
            <a:extLst xmlns:a="http://schemas.openxmlformats.org/drawingml/2006/main">
              <a:ext uri="{FF2B5EF4-FFF2-40B4-BE49-F238E27FC236}">
                <a16:creationId xmlns:a16="http://schemas.microsoft.com/office/drawing/2014/main" id="{FDBEBF6C-31BA-433F-A150-9AF355CF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Choose input/output sizes, apply recovered guards, and emit concrete pre-call buffer writes.</a:t>
            </a:r>
          </a:p>
        </p:txBody>
      </p:sp>
      <p:sp>
        <p:nvSpPr>
          <p:cNvPr id="14" name="witness-timeline-label-3">
            <a:extLst xmlns:a="http://schemas.openxmlformats.org/drawingml/2006/main">
              <a:ext uri="{FF2B5EF4-FFF2-40B4-BE49-F238E27FC236}">
                <a16:creationId xmlns:a16="http://schemas.microsoft.com/office/drawing/2014/main" id="{12523A02-CF23-4184-B750-2022485C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DEFER RUNTIME VALUES</a:t>
            </a:r>
          </a:p>
        </p:txBody>
      </p:sp>
      <p:sp>
        <p:nvSpPr>
          <p:cNvPr id="15" name="witness-timeline-heading-3">
            <a:extLst xmlns:a="http://schemas.openxmlformats.org/drawingml/2006/main">
              <a:ext uri="{FF2B5EF4-FFF2-40B4-BE49-F238E27FC236}">
                <a16:creationId xmlns:a16="http://schemas.microsoft.com/office/drawing/2014/main" id="{67053320-EEC7-42B1-81BF-A7D96899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Allocate + fix up</a:t>
            </a:r>
          </a:p>
        </p:txBody>
      </p:sp>
      <p:sp>
        <p:nvSpPr>
          <p:cNvPr id="16" name="witness-timeline-body-3">
            <a:extLst xmlns:a="http://schemas.openxmlformats.org/drawingml/2006/main">
              <a:ext uri="{FF2B5EF4-FFF2-40B4-BE49-F238E27FC236}">
                <a16:creationId xmlns:a16="http://schemas.microsoft.com/office/drawing/2014/main" id="{8641EFAB-0819-47FF-BBB0-5D0F414D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Create section views, handles, guarded buffers, or mapped pages; write addresses, handles, sizes, or GPAs at runtime.</a:t>
            </a:r>
          </a:p>
        </p:txBody>
      </p:sp>
      <p:sp>
        <p:nvSpPr>
          <p:cNvPr id="17" name="fixup-strip-bg">
            <a:extLst xmlns:a="http://schemas.openxmlformats.org/drawingml/2006/main">
              <a:ext uri="{FF2B5EF4-FFF2-40B4-BE49-F238E27FC236}">
                <a16:creationId xmlns:a16="http://schemas.microsoft.com/office/drawing/2014/main" id="{B3E43B0D-A420-465A-BA28-1F35306B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10096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5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ixup-strip-text">
            <a:extLst xmlns:a="http://schemas.openxmlformats.org/drawingml/2006/main">
              <a:ext uri="{FF2B5EF4-FFF2-40B4-BE49-F238E27FC236}">
                <a16:creationId xmlns:a16="http://schemas.microsoft.com/office/drawing/2014/main" id="{5D4B0700-6154-4DFB-8BC3-5B18CC8B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905500"/>
            <a:ext cx="963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CE7F5"/>
                </a:solidFill>
                <a:latin typeface="Arial"/>
                <a:ea typeface="Arial"/>
                <a:cs typeface="Arial"/>
              </a:rPr>
              <a:t>Fixup forms: address_of:&lt;allocation&gt;   physical_address_of:&lt;allocation&gt;   allocation_size_of:&lt;allocation&gt;   handle_of:&lt;allocation&gt;</a:t>
            </a:r>
          </a:p>
        </p:txBody>
      </p:sp>
    </p:spTree>
    <p:extLst>
      <p:ext uri="{BB962C8B-B14F-4D97-AF65-F5344CB8AC3E}">
        <p14:creationId xmlns:p14="http://schemas.microsoft.com/office/powerpoint/2010/main" val="3592044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8">
            <a:extLst xmlns:a="http://schemas.openxmlformats.org/drawingml/2006/main">
              <a:ext uri="{FF2B5EF4-FFF2-40B4-BE49-F238E27FC236}">
                <a16:creationId xmlns:a16="http://schemas.microsoft.com/office/drawing/2014/main" id="{9A37EC9A-6DBB-4EC3-A16C-E04FCBD1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4 — CLASSIFICATION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2CC83290-94AF-47F3-BCD1-E53BEFCF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03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Exact execution requires independent proof and runtime conditions</a:t>
            </a:r>
          </a:p>
        </p:txBody>
      </p:sp>
      <p:sp>
        <p:nvSpPr>
          <p:cNvPr id="3" name="footer-18">
            <a:extLst xmlns:a="http://schemas.openxmlformats.org/drawingml/2006/main">
              <a:ext uri="{FF2B5EF4-FFF2-40B4-BE49-F238E27FC236}">
                <a16:creationId xmlns:a16="http://schemas.microsoft.com/office/drawing/2014/main" id="{F0721BF8-E9A5-4290-900A-F9BA10F0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classification-intro">
            <a:extLst xmlns:a="http://schemas.openxmlformats.org/drawingml/2006/main">
              <a:ext uri="{FF2B5EF4-FFF2-40B4-BE49-F238E27FC236}">
                <a16:creationId xmlns:a16="http://schemas.microsoft.com/office/drawing/2014/main" id="{3AB23EC1-C06B-4211-A970-186C15E2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Stage 4 keeps semantic proof, packaging, oracle support, path certainty, invocation surface, and readiness as separate fields.</a:t>
            </a:r>
          </a:p>
        </p:txBody>
      </p:sp>
      <p:sp>
        <p:nvSpPr>
          <p:cNvPr id="5" name="classification-item-1-panel">
            <a:extLst xmlns:a="http://schemas.openxmlformats.org/drawingml/2006/main">
              <a:ext uri="{FF2B5EF4-FFF2-40B4-BE49-F238E27FC236}">
                <a16:creationId xmlns:a16="http://schemas.microsoft.com/office/drawing/2014/main" id="{FC4A977A-5786-4A85-BDCB-517961B3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assification-item-1-heading">
            <a:extLst xmlns:a="http://schemas.openxmlformats.org/drawingml/2006/main">
              <a:ext uri="{FF2B5EF4-FFF2-40B4-BE49-F238E27FC236}">
                <a16:creationId xmlns:a16="http://schemas.microsoft.com/office/drawing/2014/main" id="{75B2DB87-8767-4E6A-8E38-0F281DFB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Exact effect / instrumentation</a:t>
            </a:r>
          </a:p>
        </p:txBody>
      </p:sp>
      <p:sp>
        <p:nvSpPr>
          <p:cNvPr id="7" name="classification-item-1-body">
            <a:extLst xmlns:a="http://schemas.openxmlformats.org/drawingml/2006/main">
              <a:ext uri="{FF2B5EF4-FFF2-40B4-BE49-F238E27FC236}">
                <a16:creationId xmlns:a16="http://schemas.microsoft.com/office/drawing/2014/main" id="{6A15B3EF-9D19-41CB-B2EA-3C696D0C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Exact request and case, exclusive path, proven obligation, complete semantics, implemented oracle.</a:t>
            </a:r>
          </a:p>
        </p:txBody>
      </p:sp>
      <p:sp>
        <p:nvSpPr>
          <p:cNvPr id="8" name="classification-item-2-panel">
            <a:extLst xmlns:a="http://schemas.openxmlformats.org/drawingml/2006/main">
              <a:ext uri="{FF2B5EF4-FFF2-40B4-BE49-F238E27FC236}">
                <a16:creationId xmlns:a16="http://schemas.microsoft.com/office/drawing/2014/main" id="{B315C726-2E9F-4381-B14F-D3BB5765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288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E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assification-item-2-heading">
            <a:extLst xmlns:a="http://schemas.openxmlformats.org/drawingml/2006/main">
              <a:ext uri="{FF2B5EF4-FFF2-40B4-BE49-F238E27FC236}">
                <a16:creationId xmlns:a16="http://schemas.microsoft.com/office/drawing/2014/main" id="{FC60A718-A077-4A6E-A841-AE73291C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574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Guided exploration</a:t>
            </a:r>
          </a:p>
        </p:txBody>
      </p:sp>
      <p:sp>
        <p:nvSpPr>
          <p:cNvPr id="10" name="classification-item-2-body">
            <a:extLst xmlns:a="http://schemas.openxmlformats.org/drawingml/2006/main">
              <a:ext uri="{FF2B5EF4-FFF2-40B4-BE49-F238E27FC236}">
                <a16:creationId xmlns:a16="http://schemas.microsoft.com/office/drawing/2014/main" id="{06B3F13E-55C4-41CE-B5F0-172A9EEA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527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Exact request/case and approved path, but obligation is feasible rather than fully proven.</a:t>
            </a:r>
          </a:p>
        </p:txBody>
      </p:sp>
      <p:sp>
        <p:nvSpPr>
          <p:cNvPr id="11" name="classification-item-3-panel">
            <a:extLst xmlns:a="http://schemas.openxmlformats.org/drawingml/2006/main">
              <a:ext uri="{FF2B5EF4-FFF2-40B4-BE49-F238E27FC236}">
                <a16:creationId xmlns:a16="http://schemas.microsoft.com/office/drawing/2014/main" id="{9E356A1D-8E1B-42DF-B931-844755B7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lassification-item-3-heading">
            <a:extLst xmlns:a="http://schemas.openxmlformats.org/drawingml/2006/main">
              <a:ext uri="{FF2B5EF4-FFF2-40B4-BE49-F238E27FC236}">
                <a16:creationId xmlns:a16="http://schemas.microsoft.com/office/drawing/2014/main" id="{F1BC0EEC-5ACE-4B8B-8A1C-AB91F14E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Static triage</a:t>
            </a:r>
          </a:p>
        </p:txBody>
      </p:sp>
      <p:sp>
        <p:nvSpPr>
          <p:cNvPr id="13" name="classification-item-3-body">
            <a:extLst xmlns:a="http://schemas.openxmlformats.org/drawingml/2006/main">
              <a:ext uri="{FF2B5EF4-FFF2-40B4-BE49-F238E27FC236}">
                <a16:creationId xmlns:a16="http://schemas.microsoft.com/office/drawing/2014/main" id="{658A9FAF-0DBE-446F-AC76-8FE57E92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Weak case, missing oracle, inexact request, insufficient rooting, or inadequate attribution.</a:t>
            </a:r>
          </a:p>
        </p:txBody>
      </p:sp>
      <p:sp>
        <p:nvSpPr>
          <p:cNvPr id="14" name="classification-item-4-panel">
            <a:extLst xmlns:a="http://schemas.openxmlformats.org/drawingml/2006/main">
              <a:ext uri="{FF2B5EF4-FFF2-40B4-BE49-F238E27FC236}">
                <a16:creationId xmlns:a16="http://schemas.microsoft.com/office/drawing/2014/main" id="{573CB0B3-374B-4AEA-8057-A734298A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100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lassification-item-4-heading">
            <a:extLst xmlns:a="http://schemas.openxmlformats.org/drawingml/2006/main">
              <a:ext uri="{FF2B5EF4-FFF2-40B4-BE49-F238E27FC236}">
                <a16:creationId xmlns:a16="http://schemas.microsoft.com/office/drawing/2014/main" id="{33C60CC2-5A6B-4AB8-A912-6C41E7A2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386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dynamic_ready</a:t>
            </a:r>
          </a:p>
        </p:txBody>
      </p:sp>
      <p:sp>
        <p:nvSpPr>
          <p:cNvPr id="16" name="classification-item-4-body">
            <a:extLst xmlns:a="http://schemas.openxmlformats.org/drawingml/2006/main">
              <a:ext uri="{FF2B5EF4-FFF2-40B4-BE49-F238E27FC236}">
                <a16:creationId xmlns:a16="http://schemas.microsoft.com/office/drawing/2014/main" id="{2DDDFB29-02D6-4CFA-84FA-FF3B508F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339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Adds sink-specific self-tested oracle, no path discovery, user-mode DEVICE_CONTROL, and an exact static class.</a:t>
            </a:r>
          </a:p>
        </p:txBody>
      </p:sp>
    </p:spTree>
    <p:extLst>
      <p:ext uri="{BB962C8B-B14F-4D97-AF65-F5344CB8AC3E}">
        <p14:creationId xmlns:p14="http://schemas.microsoft.com/office/powerpoint/2010/main" val="9387052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9">
            <a:extLst xmlns:a="http://schemas.openxmlformats.org/drawingml/2006/main">
              <a:ext uri="{FF2B5EF4-FFF2-40B4-BE49-F238E27FC236}">
                <a16:creationId xmlns:a16="http://schemas.microsoft.com/office/drawing/2014/main" id="{40110E19-8E20-4337-BB98-74555DAB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4 — OUTPUT CONTRACT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08FBAF7B-14D0-41AA-9A38-0845A106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The portable handoff preserves both claims and experiments</a:t>
            </a:r>
          </a:p>
        </p:txBody>
      </p:sp>
      <p:sp>
        <p:nvSpPr>
          <p:cNvPr id="3" name="footer-19">
            <a:extLst xmlns:a="http://schemas.openxmlformats.org/drawingml/2006/main">
              <a:ext uri="{FF2B5EF4-FFF2-40B4-BE49-F238E27FC236}">
                <a16:creationId xmlns:a16="http://schemas.microsoft.com/office/drawing/2014/main" id="{B759C57E-4016-4F51-9193-32548AFA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handoff-identity-panel-1">
            <a:extLst xmlns:a="http://schemas.openxmlformats.org/drawingml/2006/main">
              <a:ext uri="{FF2B5EF4-FFF2-40B4-BE49-F238E27FC236}">
                <a16:creationId xmlns:a16="http://schemas.microsoft.com/office/drawing/2014/main" id="{C5EA7610-395F-4F4A-B540-8EC7C106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5687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ndoff-identity-heading-1">
            <a:extLst xmlns:a="http://schemas.openxmlformats.org/drawingml/2006/main">
              <a:ext uri="{FF2B5EF4-FFF2-40B4-BE49-F238E27FC236}">
                <a16:creationId xmlns:a16="http://schemas.microsoft.com/office/drawing/2014/main" id="{2D2E1C5C-670B-4A9C-936D-26E45075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candidate_id</a:t>
            </a:r>
          </a:p>
        </p:txBody>
      </p:sp>
      <p:sp>
        <p:nvSpPr>
          <p:cNvPr id="6" name="handoff-identity-body-1">
            <a:extLst xmlns:a="http://schemas.openxmlformats.org/drawingml/2006/main">
              <a:ext uri="{FF2B5EF4-FFF2-40B4-BE49-F238E27FC236}">
                <a16:creationId xmlns:a16="http://schemas.microsoft.com/office/drawing/2014/main" id="{75A801E5-0DE1-4166-957D-99627983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3073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Identity of the static security claim: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handler + IOCTL + case + sink + obligation + required operand roots</a:t>
            </a:r>
          </a:p>
        </p:txBody>
      </p:sp>
      <p:sp>
        <p:nvSpPr>
          <p:cNvPr id="7" name="handoff-identity-panel-2">
            <a:extLst xmlns:a="http://schemas.openxmlformats.org/drawingml/2006/main">
              <a:ext uri="{FF2B5EF4-FFF2-40B4-BE49-F238E27FC236}">
                <a16:creationId xmlns:a16="http://schemas.microsoft.com/office/drawing/2014/main" id="{93B03877-F5A1-4722-895B-B829484F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62200"/>
            <a:ext cx="35687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andoff-identity-heading-2">
            <a:extLst xmlns:a="http://schemas.openxmlformats.org/drawingml/2006/main">
              <a:ext uri="{FF2B5EF4-FFF2-40B4-BE49-F238E27FC236}">
                <a16:creationId xmlns:a16="http://schemas.microsoft.com/office/drawing/2014/main" id="{9F34AFFA-A6E2-469B-9009-A55D7E7C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259080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execution_recipe_key</a:t>
            </a:r>
          </a:p>
        </p:txBody>
      </p:sp>
      <p:sp>
        <p:nvSpPr>
          <p:cNvPr id="9" name="handoff-identity-body-2">
            <a:extLst xmlns:a="http://schemas.openxmlformats.org/drawingml/2006/main">
              <a:ext uri="{FF2B5EF4-FFF2-40B4-BE49-F238E27FC236}">
                <a16:creationId xmlns:a16="http://schemas.microsoft.com/office/drawing/2014/main" id="{A277147C-C825-45C9-855C-E40453F1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9300" y="3200400"/>
            <a:ext cx="3073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SHA-256 identity of the concrete experiment: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path + request + allocations + fixups + oracle + backend + run sequence</a:t>
            </a:r>
          </a:p>
        </p:txBody>
      </p:sp>
      <p:sp>
        <p:nvSpPr>
          <p:cNvPr id="10" name="handoff-identity-panel-3">
            <a:extLst xmlns:a="http://schemas.openxmlformats.org/drawingml/2006/main">
              <a:ext uri="{FF2B5EF4-FFF2-40B4-BE49-F238E27FC236}">
                <a16:creationId xmlns:a16="http://schemas.microsoft.com/office/drawing/2014/main" id="{7840AE09-D17D-4D38-B791-D197FB20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362200"/>
            <a:ext cx="35687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andoff-identity-heading-3">
            <a:extLst xmlns:a="http://schemas.openxmlformats.org/drawingml/2006/main">
              <a:ext uri="{FF2B5EF4-FFF2-40B4-BE49-F238E27FC236}">
                <a16:creationId xmlns:a16="http://schemas.microsoft.com/office/drawing/2014/main" id="{B2F293FC-CF69-4767-A9C2-40847303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2590800"/>
            <a:ext cx="307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Portable package</a:t>
            </a:r>
          </a:p>
        </p:txBody>
      </p:sp>
      <p:sp>
        <p:nvSpPr>
          <p:cNvPr id="12" name="handoff-identity-body-3">
            <a:extLst xmlns:a="http://schemas.openxmlformats.org/drawingml/2006/main">
              <a:ext uri="{FF2B5EF4-FFF2-40B4-BE49-F238E27FC236}">
                <a16:creationId xmlns:a16="http://schemas.microsoft.com/office/drawing/2014/main" id="{3F97D2A9-7861-46C1-9076-8EAA7E20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900" y="3200400"/>
            <a:ext cx="3073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Driver, dynamic cases, requests, models, PoCs, snapshots, verification reports, status reports, handoff.json, and installation plan</a:t>
            </a:r>
          </a:p>
        </p:txBody>
      </p:sp>
      <p:sp>
        <p:nvSpPr>
          <p:cNvPr id="13" name="handoff-dedupe">
            <a:extLst xmlns:a="http://schemas.openxmlformats.org/drawingml/2006/main">
              <a:ext uri="{FF2B5EF4-FFF2-40B4-BE49-F238E27FC236}">
                <a16:creationId xmlns:a16="http://schemas.microsoft.com/office/drawing/2014/main" id="{6F4581CE-DE88-46C0-B6DA-46C0B7A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483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Different static claims may share one recipe; deduplication keeps the strongest record while retaining covered candidate identities.</a:t>
            </a:r>
          </a:p>
        </p:txBody>
      </p:sp>
    </p:spTree>
    <p:extLst>
      <p:ext uri="{BB962C8B-B14F-4D97-AF65-F5344CB8AC3E}">
        <p14:creationId xmlns:p14="http://schemas.microsoft.com/office/powerpoint/2010/main" val="8519073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0">
            <a:extLst xmlns:a="http://schemas.openxmlformats.org/drawingml/2006/main">
              <a:ext uri="{FF2B5EF4-FFF2-40B4-BE49-F238E27FC236}">
                <a16:creationId xmlns:a16="http://schemas.microsoft.com/office/drawing/2014/main" id="{588D5460-FADE-4BE8-91B0-9BD459E2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5 — PLANNING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D40A54CA-39E0-4216-8B60-17A46382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Stage 5 first asks whether the harness can execute the recipe</a:t>
            </a:r>
          </a:p>
        </p:txBody>
      </p:sp>
      <p:sp>
        <p:nvSpPr>
          <p:cNvPr id="3" name="footer-20">
            <a:extLst xmlns:a="http://schemas.openxmlformats.org/drawingml/2006/main">
              <a:ext uri="{FF2B5EF4-FFF2-40B4-BE49-F238E27FC236}">
                <a16:creationId xmlns:a16="http://schemas.microsoft.com/office/drawing/2014/main" id="{5288CB41-2D7D-4F1C-91BF-CDD1E03F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runtime-plan-heading-1">
            <a:extLst xmlns:a="http://schemas.openxmlformats.org/drawingml/2006/main">
              <a:ext uri="{FF2B5EF4-FFF2-40B4-BE49-F238E27FC236}">
                <a16:creationId xmlns:a16="http://schemas.microsoft.com/office/drawing/2014/main" id="{40678EFE-CF47-4C42-A192-F9D5EA22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Validate + normalize</a:t>
            </a:r>
          </a:p>
        </p:txBody>
      </p:sp>
      <p:sp>
        <p:nvSpPr>
          <p:cNvPr id="5" name="runtime-plan-body-1">
            <a:extLst xmlns:a="http://schemas.openxmlformats.org/drawingml/2006/main">
              <a:ext uri="{FF2B5EF4-FFF2-40B4-BE49-F238E27FC236}">
                <a16:creationId xmlns:a16="http://schemas.microsoft.com/office/drawing/2014/main" id="{F558309B-80F2-4B9E-ABA9-37D02801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35687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Verify schemas, artifact paths, driver hash, request schema, and recomputed recipe key. Normalize without silently strengthening static class.</a:t>
            </a:r>
          </a:p>
        </p:txBody>
      </p:sp>
      <p:sp>
        <p:nvSpPr>
          <p:cNvPr id="6" name="runtime-plan-heading-2">
            <a:extLst xmlns:a="http://schemas.openxmlformats.org/drawingml/2006/main">
              <a:ext uri="{FF2B5EF4-FFF2-40B4-BE49-F238E27FC236}">
                <a16:creationId xmlns:a16="http://schemas.microsoft.com/office/drawing/2014/main" id="{ADAA0C65-BA2B-4957-8D3F-343E3119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40030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Classify support</a:t>
            </a:r>
          </a:p>
        </p:txBody>
      </p:sp>
      <p:sp>
        <p:nvSpPr>
          <p:cNvPr id="7" name="runtime-plan-body-2">
            <a:extLst xmlns:a="http://schemas.openxmlformats.org/drawingml/2006/main">
              <a:ext uri="{FF2B5EF4-FFF2-40B4-BE49-F238E27FC236}">
                <a16:creationId xmlns:a16="http://schemas.microsoft.com/office/drawing/2014/main" id="{3FDD7453-4D51-485F-92FF-531A0B16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8950"/>
            <a:ext cx="35687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Evaluate architecture, install mode, invocation, method, oracle, allocations, lane, provider, tracing, hardware, observer, and reboot needs.</a:t>
            </a:r>
          </a:p>
        </p:txBody>
      </p:sp>
      <p:sp>
        <p:nvSpPr>
          <p:cNvPr id="8" name="runtime-plan-heading-3">
            <a:extLst xmlns:a="http://schemas.openxmlformats.org/drawingml/2006/main">
              <a:ext uri="{FF2B5EF4-FFF2-40B4-BE49-F238E27FC236}">
                <a16:creationId xmlns:a16="http://schemas.microsoft.com/office/drawing/2014/main" id="{A282FA4C-C8A7-4B91-B658-7ADD1CFD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400300"/>
            <a:ext cx="356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Plan by recipe</a:t>
            </a:r>
          </a:p>
        </p:txBody>
      </p:sp>
      <p:sp>
        <p:nvSpPr>
          <p:cNvPr id="9" name="runtime-plan-body-3">
            <a:extLst xmlns:a="http://schemas.openxmlformats.org/drawingml/2006/main">
              <a:ext uri="{FF2B5EF4-FFF2-40B4-BE49-F238E27FC236}">
                <a16:creationId xmlns:a16="http://schemas.microsoft.com/office/drawing/2014/main" id="{019957E6-751F-4E02-AB39-0AD12C25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028950"/>
            <a:ext cx="35687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Group by execution_recipe_key, select a primary candidate, apply budgets, reuse successful preflight receipts, and repair setup uncertainty.</a:t>
            </a:r>
          </a:p>
        </p:txBody>
      </p:sp>
    </p:spTree>
    <p:extLst>
      <p:ext uri="{BB962C8B-B14F-4D97-AF65-F5344CB8AC3E}">
        <p14:creationId xmlns:p14="http://schemas.microsoft.com/office/powerpoint/2010/main" val="57741627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1">
            <a:extLst xmlns:a="http://schemas.openxmlformats.org/drawingml/2006/main">
              <a:ext uri="{FF2B5EF4-FFF2-40B4-BE49-F238E27FC236}">
                <a16:creationId xmlns:a16="http://schemas.microsoft.com/office/drawing/2014/main" id="{7FDCC9C8-589E-43A1-8C7B-7C9811C2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5 — INSTALLATION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9F4E440F-A761-4EC8-BA3E-20DB2897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One probe resolves installation and device access</a:t>
            </a:r>
          </a:p>
        </p:txBody>
      </p:sp>
      <p:sp>
        <p:nvSpPr>
          <p:cNvPr id="3" name="footer-21">
            <a:extLst xmlns:a="http://schemas.openxmlformats.org/drawingml/2006/main">
              <a:ext uri="{FF2B5EF4-FFF2-40B4-BE49-F238E27FC236}">
                <a16:creationId xmlns:a16="http://schemas.microsoft.com/office/drawing/2014/main" id="{B8709E68-6304-4A75-8316-2189CF42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cxnSp>
        <p:nvCxnSpPr>
          <p:cNvPr id="21" name="install-probe-timeline-rule"/>
          <p:cNvCxnSpPr/>
          <p:nvPr/>
        </p:nvCxnSpPr>
        <p:spPr>
          <a:xfrm xmlns:a="http://schemas.openxmlformats.org/drawingml/2006/main">
            <a:off x="400050" y="30480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C10"/>
            </a:solidFill>
            <a:prstDash val="solid"/>
          </a:ln>
        </p:spPr>
      </p:cxnSp>
      <p:sp>
        <p:nvSpPr>
          <p:cNvPr id="5" name="install-probe-dot-1">
            <a:extLst xmlns:a="http://schemas.openxmlformats.org/drawingml/2006/main">
              <a:ext uri="{FF2B5EF4-FFF2-40B4-BE49-F238E27FC236}">
                <a16:creationId xmlns:a16="http://schemas.microsoft.com/office/drawing/2014/main" id="{FAB89B86-BFE1-4368-BABC-4055B9E8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install-probe-dot-2">
            <a:extLst xmlns:a="http://schemas.openxmlformats.org/drawingml/2006/main">
              <a:ext uri="{FF2B5EF4-FFF2-40B4-BE49-F238E27FC236}">
                <a16:creationId xmlns:a16="http://schemas.microsoft.com/office/drawing/2014/main" id="{0A18BB67-7775-4936-ADBC-840F88B5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stall-probe-dot-3">
            <a:extLst xmlns:a="http://schemas.openxmlformats.org/drawingml/2006/main">
              <a:ext uri="{FF2B5EF4-FFF2-40B4-BE49-F238E27FC236}">
                <a16:creationId xmlns:a16="http://schemas.microsoft.com/office/drawing/2014/main" id="{69D5437C-0B74-4EC4-BAFB-A7FB12B2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stall-probe-label-1">
            <a:extLst xmlns:a="http://schemas.openxmlformats.org/drawingml/2006/main">
              <a:ext uri="{FF2B5EF4-FFF2-40B4-BE49-F238E27FC236}">
                <a16:creationId xmlns:a16="http://schemas.microsoft.com/office/drawing/2014/main" id="{438730CD-BA0B-41E9-AB02-94C12983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9" name="install-probe-heading-1">
            <a:extLst xmlns:a="http://schemas.openxmlformats.org/drawingml/2006/main">
              <a:ext uri="{FF2B5EF4-FFF2-40B4-BE49-F238E27FC236}">
                <a16:creationId xmlns:a16="http://schemas.microsoft.com/office/drawing/2014/main" id="{6A9DF413-7BF0-45B0-A1CD-E1A9CC8A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Resolve installation</a:t>
            </a:r>
          </a:p>
        </p:txBody>
      </p:sp>
      <p:sp>
        <p:nvSpPr>
          <p:cNvPr id="10" name="install-probe-body-1">
            <a:extLst xmlns:a="http://schemas.openxmlformats.org/drawingml/2006/main">
              <a:ext uri="{FF2B5EF4-FFF2-40B4-BE49-F238E27FC236}">
                <a16:creationId xmlns:a16="http://schemas.microsoft.com/office/drawing/2014/main" id="{BAB1A0AC-AF34-4B10-B77D-94D707D8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Use SCM service or PnP package logic; verify canonical service/image identity, Code Integrity, module state, and setup events.</a:t>
            </a:r>
          </a:p>
        </p:txBody>
      </p:sp>
      <p:sp>
        <p:nvSpPr>
          <p:cNvPr id="11" name="install-probe-label-2">
            <a:extLst xmlns:a="http://schemas.openxmlformats.org/drawingml/2006/main">
              <a:ext uri="{FF2B5EF4-FFF2-40B4-BE49-F238E27FC236}">
                <a16:creationId xmlns:a16="http://schemas.microsoft.com/office/drawing/2014/main" id="{02F6E320-EDE7-434E-95A7-CFDEB010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2" name="install-probe-heading-2">
            <a:extLst xmlns:a="http://schemas.openxmlformats.org/drawingml/2006/main">
              <a:ext uri="{FF2B5EF4-FFF2-40B4-BE49-F238E27FC236}">
                <a16:creationId xmlns:a16="http://schemas.microsoft.com/office/drawing/2014/main" id="{39F6E5B3-2783-42EC-A7EC-46334CF9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09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Find a usable device</a:t>
            </a:r>
          </a:p>
        </p:txBody>
      </p:sp>
      <p:sp>
        <p:nvSpPr>
          <p:cNvPr id="13" name="install-probe-body-2">
            <a:extLst xmlns:a="http://schemas.openxmlformats.org/drawingml/2006/main">
              <a:ext uri="{FF2B5EF4-FFF2-40B4-BE49-F238E27FC236}">
                <a16:creationId xmlns:a16="http://schemas.microsoft.com/office/drawing/2014/main" id="{F277A7D7-B861-4A3C-8B7B-4DA5F48C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Compare DOS links before/after load; test static and runtime paths with a CreateFile access matrix.</a:t>
            </a:r>
          </a:p>
        </p:txBody>
      </p:sp>
      <p:sp>
        <p:nvSpPr>
          <p:cNvPr id="14" name="install-probe-label-3">
            <a:extLst xmlns:a="http://schemas.openxmlformats.org/drawingml/2006/main">
              <a:ext uri="{FF2B5EF4-FFF2-40B4-BE49-F238E27FC236}">
                <a16:creationId xmlns:a16="http://schemas.microsoft.com/office/drawing/2014/main" id="{25E6D5C2-A26C-406F-A71D-A6562CDE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REBIND</a:t>
            </a:r>
          </a:p>
        </p:txBody>
      </p:sp>
      <p:sp>
        <p:nvSpPr>
          <p:cNvPr id="15" name="install-probe-heading-3">
            <a:extLst xmlns:a="http://schemas.openxmlformats.org/drawingml/2006/main">
              <a:ext uri="{FF2B5EF4-FFF2-40B4-BE49-F238E27FC236}">
                <a16:creationId xmlns:a16="http://schemas.microsoft.com/office/drawing/2014/main" id="{FCFB53E1-881C-4CE5-8A4B-F385C885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Re-evaluate all cases</a:t>
            </a:r>
          </a:p>
        </p:txBody>
      </p:sp>
      <p:sp>
        <p:nvSpPr>
          <p:cNvPr id="16" name="install-probe-body-3">
            <a:extLst xmlns:a="http://schemas.openxmlformats.org/drawingml/2006/main">
              <a:ext uri="{FF2B5EF4-FFF2-40B4-BE49-F238E27FC236}">
                <a16:creationId xmlns:a16="http://schemas.microsoft.com/office/drawing/2014/main" id="{7B397E87-A7EB-4890-A6E8-EE59687B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243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Apply confirmed install/path data to every manifest, rerun normalization and support, and rewrite the driver plan.</a:t>
            </a:r>
          </a:p>
        </p:txBody>
      </p:sp>
      <p:sp>
        <p:nvSpPr>
          <p:cNvPr id="17" name="install-identity">
            <a:extLst xmlns:a="http://schemas.openxmlformats.org/drawingml/2006/main">
              <a:ext uri="{FF2B5EF4-FFF2-40B4-BE49-F238E27FC236}">
                <a16:creationId xmlns:a16="http://schemas.microsoft.com/office/drawing/2014/main" id="{25C8DE09-0015-4C4F-A3E1-6F4FF1AE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2930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57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Canonical names use the first 16 SHA characters, avoiding filename collisions and SCM/path parsing problems.</a:t>
            </a:r>
          </a:p>
        </p:txBody>
      </p:sp>
    </p:spTree>
    <p:extLst>
      <p:ext uri="{BB962C8B-B14F-4D97-AF65-F5344CB8AC3E}">
        <p14:creationId xmlns:p14="http://schemas.microsoft.com/office/powerpoint/2010/main" val="12377189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2">
            <a:extLst xmlns:a="http://schemas.openxmlformats.org/drawingml/2006/main">
              <a:ext uri="{FF2B5EF4-FFF2-40B4-BE49-F238E27FC236}">
                <a16:creationId xmlns:a16="http://schemas.microsoft.com/office/drawing/2014/main" id="{2F05ED1A-4AA3-43FA-8197-180F9377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5 — ISOLATED EXECUTION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06F5CC35-7312-417D-9D42-BD9CEAB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17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Each recipe runs in a fresh VM with baseline–variant–baseline controls</a:t>
            </a:r>
          </a:p>
        </p:txBody>
      </p:sp>
      <p:sp>
        <p:nvSpPr>
          <p:cNvPr id="3" name="footer-22">
            <a:extLst xmlns:a="http://schemas.openxmlformats.org/drawingml/2006/main">
              <a:ext uri="{FF2B5EF4-FFF2-40B4-BE49-F238E27FC236}">
                <a16:creationId xmlns:a16="http://schemas.microsoft.com/office/drawing/2014/main" id="{FF5A2F44-5772-44B2-90FA-962D5B81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cxnSp>
        <p:nvCxnSpPr>
          <p:cNvPr id="21" name="bvb-timeline-rule"/>
          <p:cNvCxnSpPr/>
          <p:nvPr/>
        </p:nvCxnSpPr>
        <p:spPr>
          <a:xfrm xmlns:a="http://schemas.openxmlformats.org/drawingml/2006/main">
            <a:off x="400050" y="2952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A0C10"/>
            </a:solidFill>
            <a:prstDash val="solid"/>
          </a:ln>
        </p:spPr>
      </p:cxnSp>
      <p:sp>
        <p:nvSpPr>
          <p:cNvPr id="5" name="bvb-dot-1">
            <a:extLst xmlns:a="http://schemas.openxmlformats.org/drawingml/2006/main">
              <a:ext uri="{FF2B5EF4-FFF2-40B4-BE49-F238E27FC236}">
                <a16:creationId xmlns:a16="http://schemas.microsoft.com/office/drawing/2014/main" id="{9B0AA189-149A-4FA1-86FB-ADF45F35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vb-dot-2">
            <a:extLst xmlns:a="http://schemas.openxmlformats.org/drawingml/2006/main">
              <a:ext uri="{FF2B5EF4-FFF2-40B4-BE49-F238E27FC236}">
                <a16:creationId xmlns:a16="http://schemas.microsoft.com/office/drawing/2014/main" id="{4DAB2DA2-2DBC-4C39-BF42-1AAB33E7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vb-dot-3">
            <a:extLst xmlns:a="http://schemas.openxmlformats.org/drawingml/2006/main">
              <a:ext uri="{FF2B5EF4-FFF2-40B4-BE49-F238E27FC236}">
                <a16:creationId xmlns:a16="http://schemas.microsoft.com/office/drawing/2014/main" id="{FAAF212A-B453-41FA-9B9A-86F20377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vb-label-1">
            <a:extLst xmlns:a="http://schemas.openxmlformats.org/drawingml/2006/main">
              <a:ext uri="{FF2B5EF4-FFF2-40B4-BE49-F238E27FC236}">
                <a16:creationId xmlns:a16="http://schemas.microsoft.com/office/drawing/2014/main" id="{126BD4A4-B5FC-47F3-82DF-79922473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9" name="bvb-heading-1">
            <a:extLst xmlns:a="http://schemas.openxmlformats.org/drawingml/2006/main">
              <a:ext uri="{FF2B5EF4-FFF2-40B4-BE49-F238E27FC236}">
                <a16:creationId xmlns:a16="http://schemas.microsoft.com/office/drawing/2014/main" id="{A1EECF4F-3CF6-4F19-B5D4-366B6758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Same request, no fixups</a:t>
            </a:r>
          </a:p>
        </p:txBody>
      </p:sp>
      <p:sp>
        <p:nvSpPr>
          <p:cNvPr id="10" name="bvb-body-1">
            <a:extLst xmlns:a="http://schemas.openxmlformats.org/drawingml/2006/main">
              <a:ext uri="{FF2B5EF4-FFF2-40B4-BE49-F238E27FC236}">
                <a16:creationId xmlns:a16="http://schemas.microsoft.com/office/drawing/2014/main" id="{10D0CACD-CCF9-4EF9-ADA4-0D94F25F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Pre-call writes are applied, but runtime-controlled pointer/handle/physical fixups remain absent.</a:t>
            </a:r>
          </a:p>
        </p:txBody>
      </p:sp>
      <p:sp>
        <p:nvSpPr>
          <p:cNvPr id="11" name="bvb-label-2">
            <a:extLst xmlns:a="http://schemas.openxmlformats.org/drawingml/2006/main">
              <a:ext uri="{FF2B5EF4-FFF2-40B4-BE49-F238E27FC236}">
                <a16:creationId xmlns:a16="http://schemas.microsoft.com/office/drawing/2014/main" id="{71085102-295A-4947-9927-39E670A8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VARIANT</a:t>
            </a:r>
          </a:p>
        </p:txBody>
      </p:sp>
      <p:sp>
        <p:nvSpPr>
          <p:cNvPr id="12" name="bvb-heading-2">
            <a:extLst xmlns:a="http://schemas.openxmlformats.org/drawingml/2006/main">
              <a:ext uri="{FF2B5EF4-FFF2-40B4-BE49-F238E27FC236}">
                <a16:creationId xmlns:a16="http://schemas.microsoft.com/office/drawing/2014/main" id="{224F20AE-D64F-4472-9EED-50126691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Apply the recipe</a:t>
            </a:r>
          </a:p>
        </p:txBody>
      </p:sp>
      <p:sp>
        <p:nvSpPr>
          <p:cNvPr id="13" name="bvb-body-2">
            <a:extLst xmlns:a="http://schemas.openxmlformats.org/drawingml/2006/main">
              <a:ext uri="{FF2B5EF4-FFF2-40B4-BE49-F238E27FC236}">
                <a16:creationId xmlns:a16="http://schemas.microsoft.com/office/drawing/2014/main" id="{3DCAA979-663C-4CA5-9AD0-0E10CCE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Fresh allocations are created and fixups inject addresses, handles, sizes, PIDs, or provider-backed physical addresses.</a:t>
            </a:r>
          </a:p>
        </p:txBody>
      </p:sp>
      <p:sp>
        <p:nvSpPr>
          <p:cNvPr id="14" name="bvb-label-3">
            <a:extLst xmlns:a="http://schemas.openxmlformats.org/drawingml/2006/main">
              <a:ext uri="{FF2B5EF4-FFF2-40B4-BE49-F238E27FC236}">
                <a16:creationId xmlns:a16="http://schemas.microsoft.com/office/drawing/2014/main" id="{04937204-592C-4349-82F5-2FCC5DA8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5" name="bvb-heading-3">
            <a:extLst xmlns:a="http://schemas.openxmlformats.org/drawingml/2006/main">
              <a:ext uri="{FF2B5EF4-FFF2-40B4-BE49-F238E27FC236}">
                <a16:creationId xmlns:a16="http://schemas.microsoft.com/office/drawing/2014/main" id="{AC843BC6-2BFB-4775-A42F-33EFA6B6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14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Repeat the control</a:t>
            </a:r>
          </a:p>
        </p:txBody>
      </p:sp>
      <p:sp>
        <p:nvSpPr>
          <p:cNvPr id="16" name="bvb-body-3">
            <a:extLst xmlns:a="http://schemas.openxmlformats.org/drawingml/2006/main">
              <a:ext uri="{FF2B5EF4-FFF2-40B4-BE49-F238E27FC236}">
                <a16:creationId xmlns:a16="http://schemas.microsoft.com/office/drawing/2014/main" id="{C5341BF7-9D1D-4A5E-82E6-D63CC496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Fresh objects and a clean control verify that any observed state change is variant-specific rather than environmental drift.</a:t>
            </a:r>
          </a:p>
        </p:txBody>
      </p:sp>
      <p:sp>
        <p:nvSpPr>
          <p:cNvPr id="17" name="bvb-isolation">
            <a:extLst xmlns:a="http://schemas.openxmlformats.org/drawingml/2006/main">
              <a:ext uri="{FF2B5EF4-FFF2-40B4-BE49-F238E27FC236}">
                <a16:creationId xmlns:a16="http://schemas.microsoft.com/office/drawing/2014/main" id="{7D6342B9-E8DB-41D6-8C99-5D6E461C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79120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21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Separate worker processes contain hung threads and pending I/O; any timeout taints and discards the qcow2 overlay.</a:t>
            </a:r>
          </a:p>
        </p:txBody>
      </p:sp>
    </p:spTree>
    <p:extLst>
      <p:ext uri="{BB962C8B-B14F-4D97-AF65-F5344CB8AC3E}">
        <p14:creationId xmlns:p14="http://schemas.microsoft.com/office/powerpoint/2010/main" val="3210360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3">
            <a:extLst xmlns:a="http://schemas.openxmlformats.org/drawingml/2006/main">
              <a:ext uri="{FF2B5EF4-FFF2-40B4-BE49-F238E27FC236}">
                <a16:creationId xmlns:a16="http://schemas.microsoft.com/office/drawing/2014/main" id="{3992D4CD-D818-449D-9BD3-78A70427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5 — OBSERVATION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60104856-8E7C-40E2-9434-A9D549C5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Four evidence systems answer different runtime questions</a:t>
            </a:r>
          </a:p>
        </p:txBody>
      </p:sp>
      <p:sp>
        <p:nvSpPr>
          <p:cNvPr id="3" name="footer-23">
            <a:extLst xmlns:a="http://schemas.openxmlformats.org/drawingml/2006/main">
              <a:ext uri="{FF2B5EF4-FFF2-40B4-BE49-F238E27FC236}">
                <a16:creationId xmlns:a16="http://schemas.microsoft.com/office/drawing/2014/main" id="{5E0480C9-0EF4-4A24-A1E0-67ECED69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evidence-systems-intro">
            <a:extLst xmlns:a="http://schemas.openxmlformats.org/drawingml/2006/main">
              <a:ext uri="{FF2B5EF4-FFF2-40B4-BE49-F238E27FC236}">
                <a16:creationId xmlns:a16="http://schemas.microsoft.com/office/drawing/2014/main" id="{70C13BB8-8D06-4F57-ACAE-653E37CE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391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No single observer is treated as universal proof. Guest state, host traces, crash correlation, and debugger attribution complement one another.</a:t>
            </a:r>
          </a:p>
        </p:txBody>
      </p:sp>
      <p:sp>
        <p:nvSpPr>
          <p:cNvPr id="5" name="evidence-systems-item-1-panel">
            <a:extLst xmlns:a="http://schemas.openxmlformats.org/drawingml/2006/main">
              <a:ext uri="{FF2B5EF4-FFF2-40B4-BE49-F238E27FC236}">
                <a16:creationId xmlns:a16="http://schemas.microsoft.com/office/drawing/2014/main" id="{DA68320A-2D73-4D7C-A86E-4D9FFD52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3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vidence-systems-item-1-heading">
            <a:extLst xmlns:a="http://schemas.openxmlformats.org/drawingml/2006/main">
              <a:ext uri="{FF2B5EF4-FFF2-40B4-BE49-F238E27FC236}">
                <a16:creationId xmlns:a16="http://schemas.microsoft.com/office/drawing/2014/main" id="{2FA1ED4E-A42A-4E61-AAB9-28B58E9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Guest-side oracle</a:t>
            </a:r>
          </a:p>
        </p:txBody>
      </p:sp>
      <p:sp>
        <p:nvSpPr>
          <p:cNvPr id="7" name="evidence-systems-item-1-body">
            <a:extLst xmlns:a="http://schemas.openxmlformats.org/drawingml/2006/main">
              <a:ext uri="{FF2B5EF4-FFF2-40B4-BE49-F238E27FC236}">
                <a16:creationId xmlns:a16="http://schemas.microsoft.com/office/drawing/2014/main" id="{46CBBCFF-E5E7-4263-BE9B-C30C9FF5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Did a section, process, file, registry object, or buffer canary change as predicted?</a:t>
            </a:r>
          </a:p>
        </p:txBody>
      </p:sp>
      <p:sp>
        <p:nvSpPr>
          <p:cNvPr id="8" name="evidence-systems-item-2-panel">
            <a:extLst xmlns:a="http://schemas.openxmlformats.org/drawingml/2006/main">
              <a:ext uri="{FF2B5EF4-FFF2-40B4-BE49-F238E27FC236}">
                <a16:creationId xmlns:a16="http://schemas.microsoft.com/office/drawing/2014/main" id="{02FA93DF-98D9-4E32-B031-E6354B99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288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idence-systems-item-2-heading">
            <a:extLst xmlns:a="http://schemas.openxmlformats.org/drawingml/2006/main">
              <a:ext uri="{FF2B5EF4-FFF2-40B4-BE49-F238E27FC236}">
                <a16:creationId xmlns:a16="http://schemas.microsoft.com/office/drawing/2014/main" id="{AF4538C8-0051-4953-B77C-BF77D550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574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Host instrumentation</a:t>
            </a:r>
          </a:p>
        </p:txBody>
      </p:sp>
      <p:sp>
        <p:nvSpPr>
          <p:cNvPr id="10" name="evidence-systems-item-2-body">
            <a:extLst xmlns:a="http://schemas.openxmlformats.org/drawingml/2006/main">
              <a:ext uri="{FF2B5EF4-FFF2-40B4-BE49-F238E27FC236}">
                <a16:creationId xmlns:a16="http://schemas.microsoft.com/office/drawing/2014/main" id="{930025D8-EA0B-412E-A1E1-33BC7C0A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527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Did a privileged instruction or PIO/MMIO transaction occur at the candidate PC or with expected operands?</a:t>
            </a:r>
          </a:p>
        </p:txBody>
      </p:sp>
      <p:sp>
        <p:nvSpPr>
          <p:cNvPr id="11" name="evidence-systems-item-3-panel">
            <a:extLst xmlns:a="http://schemas.openxmlformats.org/drawingml/2006/main">
              <a:ext uri="{FF2B5EF4-FFF2-40B4-BE49-F238E27FC236}">
                <a16:creationId xmlns:a16="http://schemas.microsoft.com/office/drawing/2014/main" id="{8FFB3AF6-A7C7-4191-A8F4-7237CE96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E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idence-systems-item-3-heading">
            <a:extLst xmlns:a="http://schemas.openxmlformats.org/drawingml/2006/main">
              <a:ext uri="{FF2B5EF4-FFF2-40B4-BE49-F238E27FC236}">
                <a16:creationId xmlns:a16="http://schemas.microsoft.com/office/drawing/2014/main" id="{A7DB78D1-F38C-4410-8F2F-F9F3626F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KsObserver</a:t>
            </a:r>
          </a:p>
        </p:txBody>
      </p:sp>
      <p:sp>
        <p:nvSpPr>
          <p:cNvPr id="13" name="evidence-systems-item-3-body">
            <a:extLst xmlns:a="http://schemas.openxmlformats.org/drawingml/2006/main">
              <a:ext uri="{FF2B5EF4-FFF2-40B4-BE49-F238E27FC236}">
                <a16:creationId xmlns:a16="http://schemas.microsoft.com/office/drawing/2014/main" id="{23FC2511-04A1-4875-B976-E0E71DF3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Which candidate recipe and run mode were active around a crash? It records lifecycle markers—not the sink.</a:t>
            </a:r>
          </a:p>
        </p:txBody>
      </p:sp>
      <p:sp>
        <p:nvSpPr>
          <p:cNvPr id="14" name="evidence-systems-item-4-panel">
            <a:extLst xmlns:a="http://schemas.openxmlformats.org/drawingml/2006/main">
              <a:ext uri="{FF2B5EF4-FFF2-40B4-BE49-F238E27FC236}">
                <a16:creationId xmlns:a16="http://schemas.microsoft.com/office/drawing/2014/main" id="{57675FEF-C787-4E37-AD6E-FE3D2507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10050"/>
            <a:ext cx="55340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vidence-systems-item-4-heading">
            <a:extLst xmlns:a="http://schemas.openxmlformats.org/drawingml/2006/main">
              <a:ext uri="{FF2B5EF4-FFF2-40B4-BE49-F238E27FC236}">
                <a16:creationId xmlns:a16="http://schemas.microsoft.com/office/drawing/2014/main" id="{055CF92A-3AAD-4019-A2E4-CB711D05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386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KD + dump analysis</a:t>
            </a:r>
          </a:p>
        </p:txBody>
      </p:sp>
      <p:sp>
        <p:nvSpPr>
          <p:cNvPr id="16" name="evidence-systems-item-4-body">
            <a:extLst xmlns:a="http://schemas.openxmlformats.org/drawingml/2006/main">
              <a:ext uri="{FF2B5EF4-FFF2-40B4-BE49-F238E27FC236}">
                <a16:creationId xmlns:a16="http://schemas.microsoft.com/office/drawing/2014/main" id="{41E958A0-9276-4728-BB01-C8964D72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933950"/>
            <a:ext cx="500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Which driver and decisive stack caused the kernel failure, and does controlled request data appear in crash state?</a:t>
            </a:r>
          </a:p>
        </p:txBody>
      </p:sp>
    </p:spTree>
    <p:extLst>
      <p:ext uri="{BB962C8B-B14F-4D97-AF65-F5344CB8AC3E}">
        <p14:creationId xmlns:p14="http://schemas.microsoft.com/office/powerpoint/2010/main" val="54620440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4">
            <a:extLst xmlns:a="http://schemas.openxmlformats.org/drawingml/2006/main">
              <a:ext uri="{FF2B5EF4-FFF2-40B4-BE49-F238E27FC236}">
                <a16:creationId xmlns:a16="http://schemas.microsoft.com/office/drawing/2014/main" id="{D1C83A23-4B25-4502-9FA8-F76FFAA7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5 — EVIDENCE GRADING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7995CFEC-AAF4-4226-BAF9-5B8AC6EA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Crash attribution and evidence level are separate ladders</a:t>
            </a:r>
          </a:p>
        </p:txBody>
      </p:sp>
      <p:sp>
        <p:nvSpPr>
          <p:cNvPr id="3" name="footer-24">
            <a:extLst xmlns:a="http://schemas.openxmlformats.org/drawingml/2006/main">
              <a:ext uri="{FF2B5EF4-FFF2-40B4-BE49-F238E27FC236}">
                <a16:creationId xmlns:a16="http://schemas.microsoft.com/office/drawing/2014/main" id="{570E1FE5-C4E4-4025-B353-29AACCAE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crash-ladder-header-bg-0">
            <a:extLst xmlns:a="http://schemas.openxmlformats.org/drawingml/2006/main">
              <a:ext uri="{FF2B5EF4-FFF2-40B4-BE49-F238E27FC236}">
                <a16:creationId xmlns:a16="http://schemas.microsoft.com/office/drawing/2014/main" id="{A4AD1A71-5A84-41F2-A34F-997E0D16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rash-ladder-header-0">
            <a:extLst xmlns:a="http://schemas.openxmlformats.org/drawingml/2006/main">
              <a:ext uri="{FF2B5EF4-FFF2-40B4-BE49-F238E27FC236}">
                <a16:creationId xmlns:a16="http://schemas.microsoft.com/office/drawing/2014/main" id="{43594784-112D-457E-85DD-72446FF1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Crash level</a:t>
            </a:r>
          </a:p>
        </p:txBody>
      </p:sp>
      <p:sp>
        <p:nvSpPr>
          <p:cNvPr id="6" name="crash-ladder-header-bg-1">
            <a:extLst xmlns:a="http://schemas.openxmlformats.org/drawingml/2006/main">
              <a:ext uri="{FF2B5EF4-FFF2-40B4-BE49-F238E27FC236}">
                <a16:creationId xmlns:a16="http://schemas.microsoft.com/office/drawing/2014/main" id="{3A06A850-6F49-4896-8C13-A395D11D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6954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rash-ladder-header-1">
            <a:extLst xmlns:a="http://schemas.openxmlformats.org/drawingml/2006/main">
              <a:ext uri="{FF2B5EF4-FFF2-40B4-BE49-F238E27FC236}">
                <a16:creationId xmlns:a16="http://schemas.microsoft.com/office/drawing/2014/main" id="{7C6B89C9-9BD0-47DD-BA29-587E7821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716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8" name="crash-ladder-header-bg-2">
            <a:extLst xmlns:a="http://schemas.openxmlformats.org/drawingml/2006/main">
              <a:ext uri="{FF2B5EF4-FFF2-40B4-BE49-F238E27FC236}">
                <a16:creationId xmlns:a16="http://schemas.microsoft.com/office/drawing/2014/main" id="{71B0CEFA-9643-4373-8AFE-4D2572B1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95450"/>
            <a:ext cx="335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rash-ladder-header-2">
            <a:extLst xmlns:a="http://schemas.openxmlformats.org/drawingml/2006/main">
              <a:ext uri="{FF2B5EF4-FFF2-40B4-BE49-F238E27FC236}">
                <a16:creationId xmlns:a16="http://schemas.microsoft.com/office/drawing/2014/main" id="{156C7F7A-C6E8-46D7-95A6-2CAC334F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716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0" name="crash-ladder-cell-bg-0-0">
            <a:extLst xmlns:a="http://schemas.openxmlformats.org/drawingml/2006/main">
              <a:ext uri="{FF2B5EF4-FFF2-40B4-BE49-F238E27FC236}">
                <a16:creationId xmlns:a16="http://schemas.microsoft.com/office/drawing/2014/main" id="{406939C9-FA8B-45BC-A84E-A2FA88CC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1" name="crash-ladder-cell-0-0">
            <a:extLst xmlns:a="http://schemas.openxmlformats.org/drawingml/2006/main">
              <a:ext uri="{FF2B5EF4-FFF2-40B4-BE49-F238E27FC236}">
                <a16:creationId xmlns:a16="http://schemas.microsoft.com/office/drawing/2014/main" id="{9786488F-D98A-4C44-8487-FB8AFD78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A0–A1</a:t>
            </a:r>
          </a:p>
        </p:txBody>
      </p:sp>
      <p:sp>
        <p:nvSpPr>
          <p:cNvPr id="12" name="crash-ladder-cell-bg-0-1">
            <a:extLst xmlns:a="http://schemas.openxmlformats.org/drawingml/2006/main">
              <a:ext uri="{FF2B5EF4-FFF2-40B4-BE49-F238E27FC236}">
                <a16:creationId xmlns:a16="http://schemas.microsoft.com/office/drawing/2014/main" id="{870022FC-F53F-4B65-86A6-7AF00531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622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3" name="crash-ladder-cell-0-1">
            <a:extLst xmlns:a="http://schemas.openxmlformats.org/drawingml/2006/main">
              <a:ext uri="{FF2B5EF4-FFF2-40B4-BE49-F238E27FC236}">
                <a16:creationId xmlns:a16="http://schemas.microsoft.com/office/drawing/2014/main" id="{1303B8A4-8521-4C90-ADE4-1CE5439F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384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Crash / service started</a:t>
            </a:r>
          </a:p>
        </p:txBody>
      </p:sp>
      <p:sp>
        <p:nvSpPr>
          <p:cNvPr id="14" name="crash-ladder-cell-bg-0-2">
            <a:extLst xmlns:a="http://schemas.openxmlformats.org/drawingml/2006/main">
              <a:ext uri="{FF2B5EF4-FFF2-40B4-BE49-F238E27FC236}">
                <a16:creationId xmlns:a16="http://schemas.microsoft.com/office/drawing/2014/main" id="{3548EE04-DA34-48C1-A459-009C414C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335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5" name="crash-ladder-cell-0-2">
            <a:extLst xmlns:a="http://schemas.openxmlformats.org/drawingml/2006/main">
              <a:ext uri="{FF2B5EF4-FFF2-40B4-BE49-F238E27FC236}">
                <a16:creationId xmlns:a16="http://schemas.microsoft.com/office/drawing/2014/main" id="{28C261CA-6CD8-4EFE-A878-34C6A8E2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384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Weak context; no active-request or DUT-fault proof</a:t>
            </a:r>
          </a:p>
        </p:txBody>
      </p:sp>
      <p:sp>
        <p:nvSpPr>
          <p:cNvPr id="16" name="crash-ladder-cell-bg-1-0">
            <a:extLst xmlns:a="http://schemas.openxmlformats.org/drawingml/2006/main">
              <a:ext uri="{FF2B5EF4-FFF2-40B4-BE49-F238E27FC236}">
                <a16:creationId xmlns:a16="http://schemas.microsoft.com/office/drawing/2014/main" id="{99522DDE-10FD-4F2C-9F1E-20609033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7" name="crash-ladder-cell-1-0">
            <a:extLst xmlns:a="http://schemas.openxmlformats.org/drawingml/2006/main">
              <a:ext uri="{FF2B5EF4-FFF2-40B4-BE49-F238E27FC236}">
                <a16:creationId xmlns:a16="http://schemas.microsoft.com/office/drawing/2014/main" id="{71355E59-3B71-442E-9313-E83901B1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8" name="crash-ladder-cell-bg-1-1">
            <a:extLst xmlns:a="http://schemas.openxmlformats.org/drawingml/2006/main">
              <a:ext uri="{FF2B5EF4-FFF2-40B4-BE49-F238E27FC236}">
                <a16:creationId xmlns:a16="http://schemas.microsoft.com/office/drawing/2014/main" id="{283145BD-9703-4C07-978D-FBD33963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9" name="crash-ladder-cell-1-1">
            <a:extLst xmlns:a="http://schemas.openxmlformats.org/drawingml/2006/main">
              <a:ext uri="{FF2B5EF4-FFF2-40B4-BE49-F238E27FC236}">
                <a16:creationId xmlns:a16="http://schemas.microsoft.com/office/drawing/2014/main" id="{4A9105D8-9A97-4FC1-8C2F-BEF8CB2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051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Matching active request</a:t>
            </a:r>
          </a:p>
        </p:txBody>
      </p:sp>
      <p:sp>
        <p:nvSpPr>
          <p:cNvPr id="20" name="crash-ladder-cell-bg-1-2">
            <a:extLst xmlns:a="http://schemas.openxmlformats.org/drawingml/2006/main">
              <a:ext uri="{FF2B5EF4-FFF2-40B4-BE49-F238E27FC236}">
                <a16:creationId xmlns:a16="http://schemas.microsoft.com/office/drawing/2014/main" id="{9A8844FB-71C8-4112-9505-299ADBB0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28950"/>
            <a:ext cx="335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1" name="crash-ladder-cell-1-2">
            <a:extLst xmlns:a="http://schemas.openxmlformats.org/drawingml/2006/main">
              <a:ext uri="{FF2B5EF4-FFF2-40B4-BE49-F238E27FC236}">
                <a16:creationId xmlns:a16="http://schemas.microsoft.com/office/drawing/2014/main" id="{B5421242-C514-4E50-9C1D-04B3364B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Observer or progress correlation; not sink reachability</a:t>
            </a:r>
          </a:p>
        </p:txBody>
      </p:sp>
      <p:sp>
        <p:nvSpPr>
          <p:cNvPr id="22" name="crash-ladder-cell-bg-2-0">
            <a:extLst xmlns:a="http://schemas.openxmlformats.org/drawingml/2006/main">
              <a:ext uri="{FF2B5EF4-FFF2-40B4-BE49-F238E27FC236}">
                <a16:creationId xmlns:a16="http://schemas.microsoft.com/office/drawing/2014/main" id="{B26EA9DC-925F-439E-A984-E800C7F4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3" name="crash-ladder-cell-2-0">
            <a:extLst xmlns:a="http://schemas.openxmlformats.org/drawingml/2006/main">
              <a:ext uri="{FF2B5EF4-FFF2-40B4-BE49-F238E27FC236}">
                <a16:creationId xmlns:a16="http://schemas.microsoft.com/office/drawing/2014/main" id="{5DDD01C8-EE81-46B0-9464-700AFDC4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24" name="crash-ladder-cell-bg-2-1">
            <a:extLst xmlns:a="http://schemas.openxmlformats.org/drawingml/2006/main">
              <a:ext uri="{FF2B5EF4-FFF2-40B4-BE49-F238E27FC236}">
                <a16:creationId xmlns:a16="http://schemas.microsoft.com/office/drawing/2014/main" id="{378F0EDF-48B7-4F57-B3CE-849D54F1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5" name="crash-ladder-cell-2-1">
            <a:extLst xmlns:a="http://schemas.openxmlformats.org/drawingml/2006/main">
              <a:ext uri="{FF2B5EF4-FFF2-40B4-BE49-F238E27FC236}">
                <a16:creationId xmlns:a16="http://schemas.microsoft.com/office/drawing/2014/main" id="{30D5787C-1836-4C81-96DD-7D2FAD4C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719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DUT attributed by KD/stack</a:t>
            </a:r>
          </a:p>
        </p:txBody>
      </p:sp>
      <p:sp>
        <p:nvSpPr>
          <p:cNvPr id="26" name="crash-ladder-cell-bg-2-2">
            <a:extLst xmlns:a="http://schemas.openxmlformats.org/drawingml/2006/main">
              <a:ext uri="{FF2B5EF4-FFF2-40B4-BE49-F238E27FC236}">
                <a16:creationId xmlns:a16="http://schemas.microsoft.com/office/drawing/2014/main" id="{BC1C904B-AB24-4447-BF71-D4DDA370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95700"/>
            <a:ext cx="335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7" name="crash-ladder-cell-2-2">
            <a:extLst xmlns:a="http://schemas.openxmlformats.org/drawingml/2006/main">
              <a:ext uri="{FF2B5EF4-FFF2-40B4-BE49-F238E27FC236}">
                <a16:creationId xmlns:a16="http://schemas.microsoft.com/office/drawing/2014/main" id="{A5B4AC6C-987C-4A5C-9117-8B9DA6DC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719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Driver fault, but candidate correlation may be absent</a:t>
            </a:r>
          </a:p>
        </p:txBody>
      </p:sp>
      <p:sp>
        <p:nvSpPr>
          <p:cNvPr id="28" name="crash-ladder-cell-bg-3-0">
            <a:extLst xmlns:a="http://schemas.openxmlformats.org/drawingml/2006/main">
              <a:ext uri="{FF2B5EF4-FFF2-40B4-BE49-F238E27FC236}">
                <a16:creationId xmlns:a16="http://schemas.microsoft.com/office/drawing/2014/main" id="{E35B156D-DC8E-4D31-B602-EB030C05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9" name="crash-ladder-cell-3-0">
            <a:extLst xmlns:a="http://schemas.openxmlformats.org/drawingml/2006/main">
              <a:ext uri="{FF2B5EF4-FFF2-40B4-BE49-F238E27FC236}">
                <a16:creationId xmlns:a16="http://schemas.microsoft.com/office/drawing/2014/main" id="{0453EF9F-F480-4565-AE47-C7F749E5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30" name="crash-ladder-cell-bg-3-1">
            <a:extLst xmlns:a="http://schemas.openxmlformats.org/drawingml/2006/main">
              <a:ext uri="{FF2B5EF4-FFF2-40B4-BE49-F238E27FC236}">
                <a16:creationId xmlns:a16="http://schemas.microsoft.com/office/drawing/2014/main" id="{676B3A77-FE7C-4DAD-A197-50110527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624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1" name="crash-ladder-cell-3-1">
            <a:extLst xmlns:a="http://schemas.openxmlformats.org/drawingml/2006/main">
              <a:ext uri="{FF2B5EF4-FFF2-40B4-BE49-F238E27FC236}">
                <a16:creationId xmlns:a16="http://schemas.microsoft.com/office/drawing/2014/main" id="{9330823D-2534-42BE-9A3C-CE2FD65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3865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A2 + A3</a:t>
            </a:r>
          </a:p>
        </p:txBody>
      </p:sp>
      <p:sp>
        <p:nvSpPr>
          <p:cNvPr id="32" name="crash-ladder-cell-bg-3-2">
            <a:extLst xmlns:a="http://schemas.openxmlformats.org/drawingml/2006/main">
              <a:ext uri="{FF2B5EF4-FFF2-40B4-BE49-F238E27FC236}">
                <a16:creationId xmlns:a16="http://schemas.microsoft.com/office/drawing/2014/main" id="{A8D5A684-0AF3-4E1C-A43D-C7B93D3D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62450"/>
            <a:ext cx="335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3" name="crash-ladder-cell-3-2">
            <a:extLst xmlns:a="http://schemas.openxmlformats.org/drawingml/2006/main">
              <a:ext uri="{FF2B5EF4-FFF2-40B4-BE49-F238E27FC236}">
                <a16:creationId xmlns:a16="http://schemas.microsoft.com/office/drawing/2014/main" id="{37B17396-7A83-4778-99C8-EC2E1CF5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3865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Matching request plus DUT fault attribution</a:t>
            </a:r>
          </a:p>
        </p:txBody>
      </p:sp>
      <p:sp>
        <p:nvSpPr>
          <p:cNvPr id="34" name="crash-ladder-cell-bg-4-0">
            <a:extLst xmlns:a="http://schemas.openxmlformats.org/drawingml/2006/main">
              <a:ext uri="{FF2B5EF4-FFF2-40B4-BE49-F238E27FC236}">
                <a16:creationId xmlns:a16="http://schemas.microsoft.com/office/drawing/2014/main" id="{D6B81CB5-5334-4FFA-9124-C044F20A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9200"/>
            <a:ext cx="133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5" name="crash-ladder-cell-4-0">
            <a:extLst xmlns:a="http://schemas.openxmlformats.org/drawingml/2006/main">
              <a:ext uri="{FF2B5EF4-FFF2-40B4-BE49-F238E27FC236}">
                <a16:creationId xmlns:a16="http://schemas.microsoft.com/office/drawing/2014/main" id="{CE04DDD8-9283-443F-BB8B-A78B0EA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10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36" name="crash-ladder-cell-bg-4-1">
            <a:extLst xmlns:a="http://schemas.openxmlformats.org/drawingml/2006/main">
              <a:ext uri="{FF2B5EF4-FFF2-40B4-BE49-F238E27FC236}">
                <a16:creationId xmlns:a16="http://schemas.microsoft.com/office/drawing/2014/main" id="{88457908-DB8F-43E8-96E5-40A49E94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2920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7" name="crash-ladder-cell-4-1">
            <a:extLst xmlns:a="http://schemas.openxmlformats.org/drawingml/2006/main">
              <a:ext uri="{FF2B5EF4-FFF2-40B4-BE49-F238E27FC236}">
                <a16:creationId xmlns:a16="http://schemas.microsoft.com/office/drawing/2014/main" id="{531B227B-2EDC-4E78-B41C-322D7908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054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A4 + controlled data</a:t>
            </a:r>
          </a:p>
        </p:txBody>
      </p:sp>
      <p:sp>
        <p:nvSpPr>
          <p:cNvPr id="38" name="crash-ladder-cell-bg-4-2">
            <a:extLst xmlns:a="http://schemas.openxmlformats.org/drawingml/2006/main">
              <a:ext uri="{FF2B5EF4-FFF2-40B4-BE49-F238E27FC236}">
                <a16:creationId xmlns:a16="http://schemas.microsoft.com/office/drawing/2014/main" id="{8676EC94-0504-476A-A947-C7BC13C5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29200"/>
            <a:ext cx="335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9" name="crash-ladder-cell-4-2">
            <a:extLst xmlns:a="http://schemas.openxmlformats.org/drawingml/2006/main">
              <a:ext uri="{FF2B5EF4-FFF2-40B4-BE49-F238E27FC236}">
                <a16:creationId xmlns:a16="http://schemas.microsoft.com/office/drawing/2014/main" id="{A305A8D3-EAB2-4610-B351-8D33895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05400"/>
            <a:ext cx="312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Strongest crash attribution model</a:t>
            </a:r>
          </a:p>
        </p:txBody>
      </p:sp>
      <p:sp>
        <p:nvSpPr>
          <p:cNvPr id="40" name="verdict-graph-graph-panel">
            <a:extLst xmlns:a="http://schemas.openxmlformats.org/drawingml/2006/main">
              <a:ext uri="{FF2B5EF4-FFF2-40B4-BE49-F238E27FC236}">
                <a16:creationId xmlns:a16="http://schemas.microsoft.com/office/drawing/2014/main" id="{A1D6EAAC-6764-4B64-A78B-A0AD606A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943350" cy="400050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verdict-graph-graph-kicker">
            <a:extLst xmlns:a="http://schemas.openxmlformats.org/drawingml/2006/main">
              <a:ext uri="{FF2B5EF4-FFF2-40B4-BE49-F238E27FC236}">
                <a16:creationId xmlns:a16="http://schemas.microsoft.com/office/drawing/2014/main" id="{FC16AE36-438F-4554-BE3B-CA85AF83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3371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EVIDENCE</a:t>
            </a:r>
          </a:p>
        </p:txBody>
      </p:sp>
      <p:sp>
        <p:nvSpPr>
          <p:cNvPr id="42" name="verdict-graph-graph-title">
            <a:extLst xmlns:a="http://schemas.openxmlformats.org/drawingml/2006/main">
              <a:ext uri="{FF2B5EF4-FFF2-40B4-BE49-F238E27FC236}">
                <a16:creationId xmlns:a16="http://schemas.microsoft.com/office/drawing/2014/main" id="{8FA070F6-4520-4921-9366-2BA0AFC5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05050"/>
            <a:ext cx="3371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64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Verdict distribution by evidence level</a:t>
            </a:r>
          </a:p>
        </p:txBody>
      </p:sp>
      <p:sp>
        <p:nvSpPr>
          <p:cNvPr id="43" name="verdict-graph-graph-desc">
            <a:extLst xmlns:a="http://schemas.openxmlformats.org/drawingml/2006/main">
              <a:ext uri="{FF2B5EF4-FFF2-40B4-BE49-F238E27FC236}">
                <a16:creationId xmlns:a16="http://schemas.microsoft.com/office/drawing/2014/main" id="{6FA4EDF8-A4C4-491E-9517-09954CA2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33718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Populate with E0–E5 counts split by reproduction and security. Break out E3 by match_strategy and E4 crashes by A3/A4/A5.</a:t>
            </a:r>
          </a:p>
        </p:txBody>
      </p:sp>
    </p:spTree>
    <p:extLst>
      <p:ext uri="{BB962C8B-B14F-4D97-AF65-F5344CB8AC3E}">
        <p14:creationId xmlns:p14="http://schemas.microsoft.com/office/powerpoint/2010/main" val="1145754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5">
            <a:extLst xmlns:a="http://schemas.openxmlformats.org/drawingml/2006/main">
              <a:ext uri="{FF2B5EF4-FFF2-40B4-BE49-F238E27FC236}">
                <a16:creationId xmlns:a16="http://schemas.microsoft.com/office/drawing/2014/main" id="{5607C272-3C33-4B25-AB26-EE9C6198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STAGE 5 — INTERPRETATION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B594B175-0211-4A27-9D31-AEF0E9C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3225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Verdicts separate four independent dimensions</a:t>
            </a:r>
          </a:p>
        </p:txBody>
      </p:sp>
      <p:sp>
        <p:nvSpPr>
          <p:cNvPr id="3" name="footer-25">
            <a:extLst xmlns:a="http://schemas.openxmlformats.org/drawingml/2006/main">
              <a:ext uri="{FF2B5EF4-FFF2-40B4-BE49-F238E27FC236}">
                <a16:creationId xmlns:a16="http://schemas.microsoft.com/office/drawing/2014/main" id="{C7F3043A-3009-4F13-8B47-626FDEC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8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C95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C95A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verdict-table-header-bg-0">
            <a:extLst xmlns:a="http://schemas.openxmlformats.org/drawingml/2006/main">
              <a:ext uri="{FF2B5EF4-FFF2-40B4-BE49-F238E27FC236}">
                <a16:creationId xmlns:a16="http://schemas.microsoft.com/office/drawing/2014/main" id="{0B44FFC6-D2CA-4BF9-8FFA-B880F434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667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erdict-table-header-0">
            <a:extLst xmlns:a="http://schemas.openxmlformats.org/drawingml/2006/main">
              <a:ext uri="{FF2B5EF4-FFF2-40B4-BE49-F238E27FC236}">
                <a16:creationId xmlns:a16="http://schemas.microsoft.com/office/drawing/2014/main" id="{36342CBD-E9DC-4FBD-BD3B-F5B4092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3438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outcome</a:t>
            </a:r>
          </a:p>
        </p:txBody>
      </p:sp>
      <p:sp>
        <p:nvSpPr>
          <p:cNvPr id="6" name="verdict-table-header-bg-1">
            <a:extLst xmlns:a="http://schemas.openxmlformats.org/drawingml/2006/main">
              <a:ext uri="{FF2B5EF4-FFF2-40B4-BE49-F238E27FC236}">
                <a16:creationId xmlns:a16="http://schemas.microsoft.com/office/drawing/2014/main" id="{E187971E-51A6-45A4-9498-0FCE56C6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657350"/>
            <a:ext cx="2143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verdict-table-header-1">
            <a:extLst xmlns:a="http://schemas.openxmlformats.org/drawingml/2006/main">
              <a:ext uri="{FF2B5EF4-FFF2-40B4-BE49-F238E27FC236}">
                <a16:creationId xmlns:a16="http://schemas.microsoft.com/office/drawing/2014/main" id="{BA4EDD1F-C5D4-4616-9A62-4F51DFB3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33550"/>
            <a:ext cx="1914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Reproduction</a:t>
            </a:r>
          </a:p>
        </p:txBody>
      </p:sp>
      <p:sp>
        <p:nvSpPr>
          <p:cNvPr id="8" name="verdict-table-header-bg-2">
            <a:extLst xmlns:a="http://schemas.openxmlformats.org/drawingml/2006/main">
              <a:ext uri="{FF2B5EF4-FFF2-40B4-BE49-F238E27FC236}">
                <a16:creationId xmlns:a16="http://schemas.microsoft.com/office/drawing/2014/main" id="{43762FE3-A9A0-4C75-9009-51ED6F23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57350"/>
            <a:ext cx="295275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verdict-table-header-2">
            <a:extLst xmlns:a="http://schemas.openxmlformats.org/drawingml/2006/main">
              <a:ext uri="{FF2B5EF4-FFF2-40B4-BE49-F238E27FC236}">
                <a16:creationId xmlns:a16="http://schemas.microsoft.com/office/drawing/2014/main" id="{5E9B440C-87D8-4572-86F1-554D0DEC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272415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10" name="verdict-table-header-bg-3">
            <a:extLst xmlns:a="http://schemas.openxmlformats.org/drawingml/2006/main">
              <a:ext uri="{FF2B5EF4-FFF2-40B4-BE49-F238E27FC236}">
                <a16:creationId xmlns:a16="http://schemas.microsoft.com/office/drawing/2014/main" id="{C5EA778A-5243-43B2-9C27-4A63D171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262890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C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erdict-table-header-3">
            <a:extLst xmlns:a="http://schemas.openxmlformats.org/drawingml/2006/main">
              <a:ext uri="{FF2B5EF4-FFF2-40B4-BE49-F238E27FC236}">
                <a16:creationId xmlns:a16="http://schemas.microsoft.com/office/drawing/2014/main" id="{39694888-3423-47E0-AD71-4D9AD252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33550"/>
            <a:ext cx="240030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/ confidence</a:t>
            </a:r>
          </a:p>
        </p:txBody>
      </p:sp>
      <p:sp>
        <p:nvSpPr>
          <p:cNvPr id="12" name="verdict-table-cell-bg-0-0">
            <a:extLst xmlns:a="http://schemas.openxmlformats.org/drawingml/2006/main">
              <a:ext uri="{FF2B5EF4-FFF2-40B4-BE49-F238E27FC236}">
                <a16:creationId xmlns:a16="http://schemas.microsoft.com/office/drawing/2014/main" id="{99F49CA2-DF0F-4834-BE64-D8FABCB1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1507"/>
            <a:ext cx="3667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3" name="verdict-table-cell-0-0">
            <a:extLst xmlns:a="http://schemas.openxmlformats.org/drawingml/2006/main">
              <a:ext uri="{FF2B5EF4-FFF2-40B4-BE49-F238E27FC236}">
                <a16:creationId xmlns:a16="http://schemas.microsoft.com/office/drawing/2014/main" id="{8BE09C51-229C-4BB5-9EAC-F4203047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7707"/>
            <a:ext cx="3438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Variant-only guest oracle effect</a:t>
            </a:r>
          </a:p>
        </p:txBody>
      </p:sp>
      <p:sp>
        <p:nvSpPr>
          <p:cNvPr id="14" name="verdict-table-cell-bg-0-1">
            <a:extLst xmlns:a="http://schemas.openxmlformats.org/drawingml/2006/main">
              <a:ext uri="{FF2B5EF4-FFF2-40B4-BE49-F238E27FC236}">
                <a16:creationId xmlns:a16="http://schemas.microsoft.com/office/drawing/2014/main" id="{040123FE-BB6F-4348-8681-D1390F11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261507"/>
            <a:ext cx="2143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5" name="verdict-table-cell-0-1">
            <a:extLst xmlns:a="http://schemas.openxmlformats.org/drawingml/2006/main">
              <a:ext uri="{FF2B5EF4-FFF2-40B4-BE49-F238E27FC236}">
                <a16:creationId xmlns:a16="http://schemas.microsoft.com/office/drawing/2014/main" id="{AE258A01-055B-4FD4-87C2-F7A2CA5B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37707"/>
            <a:ext cx="1914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16" name="verdict-table-cell-bg-0-2">
            <a:extLst xmlns:a="http://schemas.openxmlformats.org/drawingml/2006/main">
              <a:ext uri="{FF2B5EF4-FFF2-40B4-BE49-F238E27FC236}">
                <a16:creationId xmlns:a16="http://schemas.microsoft.com/office/drawing/2014/main" id="{BDE089E3-DC99-459C-8DA1-4A837FC5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1507"/>
            <a:ext cx="295275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7" name="verdict-table-cell-0-2">
            <a:extLst xmlns:a="http://schemas.openxmlformats.org/drawingml/2006/main">
              <a:ext uri="{FF2B5EF4-FFF2-40B4-BE49-F238E27FC236}">
                <a16:creationId xmlns:a16="http://schemas.microsoft.com/office/drawing/2014/main" id="{448C007A-8248-48B3-837C-E2418513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37707"/>
            <a:ext cx="272415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behavior_confirmed</a:t>
            </a:r>
          </a:p>
        </p:txBody>
      </p:sp>
      <p:sp>
        <p:nvSpPr>
          <p:cNvPr id="18" name="verdict-table-cell-bg-0-3">
            <a:extLst xmlns:a="http://schemas.openxmlformats.org/drawingml/2006/main">
              <a:ext uri="{FF2B5EF4-FFF2-40B4-BE49-F238E27FC236}">
                <a16:creationId xmlns:a16="http://schemas.microsoft.com/office/drawing/2014/main" id="{5CAA3268-E342-4C18-9DC8-EC71B6A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1507"/>
            <a:ext cx="262890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19" name="verdict-table-cell-0-3">
            <a:extLst xmlns:a="http://schemas.openxmlformats.org/drawingml/2006/main">
              <a:ext uri="{FF2B5EF4-FFF2-40B4-BE49-F238E27FC236}">
                <a16:creationId xmlns:a16="http://schemas.microsoft.com/office/drawing/2014/main" id="{9128305B-746C-4B80-A5C2-A23ECBC8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37707"/>
            <a:ext cx="240030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E4 / 0.93</a:t>
            </a:r>
          </a:p>
        </p:txBody>
      </p:sp>
      <p:sp>
        <p:nvSpPr>
          <p:cNvPr id="20" name="verdict-table-cell-bg-1-0">
            <a:extLst xmlns:a="http://schemas.openxmlformats.org/drawingml/2006/main">
              <a:ext uri="{FF2B5EF4-FFF2-40B4-BE49-F238E27FC236}">
                <a16:creationId xmlns:a16="http://schemas.microsoft.com/office/drawing/2014/main" id="{87291475-D0AC-4D89-9202-72DEF45D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5664"/>
            <a:ext cx="3667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1" name="verdict-table-cell-1-0">
            <a:extLst xmlns:a="http://schemas.openxmlformats.org/drawingml/2006/main">
              <a:ext uri="{FF2B5EF4-FFF2-40B4-BE49-F238E27FC236}">
                <a16:creationId xmlns:a16="http://schemas.microsoft.com/office/drawing/2014/main" id="{BFDDF3DD-47D4-4E21-A991-E69D3507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41864"/>
            <a:ext cx="3438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Exact PC / privileged operation observed</a:t>
            </a:r>
          </a:p>
        </p:txBody>
      </p:sp>
      <p:sp>
        <p:nvSpPr>
          <p:cNvPr id="22" name="verdict-table-cell-bg-1-1">
            <a:extLst xmlns:a="http://schemas.openxmlformats.org/drawingml/2006/main">
              <a:ext uri="{FF2B5EF4-FFF2-40B4-BE49-F238E27FC236}">
                <a16:creationId xmlns:a16="http://schemas.microsoft.com/office/drawing/2014/main" id="{EFE94232-5DD8-4D3D-B79E-580C263E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865664"/>
            <a:ext cx="2143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3" name="verdict-table-cell-1-1">
            <a:extLst xmlns:a="http://schemas.openxmlformats.org/drawingml/2006/main">
              <a:ext uri="{FF2B5EF4-FFF2-40B4-BE49-F238E27FC236}">
                <a16:creationId xmlns:a16="http://schemas.microsoft.com/office/drawing/2014/main" id="{25121795-8206-41D6-A561-2E07A793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41864"/>
            <a:ext cx="1914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inconclusive</a:t>
            </a:r>
          </a:p>
        </p:txBody>
      </p:sp>
      <p:sp>
        <p:nvSpPr>
          <p:cNvPr id="24" name="verdict-table-cell-bg-1-2">
            <a:extLst xmlns:a="http://schemas.openxmlformats.org/drawingml/2006/main">
              <a:ext uri="{FF2B5EF4-FFF2-40B4-BE49-F238E27FC236}">
                <a16:creationId xmlns:a16="http://schemas.microsoft.com/office/drawing/2014/main" id="{0F88A4E6-28A9-45D0-A320-02B4CA34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65664"/>
            <a:ext cx="295275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5" name="verdict-table-cell-1-2">
            <a:extLst xmlns:a="http://schemas.openxmlformats.org/drawingml/2006/main">
              <a:ext uri="{FF2B5EF4-FFF2-40B4-BE49-F238E27FC236}">
                <a16:creationId xmlns:a16="http://schemas.microsoft.com/office/drawing/2014/main" id="{E440099E-35FC-4997-BA74-4AE6B31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1864"/>
            <a:ext cx="272415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6" name="verdict-table-cell-bg-1-3">
            <a:extLst xmlns:a="http://schemas.openxmlformats.org/drawingml/2006/main">
              <a:ext uri="{FF2B5EF4-FFF2-40B4-BE49-F238E27FC236}">
                <a16:creationId xmlns:a16="http://schemas.microsoft.com/office/drawing/2014/main" id="{EA2E9F1B-57A4-473B-A191-176B8470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65664"/>
            <a:ext cx="262890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7" name="verdict-table-cell-1-3">
            <a:extLst xmlns:a="http://schemas.openxmlformats.org/drawingml/2006/main">
              <a:ext uri="{FF2B5EF4-FFF2-40B4-BE49-F238E27FC236}">
                <a16:creationId xmlns:a16="http://schemas.microsoft.com/office/drawing/2014/main" id="{DF105D91-9555-4EDE-BF6F-D68BD41C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41864"/>
            <a:ext cx="240030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E3 / up to 0.72</a:t>
            </a:r>
          </a:p>
        </p:txBody>
      </p:sp>
      <p:sp>
        <p:nvSpPr>
          <p:cNvPr id="28" name="verdict-table-cell-bg-2-0">
            <a:extLst xmlns:a="http://schemas.openxmlformats.org/drawingml/2006/main">
              <a:ext uri="{FF2B5EF4-FFF2-40B4-BE49-F238E27FC236}">
                <a16:creationId xmlns:a16="http://schemas.microsoft.com/office/drawing/2014/main" id="{E57CF80A-2CF5-4906-8311-7299B72C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9821"/>
            <a:ext cx="3667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29" name="verdict-table-cell-2-0">
            <a:extLst xmlns:a="http://schemas.openxmlformats.org/drawingml/2006/main">
              <a:ext uri="{FF2B5EF4-FFF2-40B4-BE49-F238E27FC236}">
                <a16:creationId xmlns:a16="http://schemas.microsoft.com/office/drawing/2014/main" id="{04CCD609-8636-4DEB-A020-C56DBCFE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6021"/>
            <a:ext cx="3438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Driver-attributed crash</a:t>
            </a:r>
          </a:p>
        </p:txBody>
      </p:sp>
      <p:sp>
        <p:nvSpPr>
          <p:cNvPr id="30" name="verdict-table-cell-bg-2-1">
            <a:extLst xmlns:a="http://schemas.openxmlformats.org/drawingml/2006/main">
              <a:ext uri="{FF2B5EF4-FFF2-40B4-BE49-F238E27FC236}">
                <a16:creationId xmlns:a16="http://schemas.microsoft.com/office/drawing/2014/main" id="{F3A828D8-7A4F-4D1F-8F3B-68D6228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469821"/>
            <a:ext cx="2143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1" name="verdict-table-cell-2-1">
            <a:extLst xmlns:a="http://schemas.openxmlformats.org/drawingml/2006/main">
              <a:ext uri="{FF2B5EF4-FFF2-40B4-BE49-F238E27FC236}">
                <a16:creationId xmlns:a16="http://schemas.microsoft.com/office/drawing/2014/main" id="{48C48DCD-17FA-4FBD-9339-7CB9D523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46021"/>
            <a:ext cx="1914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confirmed</a:t>
            </a:r>
          </a:p>
        </p:txBody>
      </p:sp>
      <p:sp>
        <p:nvSpPr>
          <p:cNvPr id="32" name="verdict-table-cell-bg-2-2">
            <a:extLst xmlns:a="http://schemas.openxmlformats.org/drawingml/2006/main">
              <a:ext uri="{FF2B5EF4-FFF2-40B4-BE49-F238E27FC236}">
                <a16:creationId xmlns:a16="http://schemas.microsoft.com/office/drawing/2014/main" id="{02DB5B1E-927B-4311-9260-0C2692D3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69821"/>
            <a:ext cx="295275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3" name="verdict-table-cell-2-2">
            <a:extLst xmlns:a="http://schemas.openxmlformats.org/drawingml/2006/main">
              <a:ext uri="{FF2B5EF4-FFF2-40B4-BE49-F238E27FC236}">
                <a16:creationId xmlns:a16="http://schemas.microsoft.com/office/drawing/2014/main" id="{F83CBD6E-BF6B-426D-8D6B-3857ABA2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6021"/>
            <a:ext cx="272415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likely_vulnerable</a:t>
            </a:r>
          </a:p>
        </p:txBody>
      </p:sp>
      <p:sp>
        <p:nvSpPr>
          <p:cNvPr id="34" name="verdict-table-cell-bg-2-3">
            <a:extLst xmlns:a="http://schemas.openxmlformats.org/drawingml/2006/main">
              <a:ext uri="{FF2B5EF4-FFF2-40B4-BE49-F238E27FC236}">
                <a16:creationId xmlns:a16="http://schemas.microsoft.com/office/drawing/2014/main" id="{B72D9B56-D30D-4A60-9418-AD6EDAB0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69821"/>
            <a:ext cx="262890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5" name="verdict-table-cell-2-3">
            <a:extLst xmlns:a="http://schemas.openxmlformats.org/drawingml/2006/main">
              <a:ext uri="{FF2B5EF4-FFF2-40B4-BE49-F238E27FC236}">
                <a16:creationId xmlns:a16="http://schemas.microsoft.com/office/drawing/2014/main" id="{A43D192B-80F5-4AB3-BB77-F44E8646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46021"/>
            <a:ext cx="240030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E4 / 0.88</a:t>
            </a:r>
          </a:p>
        </p:txBody>
      </p:sp>
      <p:sp>
        <p:nvSpPr>
          <p:cNvPr id="36" name="verdict-table-cell-bg-3-0">
            <a:extLst xmlns:a="http://schemas.openxmlformats.org/drawingml/2006/main">
              <a:ext uri="{FF2B5EF4-FFF2-40B4-BE49-F238E27FC236}">
                <a16:creationId xmlns:a16="http://schemas.microsoft.com/office/drawing/2014/main" id="{D0450E0B-826A-4CFB-A73F-8FDB5BCB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3979"/>
            <a:ext cx="3667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7" name="verdict-table-cell-3-0">
            <a:extLst xmlns:a="http://schemas.openxmlformats.org/drawingml/2006/main">
              <a:ext uri="{FF2B5EF4-FFF2-40B4-BE49-F238E27FC236}">
                <a16:creationId xmlns:a16="http://schemas.microsoft.com/office/drawing/2014/main" id="{3E5CB4BF-FE0C-4244-A696-AADC8BD9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0179"/>
            <a:ext cx="3438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Exact clean negative</a:t>
            </a:r>
          </a:p>
        </p:txBody>
      </p:sp>
      <p:sp>
        <p:nvSpPr>
          <p:cNvPr id="38" name="verdict-table-cell-bg-3-1">
            <a:extLst xmlns:a="http://schemas.openxmlformats.org/drawingml/2006/main">
              <a:ext uri="{FF2B5EF4-FFF2-40B4-BE49-F238E27FC236}">
                <a16:creationId xmlns:a16="http://schemas.microsoft.com/office/drawing/2014/main" id="{A168017A-9B9B-448D-92A2-79C44164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73979"/>
            <a:ext cx="2143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39" name="verdict-table-cell-3-1">
            <a:extLst xmlns:a="http://schemas.openxmlformats.org/drawingml/2006/main">
              <a:ext uri="{FF2B5EF4-FFF2-40B4-BE49-F238E27FC236}">
                <a16:creationId xmlns:a16="http://schemas.microsoft.com/office/drawing/2014/main" id="{DEFDF00F-F6DB-451E-94AB-6566E106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50179"/>
            <a:ext cx="1914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not_reproduced</a:t>
            </a:r>
          </a:p>
        </p:txBody>
      </p:sp>
      <p:sp>
        <p:nvSpPr>
          <p:cNvPr id="40" name="verdict-table-cell-bg-3-2">
            <a:extLst xmlns:a="http://schemas.openxmlformats.org/drawingml/2006/main">
              <a:ext uri="{FF2B5EF4-FFF2-40B4-BE49-F238E27FC236}">
                <a16:creationId xmlns:a16="http://schemas.microsoft.com/office/drawing/2014/main" id="{18B360EA-CA1D-4386-8D73-03A74996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73979"/>
            <a:ext cx="295275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1" name="verdict-table-cell-3-2">
            <a:extLst xmlns:a="http://schemas.openxmlformats.org/drawingml/2006/main">
              <a:ext uri="{FF2B5EF4-FFF2-40B4-BE49-F238E27FC236}">
                <a16:creationId xmlns:a16="http://schemas.microsoft.com/office/drawing/2014/main" id="{90D5F579-7B56-4966-827A-67445465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50179"/>
            <a:ext cx="272415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not_vulnerable_by_test</a:t>
            </a:r>
          </a:p>
        </p:txBody>
      </p:sp>
      <p:sp>
        <p:nvSpPr>
          <p:cNvPr id="42" name="verdict-table-cell-bg-3-3">
            <a:extLst xmlns:a="http://schemas.openxmlformats.org/drawingml/2006/main">
              <a:ext uri="{FF2B5EF4-FFF2-40B4-BE49-F238E27FC236}">
                <a16:creationId xmlns:a16="http://schemas.microsoft.com/office/drawing/2014/main" id="{96BA4D6C-BB42-4307-B6F9-7344ACC5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73979"/>
            <a:ext cx="262890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3" name="verdict-table-cell-3-3">
            <a:extLst xmlns:a="http://schemas.openxmlformats.org/drawingml/2006/main">
              <a:ext uri="{FF2B5EF4-FFF2-40B4-BE49-F238E27FC236}">
                <a16:creationId xmlns:a16="http://schemas.microsoft.com/office/drawing/2014/main" id="{7ECF219B-8A0A-4D0F-9FEB-FE036249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50179"/>
            <a:ext cx="240030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E1 / 0.80–0.86</a:t>
            </a:r>
          </a:p>
        </p:txBody>
      </p:sp>
      <p:sp>
        <p:nvSpPr>
          <p:cNvPr id="44" name="verdict-table-cell-bg-4-0">
            <a:extLst xmlns:a="http://schemas.openxmlformats.org/drawingml/2006/main">
              <a:ext uri="{FF2B5EF4-FFF2-40B4-BE49-F238E27FC236}">
                <a16:creationId xmlns:a16="http://schemas.microsoft.com/office/drawing/2014/main" id="{2AFDC416-3C8B-44D2-8B72-F9714123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78136"/>
            <a:ext cx="3667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5" name="verdict-table-cell-4-0">
            <a:extLst xmlns:a="http://schemas.openxmlformats.org/drawingml/2006/main">
              <a:ext uri="{FF2B5EF4-FFF2-40B4-BE49-F238E27FC236}">
                <a16:creationId xmlns:a16="http://schemas.microsoft.com/office/drawing/2014/main" id="{06D2ABDA-D916-4D89-8D2F-77A92CFE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54336"/>
            <a:ext cx="3438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Guided clean negative</a:t>
            </a:r>
          </a:p>
        </p:txBody>
      </p:sp>
      <p:sp>
        <p:nvSpPr>
          <p:cNvPr id="46" name="verdict-table-cell-bg-4-1">
            <a:extLst xmlns:a="http://schemas.openxmlformats.org/drawingml/2006/main">
              <a:ext uri="{FF2B5EF4-FFF2-40B4-BE49-F238E27FC236}">
                <a16:creationId xmlns:a16="http://schemas.microsoft.com/office/drawing/2014/main" id="{82CC7727-EE40-4C4D-B14D-870017A2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678136"/>
            <a:ext cx="2143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7" name="verdict-table-cell-4-1">
            <a:extLst xmlns:a="http://schemas.openxmlformats.org/drawingml/2006/main">
              <a:ext uri="{FF2B5EF4-FFF2-40B4-BE49-F238E27FC236}">
                <a16:creationId xmlns:a16="http://schemas.microsoft.com/office/drawing/2014/main" id="{A21A2368-4C6D-4F85-A7B9-55195188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754336"/>
            <a:ext cx="1914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inconclusive</a:t>
            </a:r>
          </a:p>
        </p:txBody>
      </p:sp>
      <p:sp>
        <p:nvSpPr>
          <p:cNvPr id="48" name="verdict-table-cell-bg-4-2">
            <a:extLst xmlns:a="http://schemas.openxmlformats.org/drawingml/2006/main">
              <a:ext uri="{FF2B5EF4-FFF2-40B4-BE49-F238E27FC236}">
                <a16:creationId xmlns:a16="http://schemas.microsoft.com/office/drawing/2014/main" id="{02E72E88-190E-4142-A09C-C8C32FF5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78136"/>
            <a:ext cx="295275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49" name="verdict-table-cell-4-2">
            <a:extLst xmlns:a="http://schemas.openxmlformats.org/drawingml/2006/main">
              <a:ext uri="{FF2B5EF4-FFF2-40B4-BE49-F238E27FC236}">
                <a16:creationId xmlns:a16="http://schemas.microsoft.com/office/drawing/2014/main" id="{EA340DA2-7C1F-42F1-A714-97B0ADFE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54336"/>
            <a:ext cx="272415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50" name="verdict-table-cell-bg-4-3">
            <a:extLst xmlns:a="http://schemas.openxmlformats.org/drawingml/2006/main">
              <a:ext uri="{FF2B5EF4-FFF2-40B4-BE49-F238E27FC236}">
                <a16:creationId xmlns:a16="http://schemas.microsoft.com/office/drawing/2014/main" id="{C91653E5-D6CD-4192-9281-04DFB5F8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78136"/>
            <a:ext cx="262890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1" name="verdict-table-cell-4-3">
            <a:extLst xmlns:a="http://schemas.openxmlformats.org/drawingml/2006/main">
              <a:ext uri="{FF2B5EF4-FFF2-40B4-BE49-F238E27FC236}">
                <a16:creationId xmlns:a16="http://schemas.microsoft.com/office/drawing/2014/main" id="{18E5851F-23B4-49D4-B540-87EFD5C2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54336"/>
            <a:ext cx="240030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confidence 0.42</a:t>
            </a:r>
          </a:p>
        </p:txBody>
      </p:sp>
      <p:sp>
        <p:nvSpPr>
          <p:cNvPr id="52" name="verdict-table-cell-bg-5-0">
            <a:extLst xmlns:a="http://schemas.openxmlformats.org/drawingml/2006/main">
              <a:ext uri="{FF2B5EF4-FFF2-40B4-BE49-F238E27FC236}">
                <a16:creationId xmlns:a16="http://schemas.microsoft.com/office/drawing/2014/main" id="{21116637-1F71-4C54-A796-24DBD9EF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2293"/>
            <a:ext cx="3667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3" name="verdict-table-cell-5-0">
            <a:extLst xmlns:a="http://schemas.openxmlformats.org/drawingml/2006/main">
              <a:ext uri="{FF2B5EF4-FFF2-40B4-BE49-F238E27FC236}">
                <a16:creationId xmlns:a16="http://schemas.microsoft.com/office/drawing/2014/main" id="{E1833E3F-2C6D-4761-ADCB-D804940F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8493"/>
            <a:ext cx="3438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Harness failure</a:t>
            </a:r>
          </a:p>
        </p:txBody>
      </p:sp>
      <p:sp>
        <p:nvSpPr>
          <p:cNvPr id="54" name="verdict-table-cell-bg-5-1">
            <a:extLst xmlns:a="http://schemas.openxmlformats.org/drawingml/2006/main">
              <a:ext uri="{FF2B5EF4-FFF2-40B4-BE49-F238E27FC236}">
                <a16:creationId xmlns:a16="http://schemas.microsoft.com/office/drawing/2014/main" id="{2C428D24-2B54-46C2-BDC6-E5E4E045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282293"/>
            <a:ext cx="2143125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5" name="verdict-table-cell-5-1">
            <a:extLst xmlns:a="http://schemas.openxmlformats.org/drawingml/2006/main">
              <a:ext uri="{FF2B5EF4-FFF2-40B4-BE49-F238E27FC236}">
                <a16:creationId xmlns:a16="http://schemas.microsoft.com/office/drawing/2014/main" id="{EE307D33-1CD5-4784-8D9A-BD634FAE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358493"/>
            <a:ext cx="1914525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harness_error</a:t>
            </a:r>
          </a:p>
        </p:txBody>
      </p:sp>
      <p:sp>
        <p:nvSpPr>
          <p:cNvPr id="56" name="verdict-table-cell-bg-5-2">
            <a:extLst xmlns:a="http://schemas.openxmlformats.org/drawingml/2006/main">
              <a:ext uri="{FF2B5EF4-FFF2-40B4-BE49-F238E27FC236}">
                <a16:creationId xmlns:a16="http://schemas.microsoft.com/office/drawing/2014/main" id="{156C2462-07F1-4E49-9AC9-2250CDF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82293"/>
            <a:ext cx="295275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7" name="verdict-table-cell-5-2">
            <a:extLst xmlns:a="http://schemas.openxmlformats.org/drawingml/2006/main">
              <a:ext uri="{FF2B5EF4-FFF2-40B4-BE49-F238E27FC236}">
                <a16:creationId xmlns:a16="http://schemas.microsoft.com/office/drawing/2014/main" id="{B1D622FD-17BB-4DA7-BC9C-C7D6735C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58493"/>
            <a:ext cx="272415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58" name="verdict-table-cell-bg-5-3">
            <a:extLst xmlns:a="http://schemas.openxmlformats.org/drawingml/2006/main">
              <a:ext uri="{FF2B5EF4-FFF2-40B4-BE49-F238E27FC236}">
                <a16:creationId xmlns:a16="http://schemas.microsoft.com/office/drawing/2014/main" id="{99115F83-633A-4E8A-A5F5-7C9D4DB6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82293"/>
            <a:ext cx="2628900" cy="6041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7620">
            <a:solidFill>
              <a:srgbClr val="B8BCC4"/>
            </a:solidFill>
            <a:prstDash val="solid"/>
          </a:ln>
        </p:spPr>
      </p:sp>
      <p:sp>
        <p:nvSpPr>
          <p:cNvPr id="59" name="verdict-table-cell-5-3">
            <a:extLst xmlns:a="http://schemas.openxmlformats.org/drawingml/2006/main">
              <a:ext uri="{FF2B5EF4-FFF2-40B4-BE49-F238E27FC236}">
                <a16:creationId xmlns:a16="http://schemas.microsoft.com/office/drawing/2014/main" id="{B04A2C5A-B126-4223-9910-4742F415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358493"/>
            <a:ext cx="2400300" cy="45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E0 / 0</a:t>
            </a:r>
          </a:p>
        </p:txBody>
      </p:sp>
      <p:sp>
        <p:nvSpPr>
          <p:cNvPr id="60" name="verdict-boundary">
            <a:extLst xmlns:a="http://schemas.openxmlformats.org/drawingml/2006/main">
              <a:ext uri="{FF2B5EF4-FFF2-40B4-BE49-F238E27FC236}">
                <a16:creationId xmlns:a16="http://schemas.microsoft.com/office/drawing/2014/main" id="{C247E398-E442-482B-812B-5A116A97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007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597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E5 exists in the evaluator, but the current runner does not implement a security-boundary classifier and supplies boundary_crossed = false.</a:t>
            </a:r>
          </a:p>
        </p:txBody>
      </p:sp>
    </p:spTree>
    <p:extLst>
      <p:ext uri="{BB962C8B-B14F-4D97-AF65-F5344CB8AC3E}">
        <p14:creationId xmlns:p14="http://schemas.microsoft.com/office/powerpoint/2010/main" val="28357412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F239B9D5-378A-401A-9B39-CAFA1862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KERNEL SIEVE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7809320-EF93-4D51-957E-AFE6B5D2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810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4800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A precise experiment</a:t>
            </a:r>
          </a:p>
          <a:p xmlns:a="http://schemas.openxmlformats.org/drawingml/2006/main">
            <a:pPr algn="l">
              <a:defRPr sz="4800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4800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builder—not an automatic</a:t>
            </a:r>
          </a:p>
          <a:p xmlns:a="http://schemas.openxmlformats.org/drawingml/2006/main">
            <a:pPr algn="l">
              <a:defRPr sz="4800" b="0" i="0">
                <a:solidFill>
                  <a:srgbClr val="0A0C10"/>
                </a:solidFill>
                <a:latin typeface="Arial"/>
                <a:ea typeface="Arial"/>
                <a:cs typeface="Arial"/>
              </a:defRPr>
            </a:pPr>
            <a:r>
              <a:rPr sz="4800" b="0" i="0">
                <a:solidFill>
                  <a:srgbClr val="0A0C10"/>
                </a:solidFill>
                <a:latin typeface="Arial"/>
                <a:ea typeface="Arial"/>
                <a:cs typeface="Arial"/>
              </a:rPr>
              <a:t>vulnerability oracle</a:t>
            </a:r>
          </a:p>
        </p:txBody>
      </p:sp>
      <p:sp>
        <p:nvSpPr>
          <p:cNvPr id="3" name="close-points">
            <a:extLst xmlns:a="http://schemas.openxmlformats.org/drawingml/2006/main">
              <a:ext uri="{FF2B5EF4-FFF2-40B4-BE49-F238E27FC236}">
                <a16:creationId xmlns:a16="http://schemas.microsoft.com/office/drawing/2014/main" id="{ACAF8059-DCA8-46B8-B410-5D5D5A90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1. Preserve evidence boundaries</a:t>
            </a:r>
          </a:p>
          <a:p xmlns:a="http://schemas.openxmlformats.org/drawingml/2006/main">
            <a:pPr algn="l">
              <a:defRPr sz="18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2. Prefer exact, auditable recipes</a:t>
            </a:r>
          </a:p>
          <a:p xmlns:a="http://schemas.openxmlformats.org/drawingml/2006/main">
            <a:pPr algn="l">
              <a:defRPr sz="1800" b="0" i="0">
                <a:solidFill>
                  <a:srgbClr val="59616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9616D"/>
                </a:solidFill>
                <a:latin typeface="Arial"/>
                <a:ea typeface="Arial"/>
                <a:cs typeface="Arial"/>
              </a:rPr>
              <a:t>3. Interpret runtime evidence by its real strength</a:t>
            </a:r>
          </a:p>
        </p:txBody>
      </p:sp>
    </p:spTree>
    <p:extLst>
      <p:ext uri="{BB962C8B-B14F-4D97-AF65-F5344CB8AC3E}">
        <p14:creationId xmlns:p14="http://schemas.microsoft.com/office/powerpoint/2010/main" val="120622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2026-07-30T04:12:57.7320000Z</dcterms:created>
  <dcterms:modified xsi:type="dcterms:W3CDTF">2026-07-30T04:12:57.7320000Z</dcterms:modified>
</coreProperties>
</file>